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20.png"/><Relationship Id="rId10"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20.png"/><Relationship Id="rId13" Type="http://schemas.openxmlformats.org/officeDocument/2006/relationships/image" Target="../media/image39.png"/><Relationship Id="rId14" Type="http://schemas.openxmlformats.org/officeDocument/2006/relationships/image" Target="../media/image40.png"/><Relationship Id="rId15" Type="http://schemas.openxmlformats.org/officeDocument/2006/relationships/image" Target="../media/image41.png"/><Relationship Id="rId16" Type="http://schemas.openxmlformats.org/officeDocument/2006/relationships/image" Target="../media/image42.png"/><Relationship Id="rId17" Type="http://schemas.openxmlformats.org/officeDocument/2006/relationships/image" Target="../media/image43.png"/><Relationship Id="rId18" Type="http://schemas.openxmlformats.org/officeDocument/2006/relationships/image" Target="../media/image4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20.png"/><Relationship Id="rId12" Type="http://schemas.openxmlformats.org/officeDocument/2006/relationships/image" Target="../media/image52.png"/><Relationship Id="rId13" Type="http://schemas.openxmlformats.org/officeDocument/2006/relationships/image" Target="../media/image5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image" Target="../media/image61.png"/><Relationship Id="rId12" Type="http://schemas.openxmlformats.org/officeDocument/2006/relationships/image" Target="../media/image62.png"/><Relationship Id="rId13" Type="http://schemas.openxmlformats.org/officeDocument/2006/relationships/image" Target="../media/image63.png"/><Relationship Id="rId14" Type="http://schemas.openxmlformats.org/officeDocument/2006/relationships/image" Target="../media/image64.png"/><Relationship Id="rId15" Type="http://schemas.openxmlformats.org/officeDocument/2006/relationships/image" Target="../media/image20.png"/><Relationship Id="rId16" Type="http://schemas.openxmlformats.org/officeDocument/2006/relationships/image" Target="../media/image6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image" Target="../media/image76.png"/><Relationship Id="rId15" Type="http://schemas.openxmlformats.org/officeDocument/2006/relationships/image" Target="../media/image77.png"/><Relationship Id="rId16" Type="http://schemas.openxmlformats.org/officeDocument/2006/relationships/image" Target="../media/image20.png"/><Relationship Id="rId17" Type="http://schemas.openxmlformats.org/officeDocument/2006/relationships/image" Target="../media/image78.png"/><Relationship Id="rId18" Type="http://schemas.openxmlformats.org/officeDocument/2006/relationships/image" Target="../media/image79.png"/><Relationship Id="rId19" Type="http://schemas.openxmlformats.org/officeDocument/2006/relationships/image" Target="../media/image80.png"/><Relationship Id="rId20" Type="http://schemas.openxmlformats.org/officeDocument/2006/relationships/image" Target="../media/image81.png"/><Relationship Id="rId21" Type="http://schemas.openxmlformats.org/officeDocument/2006/relationships/image" Target="../media/image82.png"/><Relationship Id="rId22" Type="http://schemas.openxmlformats.org/officeDocument/2006/relationships/image" Target="../media/image83.png"/><Relationship Id="rId23" Type="http://schemas.openxmlformats.org/officeDocument/2006/relationships/image" Target="../media/image84.png"/><Relationship Id="rId24" Type="http://schemas.openxmlformats.org/officeDocument/2006/relationships/image" Target="../media/image8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20.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20.png"/><Relationship Id="rId8" Type="http://schemas.openxmlformats.org/officeDocument/2006/relationships/image" Target="../media/image95.png"/><Relationship Id="rId9" Type="http://schemas.openxmlformats.org/officeDocument/2006/relationships/image" Target="../media/image9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7341840" y="1466850"/>
            <a:ext cx="4316759" cy="3619500"/>
          </a:xfrm>
          <a:prstGeom prst="rect">
            <a:avLst/>
          </a:prstGeom>
        </p:spPr>
      </p:pic>
      <p:pic>
        <p:nvPicPr>
          <p:cNvPr id="5" name="Picture 4" descr="image.png"/>
          <p:cNvPicPr>
            <a:picLocks noChangeAspect="1"/>
          </p:cNvPicPr>
          <p:nvPr/>
        </p:nvPicPr>
        <p:blipFill>
          <a:blip r:embed="rId5"/>
          <a:stretch>
            <a:fillRect/>
          </a:stretch>
        </p:blipFill>
        <p:spPr>
          <a:xfrm>
            <a:off x="533400" y="4063305"/>
            <a:ext cx="6475065" cy="800100"/>
          </a:xfrm>
          <a:prstGeom prst="rect">
            <a:avLst/>
          </a:prstGeom>
        </p:spPr>
      </p:pic>
      <p:sp>
        <p:nvSpPr>
          <p:cNvPr id="6" name="TextBox 5"/>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7" name="TextBox 6"/>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01 / 09</a:t>
            </a:r>
          </a:p>
        </p:txBody>
      </p:sp>
      <p:pic>
        <p:nvPicPr>
          <p:cNvPr id="8" name="Picture 7" descr="image.png"/>
          <p:cNvPicPr>
            <a:picLocks noChangeAspect="1"/>
          </p:cNvPicPr>
          <p:nvPr/>
        </p:nvPicPr>
        <p:blipFill>
          <a:blip r:embed="rId6"/>
          <a:stretch>
            <a:fillRect/>
          </a:stretch>
        </p:blipFill>
        <p:spPr>
          <a:xfrm>
            <a:off x="533400" y="1375469"/>
            <a:ext cx="2190750" cy="257175"/>
          </a:xfrm>
          <a:prstGeom prst="rect">
            <a:avLst/>
          </a:prstGeom>
        </p:spPr>
      </p:pic>
      <p:sp>
        <p:nvSpPr>
          <p:cNvPr id="9" name="TextBox 8"/>
          <p:cNvSpPr txBox="1"/>
          <p:nvPr/>
        </p:nvSpPr>
        <p:spPr>
          <a:xfrm>
            <a:off x="533400" y="1775519"/>
            <a:ext cx="6798818" cy="1005780"/>
          </a:xfrm>
          <a:prstGeom prst="rect">
            <a:avLst/>
          </a:prstGeom>
          <a:noFill/>
        </p:spPr>
        <p:txBody>
          <a:bodyPr wrap="square" lIns="0" rIns="0" tIns="0" bIns="0" anchor="t">
            <a:spAutoFit/>
          </a:bodyPr>
          <a:lstStyle/>
          <a:p>
            <a:pPr algn="l">
              <a:lnSpc>
                <a:spcPts val="3959"/>
              </a:lnSpc>
            </a:pPr>
            <a:r>
              <a:rPr b="0" sz="3600" i="0" u="none">
                <a:solidFill>
                  <a:srgbClr val="FFFFFF"/>
                </a:solidFill>
                <a:latin typeface="Plus Jakarta Sans ExtraBold"/>
              </a:rPr>
              <a:t>ADVANCED UNIX UTILITY SUITE</a:t>
            </a:r>
          </a:p>
        </p:txBody>
      </p:sp>
      <p:sp>
        <p:nvSpPr>
          <p:cNvPr id="10" name="TextBox 9"/>
          <p:cNvSpPr txBox="1"/>
          <p:nvPr/>
        </p:nvSpPr>
        <p:spPr>
          <a:xfrm>
            <a:off x="533400" y="2895600"/>
            <a:ext cx="6475065" cy="272355"/>
          </a:xfrm>
          <a:prstGeom prst="rect">
            <a:avLst/>
          </a:prstGeom>
          <a:noFill/>
        </p:spPr>
        <p:txBody>
          <a:bodyPr wrap="square" lIns="0" rIns="0" tIns="0" bIns="0" anchor="t">
            <a:spAutoFit/>
          </a:bodyPr>
          <a:lstStyle/>
          <a:p>
            <a:pPr algn="l">
              <a:lnSpc>
                <a:spcPts val="2145"/>
              </a:lnSpc>
            </a:pPr>
            <a:r>
              <a:rPr b="0" sz="1650" i="0" u="none">
                <a:solidFill>
                  <a:srgbClr val="38BDF8"/>
                </a:solidFill>
                <a:latin typeface="Plus Jakarta Sans SemiBold"/>
              </a:rPr>
              <a:t>Integrated Linux System Programming &amp; OS Utility Toolkit</a:t>
            </a:r>
          </a:p>
        </p:txBody>
      </p:sp>
      <p:sp>
        <p:nvSpPr>
          <p:cNvPr id="11" name="TextBox 10"/>
          <p:cNvSpPr txBox="1"/>
          <p:nvPr/>
        </p:nvSpPr>
        <p:spPr>
          <a:xfrm>
            <a:off x="533400" y="3339405"/>
            <a:ext cx="6475065" cy="485775"/>
          </a:xfrm>
          <a:prstGeom prst="rect">
            <a:avLst/>
          </a:prstGeom>
          <a:noFill/>
        </p:spPr>
        <p:txBody>
          <a:bodyPr wrap="square" lIns="0" rIns="0" tIns="0" bIns="0" anchor="t">
            <a:spAutoFit/>
          </a:bodyPr>
          <a:lstStyle/>
          <a:p>
            <a:pPr algn="l">
              <a:lnSpc>
                <a:spcPts val="1912"/>
              </a:lnSpc>
            </a:pPr>
            <a:r>
              <a:rPr b="0" sz="1275" i="0" u="none">
                <a:solidFill>
                  <a:srgbClr val="9CA3AF"/>
                </a:solidFill>
                <a:latin typeface="Plus Jakarta Sans"/>
              </a:rPr>
              <a:t>A C-based collection of custom Linux utilities for process management, IPC, memory analysis, file systems, and concurrency.</a:t>
            </a:r>
          </a:p>
        </p:txBody>
      </p:sp>
      <p:sp>
        <p:nvSpPr>
          <p:cNvPr id="12" name="TextBox 11"/>
          <p:cNvSpPr txBox="1"/>
          <p:nvPr/>
        </p:nvSpPr>
        <p:spPr>
          <a:xfrm>
            <a:off x="3352800" y="5006280"/>
            <a:ext cx="3655665" cy="171450"/>
          </a:xfrm>
          <a:prstGeom prst="rect">
            <a:avLst/>
          </a:prstGeom>
          <a:noFill/>
        </p:spPr>
        <p:txBody>
          <a:bodyPr wrap="square" lIns="0" rIns="0" tIns="0" bIns="0" anchor="t">
            <a:spAutoFit/>
          </a:bodyPr>
          <a:lstStyle/>
          <a:p>
            <a:pPr algn="l"/>
            <a:r>
              <a:rPr b="0" sz="1050" i="0" u="none">
                <a:solidFill>
                  <a:srgbClr val="6B7280"/>
                </a:solidFill>
                <a:latin typeface="JetBrains Mono"/>
              </a:rPr>
              <a:t> Course: Operating Systems (OSSP)</a:t>
            </a:r>
            <a:r>
              <a:rPr b="0" sz="1050" i="0" u="none">
                <a:solidFill>
                  <a:srgbClr val="6B7280"/>
                </a:solidFill>
                <a:latin typeface="JetBrains Mono"/>
              </a:rPr>
              <a:t> </a:t>
            </a:r>
            <a:r>
              <a:rPr b="0" sz="1050" i="0" u="none">
                <a:solidFill>
                  <a:srgbClr val="6B7280"/>
                </a:solidFill>
                <a:latin typeface="JetBrains Mono"/>
              </a:rPr>
              <a:t> Review Stage: 01</a:t>
            </a:r>
          </a:p>
        </p:txBody>
      </p:sp>
      <p:sp>
        <p:nvSpPr>
          <p:cNvPr id="13" name="TextBox 12"/>
          <p:cNvSpPr txBox="1"/>
          <p:nvPr/>
        </p:nvSpPr>
        <p:spPr>
          <a:xfrm>
            <a:off x="7522815" y="4713089"/>
            <a:ext cx="3954809" cy="192285"/>
          </a:xfrm>
          <a:prstGeom prst="rect">
            <a:avLst/>
          </a:prstGeom>
          <a:noFill/>
        </p:spPr>
        <p:txBody>
          <a:bodyPr wrap="square" lIns="0" rIns="0" tIns="0" bIns="0" anchor="t">
            <a:spAutoFit/>
          </a:bodyPr>
          <a:lstStyle/>
          <a:p>
            <a:pPr algn="l">
              <a:lnSpc>
                <a:spcPts val="1439"/>
              </a:lnSpc>
            </a:pPr>
            <a:r>
              <a:rPr b="0" sz="900" i="0" u="none">
                <a:solidFill>
                  <a:srgbClr val="9CA3AF"/>
                </a:solidFill>
                <a:latin typeface="JetBrains Mono"/>
              </a:rPr>
              <a:t>System Status: READY | Mode: Interactive Shell</a:t>
            </a:r>
          </a:p>
        </p:txBody>
      </p:sp>
      <p:sp>
        <p:nvSpPr>
          <p:cNvPr id="14" name="Rectangle 13"/>
          <p:cNvSpPr/>
          <p:nvPr/>
        </p:nvSpPr>
        <p:spPr>
          <a:xfrm>
            <a:off x="7522815" y="4636889"/>
            <a:ext cx="3954809" cy="9525"/>
          </a:xfrm>
          <a:prstGeom prst="rect">
            <a:avLst/>
          </a:prstGeom>
          <a:solidFill>
            <a:srgbClr val="1F29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5325" y="4225230"/>
            <a:ext cx="3018383" cy="180975"/>
          </a:xfrm>
          <a:prstGeom prst="rect">
            <a:avLst/>
          </a:prstGeom>
          <a:noFill/>
        </p:spPr>
        <p:txBody>
          <a:bodyPr wrap="square" lIns="0" rIns="0" tIns="0" bIns="0" anchor="ctr">
            <a:spAutoFit/>
          </a:bodyPr>
          <a:lstStyle/>
          <a:p>
            <a:pPr algn="l"/>
            <a:r>
              <a:rPr b="0" sz="1125" i="0" u="none">
                <a:solidFill>
                  <a:srgbClr val="10B981"/>
                </a:solidFill>
                <a:latin typeface="Plus Jakarta Sans SemiBold"/>
              </a:rPr>
              <a:t>2510030236</a:t>
            </a:r>
            <a:r>
              <a:rPr b="0" sz="1125" i="0" u="none">
                <a:solidFill>
                  <a:srgbClr val="E5E7EB"/>
                </a:solidFill>
                <a:latin typeface="Plus Jakarta Sans"/>
              </a:rPr>
              <a:t> I D K VAMSIE</a:t>
            </a:r>
          </a:p>
        </p:txBody>
      </p:sp>
      <p:sp>
        <p:nvSpPr>
          <p:cNvPr id="16" name="TextBox 15"/>
          <p:cNvSpPr txBox="1"/>
          <p:nvPr/>
        </p:nvSpPr>
        <p:spPr>
          <a:xfrm>
            <a:off x="3828008" y="4225230"/>
            <a:ext cx="3018532" cy="180975"/>
          </a:xfrm>
          <a:prstGeom prst="rect">
            <a:avLst/>
          </a:prstGeom>
          <a:noFill/>
        </p:spPr>
        <p:txBody>
          <a:bodyPr wrap="square" lIns="0" rIns="0" tIns="0" bIns="0" anchor="ctr">
            <a:spAutoFit/>
          </a:bodyPr>
          <a:lstStyle/>
          <a:p>
            <a:pPr algn="l"/>
            <a:r>
              <a:rPr b="0" sz="1125" i="0" u="none">
                <a:solidFill>
                  <a:srgbClr val="10B981"/>
                </a:solidFill>
                <a:latin typeface="Plus Jakarta Sans SemiBold"/>
              </a:rPr>
              <a:t>2510030261</a:t>
            </a:r>
            <a:r>
              <a:rPr b="0" sz="1125" i="0" u="none">
                <a:solidFill>
                  <a:srgbClr val="E5E7EB"/>
                </a:solidFill>
                <a:latin typeface="Plus Jakarta Sans"/>
              </a:rPr>
              <a:t> K SAI SRINATH</a:t>
            </a:r>
          </a:p>
        </p:txBody>
      </p:sp>
      <p:sp>
        <p:nvSpPr>
          <p:cNvPr id="17" name="TextBox 16"/>
          <p:cNvSpPr txBox="1"/>
          <p:nvPr/>
        </p:nvSpPr>
        <p:spPr>
          <a:xfrm>
            <a:off x="695325" y="4520505"/>
            <a:ext cx="3018383" cy="180975"/>
          </a:xfrm>
          <a:prstGeom prst="rect">
            <a:avLst/>
          </a:prstGeom>
          <a:noFill/>
        </p:spPr>
        <p:txBody>
          <a:bodyPr wrap="square" lIns="0" rIns="0" tIns="0" bIns="0" anchor="ctr">
            <a:spAutoFit/>
          </a:bodyPr>
          <a:lstStyle/>
          <a:p>
            <a:pPr algn="l"/>
            <a:r>
              <a:rPr b="0" sz="1125" i="0" u="none">
                <a:solidFill>
                  <a:srgbClr val="10B981"/>
                </a:solidFill>
                <a:latin typeface="Plus Jakarta Sans SemiBold"/>
              </a:rPr>
              <a:t>2510030228</a:t>
            </a:r>
            <a:r>
              <a:rPr b="0" sz="1125" i="0" u="none">
                <a:solidFill>
                  <a:srgbClr val="E5E7EB"/>
                </a:solidFill>
                <a:latin typeface="Plus Jakarta Sans"/>
              </a:rPr>
              <a:t> Katkam Akhila</a:t>
            </a:r>
          </a:p>
        </p:txBody>
      </p:sp>
      <p:sp>
        <p:nvSpPr>
          <p:cNvPr id="18" name="TextBox 17"/>
          <p:cNvSpPr txBox="1"/>
          <p:nvPr/>
        </p:nvSpPr>
        <p:spPr>
          <a:xfrm>
            <a:off x="3828008" y="4520505"/>
            <a:ext cx="3018532" cy="180975"/>
          </a:xfrm>
          <a:prstGeom prst="rect">
            <a:avLst/>
          </a:prstGeom>
          <a:noFill/>
        </p:spPr>
        <p:txBody>
          <a:bodyPr wrap="square" lIns="0" rIns="0" tIns="0" bIns="0" anchor="ctr">
            <a:spAutoFit/>
          </a:bodyPr>
          <a:lstStyle/>
          <a:p>
            <a:pPr algn="l"/>
            <a:r>
              <a:rPr b="0" sz="1125" i="0" u="none">
                <a:solidFill>
                  <a:srgbClr val="10B981"/>
                </a:solidFill>
                <a:latin typeface="Plus Jakarta Sans SemiBold"/>
              </a:rPr>
              <a:t>2510030041</a:t>
            </a:r>
            <a:r>
              <a:rPr b="0" sz="1125" i="0" u="none">
                <a:solidFill>
                  <a:srgbClr val="E5E7EB"/>
                </a:solidFill>
                <a:latin typeface="Plus Jakarta Sans"/>
              </a:rPr>
              <a:t> V. Keerthana</a:t>
            </a:r>
          </a:p>
        </p:txBody>
      </p:sp>
      <p:sp>
        <p:nvSpPr>
          <p:cNvPr id="19" name="TextBox 18"/>
          <p:cNvSpPr txBox="1"/>
          <p:nvPr/>
        </p:nvSpPr>
        <p:spPr>
          <a:xfrm>
            <a:off x="7522815" y="2030610"/>
            <a:ext cx="3954809" cy="228600"/>
          </a:xfrm>
          <a:prstGeom prst="rect">
            <a:avLst/>
          </a:prstGeom>
          <a:noFill/>
        </p:spPr>
        <p:txBody>
          <a:bodyPr wrap="square" lIns="0" rIns="0" tIns="0" bIns="0" anchor="t">
            <a:spAutoFit/>
          </a:bodyPr>
          <a:lstStyle/>
          <a:p>
            <a:pPr algn="l">
              <a:lnSpc>
                <a:spcPts val="1800"/>
              </a:lnSpc>
            </a:pPr>
            <a:r>
              <a:rPr b="0" sz="1125" i="0" u="none">
                <a:solidFill>
                  <a:srgbClr val="38BDF8"/>
                </a:solidFill>
                <a:latin typeface="JetBrains Mono SemiBold"/>
              </a:rPr>
              <a:t>$</a:t>
            </a:r>
            <a:r>
              <a:rPr b="0" sz="1125" i="0" u="none">
                <a:solidFill>
                  <a:srgbClr val="E5E7EB"/>
                </a:solidFill>
                <a:latin typeface="JetBrains Mono"/>
              </a:rPr>
              <a:t> </a:t>
            </a:r>
            <a:r>
              <a:rPr b="0" sz="1125" i="0" u="none">
                <a:solidFill>
                  <a:srgbClr val="F3F4F6"/>
                </a:solidFill>
                <a:latin typeface="JetBrains Mono"/>
              </a:rPr>
              <a:t>gcc -o unixsuite main.c -lpthread</a:t>
            </a:r>
          </a:p>
        </p:txBody>
      </p:sp>
      <p:sp>
        <p:nvSpPr>
          <p:cNvPr id="20" name="TextBox 19"/>
          <p:cNvSpPr txBox="1"/>
          <p:nvPr/>
        </p:nvSpPr>
        <p:spPr>
          <a:xfrm>
            <a:off x="7522815" y="2259210"/>
            <a:ext cx="3954809" cy="228600"/>
          </a:xfrm>
          <a:prstGeom prst="rect">
            <a:avLst/>
          </a:prstGeom>
          <a:noFill/>
        </p:spPr>
        <p:txBody>
          <a:bodyPr wrap="square" lIns="0" rIns="0" tIns="0" bIns="0" anchor="t">
            <a:spAutoFit/>
          </a:bodyPr>
          <a:lstStyle/>
          <a:p>
            <a:pPr algn="l">
              <a:lnSpc>
                <a:spcPts val="1800"/>
              </a:lnSpc>
            </a:pPr>
            <a:r>
              <a:rPr b="0" sz="1125" i="0" u="none">
                <a:solidFill>
                  <a:srgbClr val="38BDF8"/>
                </a:solidFill>
                <a:latin typeface="JetBrains Mono SemiBold"/>
              </a:rPr>
              <a:t>$</a:t>
            </a:r>
            <a:r>
              <a:rPr b="0" sz="1125" i="0" u="none">
                <a:solidFill>
                  <a:srgbClr val="E5E7EB"/>
                </a:solidFill>
                <a:latin typeface="JetBrains Mono"/>
              </a:rPr>
              <a:t> </a:t>
            </a:r>
            <a:r>
              <a:rPr b="0" sz="1125" i="0" u="none">
                <a:solidFill>
                  <a:srgbClr val="F3F4F6"/>
                </a:solidFill>
                <a:latin typeface="JetBrains Mono"/>
              </a:rPr>
              <a:t>./unixsuite</a:t>
            </a:r>
          </a:p>
        </p:txBody>
      </p:sp>
      <p:sp>
        <p:nvSpPr>
          <p:cNvPr id="21" name="TextBox 20"/>
          <p:cNvSpPr txBox="1"/>
          <p:nvPr/>
        </p:nvSpPr>
        <p:spPr>
          <a:xfrm>
            <a:off x="7522815" y="2716410"/>
            <a:ext cx="3954809" cy="228600"/>
          </a:xfrm>
          <a:prstGeom prst="rect">
            <a:avLst/>
          </a:prstGeom>
          <a:noFill/>
        </p:spPr>
        <p:txBody>
          <a:bodyPr wrap="square" lIns="0" rIns="0" tIns="0" bIns="0" anchor="t">
            <a:spAutoFit/>
          </a:bodyPr>
          <a:lstStyle/>
          <a:p>
            <a:pPr algn="l">
              <a:lnSpc>
                <a:spcPts val="1800"/>
              </a:lnSpc>
            </a:pPr>
            <a:r>
              <a:rPr b="0" sz="1125" i="0" u="none">
                <a:solidFill>
                  <a:srgbClr val="34D399"/>
                </a:solidFill>
                <a:latin typeface="JetBrains Mono"/>
              </a:rPr>
              <a:t>================================</a:t>
            </a:r>
          </a:p>
        </p:txBody>
      </p:sp>
      <p:sp>
        <p:nvSpPr>
          <p:cNvPr id="22" name="TextBox 21"/>
          <p:cNvSpPr txBox="1"/>
          <p:nvPr/>
        </p:nvSpPr>
        <p:spPr>
          <a:xfrm>
            <a:off x="7522815" y="2945010"/>
            <a:ext cx="3954809" cy="228600"/>
          </a:xfrm>
          <a:prstGeom prst="rect">
            <a:avLst/>
          </a:prstGeom>
          <a:noFill/>
        </p:spPr>
        <p:txBody>
          <a:bodyPr wrap="square" lIns="0" rIns="0" tIns="0" bIns="0" anchor="t">
            <a:spAutoFit/>
          </a:bodyPr>
          <a:lstStyle/>
          <a:p>
            <a:pPr algn="l">
              <a:lnSpc>
                <a:spcPts val="1800"/>
              </a:lnSpc>
            </a:pPr>
            <a:r>
              <a:rPr b="0" sz="1125" i="0" u="none">
                <a:solidFill>
                  <a:srgbClr val="34D399"/>
                </a:solidFill>
                <a:latin typeface="JetBrains Mono"/>
              </a:rPr>
              <a:t>ADVANCED UNIX UTILITY SUITE</a:t>
            </a:r>
          </a:p>
        </p:txBody>
      </p:sp>
      <p:sp>
        <p:nvSpPr>
          <p:cNvPr id="23" name="TextBox 22"/>
          <p:cNvSpPr txBox="1"/>
          <p:nvPr/>
        </p:nvSpPr>
        <p:spPr>
          <a:xfrm>
            <a:off x="7522815" y="3173610"/>
            <a:ext cx="3954809" cy="228600"/>
          </a:xfrm>
          <a:prstGeom prst="rect">
            <a:avLst/>
          </a:prstGeom>
          <a:noFill/>
        </p:spPr>
        <p:txBody>
          <a:bodyPr wrap="square" lIns="0" rIns="0" tIns="0" bIns="0" anchor="t">
            <a:spAutoFit/>
          </a:bodyPr>
          <a:lstStyle/>
          <a:p>
            <a:pPr algn="l">
              <a:lnSpc>
                <a:spcPts val="1800"/>
              </a:lnSpc>
            </a:pPr>
            <a:r>
              <a:rPr b="0" sz="1125" i="0" u="none">
                <a:solidFill>
                  <a:srgbClr val="34D399"/>
                </a:solidFill>
                <a:latin typeface="JetBrains Mono"/>
              </a:rPr>
              <a:t>================================</a:t>
            </a:r>
          </a:p>
        </p:txBody>
      </p:sp>
      <p:sp>
        <p:nvSpPr>
          <p:cNvPr id="24" name="TextBox 23"/>
          <p:cNvSpPr txBox="1"/>
          <p:nvPr/>
        </p:nvSpPr>
        <p:spPr>
          <a:xfrm>
            <a:off x="7522815" y="3402210"/>
            <a:ext cx="3954809" cy="228600"/>
          </a:xfrm>
          <a:prstGeom prst="rect">
            <a:avLst/>
          </a:prstGeom>
          <a:noFill/>
        </p:spPr>
        <p:txBody>
          <a:bodyPr wrap="square" lIns="0" rIns="0" tIns="0" bIns="0" anchor="t">
            <a:spAutoFit/>
          </a:bodyPr>
          <a:lstStyle/>
          <a:p>
            <a:pPr algn="l">
              <a:lnSpc>
                <a:spcPts val="1800"/>
              </a:lnSpc>
            </a:pPr>
            <a:r>
              <a:rPr b="0" sz="1125" i="0" u="none">
                <a:solidFill>
                  <a:srgbClr val="9CA3AF"/>
                </a:solidFill>
                <a:latin typeface="JetBrains Mono"/>
              </a:rPr>
              <a:t>[+] Initializing POSIX Interfaces...</a:t>
            </a:r>
          </a:p>
        </p:txBody>
      </p:sp>
      <p:sp>
        <p:nvSpPr>
          <p:cNvPr id="25" name="TextBox 24"/>
          <p:cNvSpPr txBox="1"/>
          <p:nvPr/>
        </p:nvSpPr>
        <p:spPr>
          <a:xfrm>
            <a:off x="7522815" y="3630810"/>
            <a:ext cx="3954809" cy="228600"/>
          </a:xfrm>
          <a:prstGeom prst="rect">
            <a:avLst/>
          </a:prstGeom>
          <a:noFill/>
        </p:spPr>
        <p:txBody>
          <a:bodyPr wrap="square" lIns="0" rIns="0" tIns="0" bIns="0" anchor="t">
            <a:spAutoFit/>
          </a:bodyPr>
          <a:lstStyle/>
          <a:p>
            <a:pPr algn="l">
              <a:lnSpc>
                <a:spcPts val="1800"/>
              </a:lnSpc>
            </a:pPr>
            <a:r>
              <a:rPr b="0" sz="1125" i="0" u="none">
                <a:solidFill>
                  <a:srgbClr val="9CA3AF"/>
                </a:solidFill>
                <a:latin typeface="JetBrains Mono"/>
              </a:rPr>
              <a:t>[+] Modules Loaded: 6 Active</a:t>
            </a:r>
          </a:p>
        </p:txBody>
      </p:sp>
      <p:sp>
        <p:nvSpPr>
          <p:cNvPr id="26" name="TextBox 25"/>
          <p:cNvSpPr txBox="1"/>
          <p:nvPr/>
        </p:nvSpPr>
        <p:spPr>
          <a:xfrm>
            <a:off x="7522815" y="4088010"/>
            <a:ext cx="3954809" cy="228600"/>
          </a:xfrm>
          <a:prstGeom prst="rect">
            <a:avLst/>
          </a:prstGeom>
          <a:noFill/>
        </p:spPr>
        <p:txBody>
          <a:bodyPr wrap="square" lIns="0" rIns="0" tIns="0" bIns="0" anchor="t">
            <a:spAutoFit/>
          </a:bodyPr>
          <a:lstStyle/>
          <a:p>
            <a:pPr algn="l">
              <a:lnSpc>
                <a:spcPts val="1800"/>
              </a:lnSpc>
            </a:pPr>
            <a:r>
              <a:rPr b="0" sz="1125" i="0" u="none">
                <a:solidFill>
                  <a:srgbClr val="38BDF8"/>
                </a:solidFill>
                <a:latin typeface="JetBrains Mono SemiBold"/>
              </a:rPr>
              <a:t>UnixSuite &gt;</a:t>
            </a:r>
            <a:r>
              <a:rPr b="0" sz="1125" i="0" u="none">
                <a:solidFill>
                  <a:srgbClr val="E5E7EB"/>
                </a:solidFill>
                <a:latin typeface="JetBrains Mono"/>
              </a:rPr>
              <a:t> </a:t>
            </a:r>
            <a:r>
              <a:rPr b="0" sz="1125" i="0" u="none">
                <a:solidFill>
                  <a:srgbClr val="F3F4F6"/>
                </a:solidFill>
                <a:latin typeface="JetBrains Mono"/>
              </a:rPr>
              <a:t>help</a:t>
            </a:r>
          </a:p>
        </p:txBody>
      </p:sp>
      <p:pic>
        <p:nvPicPr>
          <p:cNvPr id="27" name="Picture 26" descr="image.png"/>
          <p:cNvPicPr>
            <a:picLocks noChangeAspect="1"/>
          </p:cNvPicPr>
          <p:nvPr/>
        </p:nvPicPr>
        <p:blipFill>
          <a:blip r:embed="rId7"/>
          <a:stretch>
            <a:fillRect/>
          </a:stretch>
        </p:blipFill>
        <p:spPr>
          <a:xfrm>
            <a:off x="533400" y="5025330"/>
            <a:ext cx="114300" cy="133350"/>
          </a:xfrm>
          <a:prstGeom prst="rect">
            <a:avLst/>
          </a:prstGeom>
        </p:spPr>
      </p:pic>
      <p:pic>
        <p:nvPicPr>
          <p:cNvPr id="28" name="Picture 27" descr="image.png"/>
          <p:cNvPicPr>
            <a:picLocks noChangeAspect="1"/>
          </p:cNvPicPr>
          <p:nvPr/>
        </p:nvPicPr>
        <p:blipFill>
          <a:blip r:embed="rId8"/>
          <a:stretch>
            <a:fillRect/>
          </a:stretch>
        </p:blipFill>
        <p:spPr>
          <a:xfrm>
            <a:off x="3352800" y="5025330"/>
            <a:ext cx="152400" cy="133350"/>
          </a:xfrm>
          <a:prstGeom prst="rect">
            <a:avLst/>
          </a:prstGeom>
        </p:spPr>
      </p:pic>
      <p:sp>
        <p:nvSpPr>
          <p:cNvPr id="29" name="Rounded Rectangle 28"/>
          <p:cNvSpPr/>
          <p:nvPr/>
        </p:nvSpPr>
        <p:spPr>
          <a:xfrm>
            <a:off x="7522815" y="1691580"/>
            <a:ext cx="95250" cy="952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694265" y="1691580"/>
            <a:ext cx="95250" cy="952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865715" y="1691580"/>
            <a:ext cx="95250" cy="9525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13365" y="1647825"/>
            <a:ext cx="800100" cy="182760"/>
          </a:xfrm>
          <a:prstGeom prst="rect">
            <a:avLst/>
          </a:prstGeom>
          <a:noFill/>
        </p:spPr>
        <p:txBody>
          <a:bodyPr wrap="square" lIns="0" rIns="0" tIns="0" bIns="0" anchor="t">
            <a:spAutoFit/>
          </a:bodyPr>
          <a:lstStyle/>
          <a:p>
            <a:pPr algn="l">
              <a:lnSpc>
                <a:spcPts val="1439"/>
              </a:lnSpc>
            </a:pPr>
            <a:r>
              <a:rPr b="0" sz="900" i="0" u="none">
                <a:solidFill>
                  <a:srgbClr val="6B7280"/>
                </a:solidFill>
                <a:latin typeface="JetBrains Mono"/>
              </a:rPr>
              <a:t>bash - 80x24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533400" y="1352550"/>
            <a:ext cx="5443537" cy="2005012"/>
          </a:xfrm>
          <a:prstGeom prst="rect">
            <a:avLst/>
          </a:prstGeom>
        </p:spPr>
      </p:pic>
      <p:pic>
        <p:nvPicPr>
          <p:cNvPr id="5" name="Picture 4" descr="image.png"/>
          <p:cNvPicPr>
            <a:picLocks noChangeAspect="1"/>
          </p:cNvPicPr>
          <p:nvPr/>
        </p:nvPicPr>
        <p:blipFill>
          <a:blip r:embed="rId5"/>
          <a:stretch>
            <a:fillRect/>
          </a:stretch>
        </p:blipFill>
        <p:spPr>
          <a:xfrm>
            <a:off x="533400" y="3500437"/>
            <a:ext cx="5443537" cy="2005012"/>
          </a:xfrm>
          <a:prstGeom prst="rect">
            <a:avLst/>
          </a:prstGeom>
        </p:spPr>
      </p:pic>
      <p:pic>
        <p:nvPicPr>
          <p:cNvPr id="6" name="Picture 5" descr="image.png"/>
          <p:cNvPicPr>
            <a:picLocks noChangeAspect="1"/>
          </p:cNvPicPr>
          <p:nvPr/>
        </p:nvPicPr>
        <p:blipFill>
          <a:blip r:embed="rId6"/>
          <a:stretch>
            <a:fillRect/>
          </a:stretch>
        </p:blipFill>
        <p:spPr>
          <a:xfrm>
            <a:off x="533400" y="5648325"/>
            <a:ext cx="5443537" cy="847725"/>
          </a:xfrm>
          <a:prstGeom prst="rect">
            <a:avLst/>
          </a:prstGeom>
        </p:spPr>
      </p:pic>
      <p:pic>
        <p:nvPicPr>
          <p:cNvPr id="7" name="Picture 6" descr="image.png"/>
          <p:cNvPicPr>
            <a:picLocks noChangeAspect="1"/>
          </p:cNvPicPr>
          <p:nvPr/>
        </p:nvPicPr>
        <p:blipFill>
          <a:blip r:embed="rId7"/>
          <a:stretch>
            <a:fillRect/>
          </a:stretch>
        </p:blipFill>
        <p:spPr>
          <a:xfrm>
            <a:off x="6215062" y="1352550"/>
            <a:ext cx="5443537" cy="5372100"/>
          </a:xfrm>
          <a:prstGeom prst="rect">
            <a:avLst/>
          </a:prstGeom>
        </p:spPr>
      </p:pic>
      <p:pic>
        <p:nvPicPr>
          <p:cNvPr id="8" name="Picture 7" descr="image.png"/>
          <p:cNvPicPr>
            <a:picLocks noChangeAspect="1"/>
          </p:cNvPicPr>
          <p:nvPr/>
        </p:nvPicPr>
        <p:blipFill>
          <a:blip r:embed="rId8"/>
          <a:stretch>
            <a:fillRect/>
          </a:stretch>
        </p:blipFill>
        <p:spPr>
          <a:xfrm>
            <a:off x="6215062" y="6896100"/>
            <a:ext cx="5443537" cy="457200"/>
          </a:xfrm>
          <a:prstGeom prst="rect">
            <a:avLst/>
          </a:prstGeom>
        </p:spPr>
      </p:pic>
      <p:pic>
        <p:nvPicPr>
          <p:cNvPr id="9" name="Picture 8" descr="image.png"/>
          <p:cNvPicPr>
            <a:picLocks noChangeAspect="1"/>
          </p:cNvPicPr>
          <p:nvPr/>
        </p:nvPicPr>
        <p:blipFill>
          <a:blip r:embed="rId9"/>
          <a:stretch>
            <a:fillRect/>
          </a:stretch>
        </p:blipFill>
        <p:spPr>
          <a:xfrm>
            <a:off x="6809482" y="1971675"/>
            <a:ext cx="4254549" cy="485775"/>
          </a:xfrm>
          <a:prstGeom prst="rect">
            <a:avLst/>
          </a:prstGeom>
        </p:spPr>
      </p:pic>
      <p:pic>
        <p:nvPicPr>
          <p:cNvPr id="10" name="Picture 9" descr="image.png"/>
          <p:cNvPicPr>
            <a:picLocks noChangeAspect="1"/>
          </p:cNvPicPr>
          <p:nvPr/>
        </p:nvPicPr>
        <p:blipFill>
          <a:blip r:embed="rId10"/>
          <a:stretch>
            <a:fillRect/>
          </a:stretch>
        </p:blipFill>
        <p:spPr>
          <a:xfrm>
            <a:off x="6809482" y="2781300"/>
            <a:ext cx="4254549" cy="485775"/>
          </a:xfrm>
          <a:prstGeom prst="rect">
            <a:avLst/>
          </a:prstGeom>
        </p:spPr>
      </p:pic>
      <p:pic>
        <p:nvPicPr>
          <p:cNvPr id="11" name="Picture 10" descr="image.png"/>
          <p:cNvPicPr>
            <a:picLocks noChangeAspect="1"/>
          </p:cNvPicPr>
          <p:nvPr/>
        </p:nvPicPr>
        <p:blipFill>
          <a:blip r:embed="rId11"/>
          <a:stretch>
            <a:fillRect/>
          </a:stretch>
        </p:blipFill>
        <p:spPr>
          <a:xfrm>
            <a:off x="6809482" y="3590925"/>
            <a:ext cx="4254549" cy="485775"/>
          </a:xfrm>
          <a:prstGeom prst="rect">
            <a:avLst/>
          </a:prstGeom>
        </p:spPr>
      </p:pic>
      <p:pic>
        <p:nvPicPr>
          <p:cNvPr id="12" name="Picture 11" descr="image.png"/>
          <p:cNvPicPr>
            <a:picLocks noChangeAspect="1"/>
          </p:cNvPicPr>
          <p:nvPr/>
        </p:nvPicPr>
        <p:blipFill>
          <a:blip r:embed="rId12"/>
          <a:stretch>
            <a:fillRect/>
          </a:stretch>
        </p:blipFill>
        <p:spPr>
          <a:xfrm>
            <a:off x="6809482" y="4400550"/>
            <a:ext cx="4254549" cy="485775"/>
          </a:xfrm>
          <a:prstGeom prst="rect">
            <a:avLst/>
          </a:prstGeom>
        </p:spPr>
      </p:pic>
      <p:pic>
        <p:nvPicPr>
          <p:cNvPr id="13" name="Picture 12" descr="image.png"/>
          <p:cNvPicPr>
            <a:picLocks noChangeAspect="1"/>
          </p:cNvPicPr>
          <p:nvPr/>
        </p:nvPicPr>
        <p:blipFill>
          <a:blip r:embed="rId13"/>
          <a:stretch>
            <a:fillRect/>
          </a:stretch>
        </p:blipFill>
        <p:spPr>
          <a:xfrm>
            <a:off x="6809482" y="5210175"/>
            <a:ext cx="4254549" cy="485775"/>
          </a:xfrm>
          <a:prstGeom prst="rect">
            <a:avLst/>
          </a:prstGeom>
        </p:spPr>
      </p:pic>
      <p:pic>
        <p:nvPicPr>
          <p:cNvPr id="14" name="Picture 13" descr="image.png"/>
          <p:cNvPicPr>
            <a:picLocks noChangeAspect="1"/>
          </p:cNvPicPr>
          <p:nvPr/>
        </p:nvPicPr>
        <p:blipFill>
          <a:blip r:embed="rId14"/>
          <a:stretch>
            <a:fillRect/>
          </a:stretch>
        </p:blipFill>
        <p:spPr>
          <a:xfrm>
            <a:off x="6809482" y="6019800"/>
            <a:ext cx="4254549" cy="485775"/>
          </a:xfrm>
          <a:prstGeom prst="rect">
            <a:avLst/>
          </a:prstGeom>
        </p:spPr>
      </p:pic>
      <p:sp>
        <p:nvSpPr>
          <p:cNvPr id="15" name="TextBox 14"/>
          <p:cNvSpPr txBox="1"/>
          <p:nvPr/>
        </p:nvSpPr>
        <p:spPr>
          <a:xfrm>
            <a:off x="533400" y="438150"/>
            <a:ext cx="1266825"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OVERVIEW</a:t>
            </a:r>
          </a:p>
        </p:txBody>
      </p:sp>
      <p:pic>
        <p:nvPicPr>
          <p:cNvPr id="16" name="Picture 15" descr="image.png"/>
          <p:cNvPicPr>
            <a:picLocks noChangeAspect="1"/>
          </p:cNvPicPr>
          <p:nvPr/>
        </p:nvPicPr>
        <p:blipFill>
          <a:blip r:embed="rId15"/>
          <a:stretch>
            <a:fillRect/>
          </a:stretch>
        </p:blipFill>
        <p:spPr>
          <a:xfrm>
            <a:off x="10801350" y="742950"/>
            <a:ext cx="857250" cy="276225"/>
          </a:xfrm>
          <a:prstGeom prst="rect">
            <a:avLst/>
          </a:prstGeom>
        </p:spPr>
      </p:pic>
      <p:sp>
        <p:nvSpPr>
          <p:cNvPr id="17" name="TextBox 16"/>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8" name="TextBox 17"/>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02 / 09</a:t>
            </a:r>
          </a:p>
        </p:txBody>
      </p:sp>
      <p:sp>
        <p:nvSpPr>
          <p:cNvPr id="19" name="TextBox 18"/>
          <p:cNvSpPr txBox="1"/>
          <p:nvPr/>
        </p:nvSpPr>
        <p:spPr>
          <a:xfrm>
            <a:off x="533400" y="638175"/>
            <a:ext cx="1330166" cy="381000"/>
          </a:xfrm>
          <a:prstGeom prst="rect">
            <a:avLst/>
          </a:prstGeom>
          <a:noFill/>
        </p:spPr>
        <p:txBody>
          <a:bodyPr wrap="square" lIns="0" rIns="0" tIns="0" bIns="0" anchor="t">
            <a:spAutoFit/>
          </a:bodyPr>
          <a:lstStyle/>
          <a:p>
            <a:pPr algn="l"/>
            <a:r>
              <a:rPr b="1" sz="2400" i="0" u="none">
                <a:solidFill>
                  <a:srgbClr val="F9FAFB"/>
                </a:solidFill>
                <a:latin typeface="Plus Jakarta Sans"/>
              </a:rPr>
              <a:t>Abstract</a:t>
            </a:r>
          </a:p>
        </p:txBody>
      </p:sp>
      <p:sp>
        <p:nvSpPr>
          <p:cNvPr id="20" name="TextBox 19"/>
          <p:cNvSpPr txBox="1"/>
          <p:nvPr/>
        </p:nvSpPr>
        <p:spPr>
          <a:xfrm>
            <a:off x="1066800" y="1571625"/>
            <a:ext cx="4691062" cy="238125"/>
          </a:xfrm>
          <a:prstGeom prst="rect">
            <a:avLst/>
          </a:prstGeom>
          <a:noFill/>
        </p:spPr>
        <p:txBody>
          <a:bodyPr wrap="square" lIns="0" rIns="0" tIns="0" bIns="0" anchor="ctr">
            <a:spAutoFit/>
          </a:bodyPr>
          <a:lstStyle/>
          <a:p>
            <a:pPr algn="l"/>
            <a:r>
              <a:rPr b="1" sz="1500" i="0" u="none">
                <a:solidFill>
                  <a:srgbClr val="F3F4F6"/>
                </a:solidFill>
                <a:latin typeface="Plus Jakarta Sans"/>
              </a:rPr>
              <a:t>Theory</a:t>
            </a:r>
          </a:p>
        </p:txBody>
      </p:sp>
      <p:sp>
        <p:nvSpPr>
          <p:cNvPr id="21" name="TextBox 20"/>
          <p:cNvSpPr txBox="1"/>
          <p:nvPr/>
        </p:nvSpPr>
        <p:spPr>
          <a:xfrm>
            <a:off x="781050" y="1924050"/>
            <a:ext cx="4976812" cy="1214437"/>
          </a:xfrm>
          <a:prstGeom prst="rect">
            <a:avLst/>
          </a:prstGeom>
          <a:noFill/>
        </p:spPr>
        <p:txBody>
          <a:bodyPr wrap="square" lIns="0" rIns="0" tIns="0" bIns="0" anchor="t">
            <a:spAutoFit/>
          </a:bodyPr>
          <a:lstStyle/>
          <a:p>
            <a:pPr algn="l">
              <a:lnSpc>
                <a:spcPts val="1912"/>
              </a:lnSpc>
            </a:pPr>
            <a:r>
              <a:rPr b="0" sz="1275" i="0" u="none">
                <a:solidFill>
                  <a:srgbClr val="9CA3AF"/>
                </a:solidFill>
                <a:latin typeface="Plus Jakarta Sans"/>
              </a:rPr>
              <a:t>Unix/Linux provides many utilities for managing files, processes, memory, and system resources. However, these utilities are usually separate programs. System programmers often need to work with different Linux interfaces and system calls to inspect and manage these resources.</a:t>
            </a:r>
          </a:p>
        </p:txBody>
      </p:sp>
      <p:sp>
        <p:nvSpPr>
          <p:cNvPr id="22" name="TextBox 21"/>
          <p:cNvSpPr txBox="1"/>
          <p:nvPr/>
        </p:nvSpPr>
        <p:spPr>
          <a:xfrm>
            <a:off x="1047750" y="3719512"/>
            <a:ext cx="4710112" cy="238125"/>
          </a:xfrm>
          <a:prstGeom prst="rect">
            <a:avLst/>
          </a:prstGeom>
          <a:noFill/>
        </p:spPr>
        <p:txBody>
          <a:bodyPr wrap="square" lIns="0" rIns="0" tIns="0" bIns="0" anchor="ctr">
            <a:spAutoFit/>
          </a:bodyPr>
          <a:lstStyle/>
          <a:p>
            <a:pPr algn="l"/>
            <a:r>
              <a:rPr b="1" sz="1500" i="0" u="none">
                <a:solidFill>
                  <a:srgbClr val="F3F4F6"/>
                </a:solidFill>
                <a:latin typeface="Plus Jakarta Sans"/>
              </a:rPr>
              <a:t>Our Project</a:t>
            </a:r>
          </a:p>
        </p:txBody>
      </p:sp>
      <p:sp>
        <p:nvSpPr>
          <p:cNvPr id="23" name="TextBox 22"/>
          <p:cNvSpPr txBox="1"/>
          <p:nvPr/>
        </p:nvSpPr>
        <p:spPr>
          <a:xfrm>
            <a:off x="781050" y="4071937"/>
            <a:ext cx="4976812" cy="1214437"/>
          </a:xfrm>
          <a:prstGeom prst="rect">
            <a:avLst/>
          </a:prstGeom>
          <a:noFill/>
        </p:spPr>
        <p:txBody>
          <a:bodyPr wrap="square" lIns="0" rIns="0" tIns="0" bIns="0" anchor="t">
            <a:spAutoFit/>
          </a:bodyPr>
          <a:lstStyle/>
          <a:p>
            <a:pPr algn="l">
              <a:lnSpc>
                <a:spcPts val="1912"/>
              </a:lnSpc>
            </a:pPr>
            <a:r>
              <a:rPr b="1" sz="1275" i="0" u="none">
                <a:solidFill>
                  <a:srgbClr val="9CA3AF"/>
                </a:solidFill>
                <a:latin typeface="Plus Jakarta Sans"/>
              </a:rPr>
              <a:t>Advanced Unix Utility Suite</a:t>
            </a:r>
            <a:r>
              <a:rPr b="0" sz="1275" i="0" u="none">
                <a:solidFill>
                  <a:srgbClr val="9CA3AF"/>
                </a:solidFill>
                <a:latin typeface="Plus Jakarta Sans"/>
              </a:rPr>
              <a:t> is a C-based integrated toolkit that brings multiple system-programming utilities into one application. It provides custom tools for system information, process management, inter-process communication, memory analysis, file-system operations, and concurrency.</a:t>
            </a:r>
          </a:p>
        </p:txBody>
      </p:sp>
      <p:sp>
        <p:nvSpPr>
          <p:cNvPr id="24" name="TextBox 23"/>
          <p:cNvSpPr txBox="1"/>
          <p:nvPr/>
        </p:nvSpPr>
        <p:spPr>
          <a:xfrm>
            <a:off x="1009650" y="5800725"/>
            <a:ext cx="4748212" cy="200025"/>
          </a:xfrm>
          <a:prstGeom prst="rect">
            <a:avLst/>
          </a:prstGeom>
          <a:noFill/>
        </p:spPr>
        <p:txBody>
          <a:bodyPr wrap="square" lIns="0" rIns="0" tIns="0" bIns="0" anchor="ctr">
            <a:spAutoFit/>
          </a:bodyPr>
          <a:lstStyle/>
          <a:p>
            <a:pPr algn="l"/>
            <a:r>
              <a:rPr b="1" sz="1200" i="0" u="none">
                <a:solidFill>
                  <a:srgbClr val="F3F4F6"/>
                </a:solidFill>
                <a:latin typeface="Plus Jakarta Sans"/>
              </a:rPr>
              <a:t>Core Idea</a:t>
            </a:r>
          </a:p>
        </p:txBody>
      </p:sp>
      <p:sp>
        <p:nvSpPr>
          <p:cNvPr id="25" name="TextBox 24"/>
          <p:cNvSpPr txBox="1"/>
          <p:nvPr/>
        </p:nvSpPr>
        <p:spPr>
          <a:xfrm>
            <a:off x="781050" y="6115050"/>
            <a:ext cx="4976812" cy="228600"/>
          </a:xfrm>
          <a:prstGeom prst="rect">
            <a:avLst/>
          </a:prstGeom>
          <a:noFill/>
        </p:spPr>
        <p:txBody>
          <a:bodyPr wrap="square" lIns="0" rIns="0" tIns="0" bIns="0" anchor="t">
            <a:spAutoFit/>
          </a:bodyPr>
          <a:lstStyle/>
          <a:p>
            <a:pPr algn="l">
              <a:lnSpc>
                <a:spcPts val="1800"/>
              </a:lnSpc>
            </a:pPr>
            <a:r>
              <a:rPr b="0" sz="1200" i="0" u="none">
                <a:solidFill>
                  <a:srgbClr val="34D399"/>
                </a:solidFill>
                <a:latin typeface="Plus Jakarta Sans SemiBold"/>
              </a:rPr>
              <a:t>One toolkit → Multiple OS utilities → Multiple system concepts</a:t>
            </a:r>
          </a:p>
        </p:txBody>
      </p:sp>
      <p:sp>
        <p:nvSpPr>
          <p:cNvPr id="26" name="TextBox 25"/>
          <p:cNvSpPr txBox="1"/>
          <p:nvPr/>
        </p:nvSpPr>
        <p:spPr>
          <a:xfrm>
            <a:off x="6434137" y="1571625"/>
            <a:ext cx="5005387" cy="171450"/>
          </a:xfrm>
          <a:prstGeom prst="rect">
            <a:avLst/>
          </a:prstGeom>
          <a:noFill/>
        </p:spPr>
        <p:txBody>
          <a:bodyPr wrap="square" lIns="0" rIns="0" tIns="0" bIns="0" anchor="t">
            <a:spAutoFit/>
          </a:bodyPr>
          <a:lstStyle/>
          <a:p>
            <a:pPr algn="ctr"/>
            <a:r>
              <a:rPr b="1" sz="1050" i="0" u="none">
                <a:solidFill>
                  <a:srgbClr val="38BDF8"/>
                </a:solidFill>
                <a:latin typeface="Plus Jakarta Sans"/>
              </a:rPr>
              <a:t>CONCEPTUAL STACK ARCHITECTURE</a:t>
            </a:r>
          </a:p>
        </p:txBody>
      </p:sp>
      <p:sp>
        <p:nvSpPr>
          <p:cNvPr id="27" name="TextBox 26"/>
          <p:cNvSpPr txBox="1"/>
          <p:nvPr/>
        </p:nvSpPr>
        <p:spPr>
          <a:xfrm>
            <a:off x="7274718" y="7038975"/>
            <a:ext cx="1438275" cy="0"/>
          </a:xfrm>
          <a:prstGeom prst="rect">
            <a:avLst/>
          </a:prstGeom>
          <a:noFill/>
        </p:spPr>
        <p:txBody>
          <a:bodyPr wrap="square" lIns="0" rIns="0" tIns="0" bIns="0" anchor="t">
            <a:spAutoFit/>
          </a:bodyPr>
          <a:lstStyle/>
          <a:p>
            <a:pPr algn="ctr"/>
            <a:r>
              <a:rPr b="0" sz="1050" i="0" u="none">
                <a:solidFill>
                  <a:srgbClr val="9CA3AF"/>
                </a:solidFill>
                <a:latin typeface="Plus Jakarta Sans"/>
              </a:rPr>
              <a:t>TECHNOLOGY STACK:</a:t>
            </a:r>
          </a:p>
        </p:txBody>
      </p:sp>
      <p:sp>
        <p:nvSpPr>
          <p:cNvPr id="28" name="TextBox 27"/>
          <p:cNvSpPr txBox="1"/>
          <p:nvPr/>
        </p:nvSpPr>
        <p:spPr>
          <a:xfrm>
            <a:off x="8712993" y="7038975"/>
            <a:ext cx="1885950" cy="0"/>
          </a:xfrm>
          <a:prstGeom prst="rect">
            <a:avLst/>
          </a:prstGeom>
          <a:noFill/>
        </p:spPr>
        <p:txBody>
          <a:bodyPr wrap="square" lIns="0" rIns="0" tIns="0" bIns="0" anchor="t">
            <a:spAutoFit/>
          </a:bodyPr>
          <a:lstStyle/>
          <a:p>
            <a:pPr algn="ctr"/>
            <a:r>
              <a:rPr b="1" sz="1125" i="0" u="none">
                <a:solidFill>
                  <a:srgbClr val="34D399"/>
                </a:solidFill>
                <a:latin typeface="JetBrains Mono"/>
              </a:rPr>
              <a:t>C + Linux + POSIX APIs</a:t>
            </a:r>
          </a:p>
        </p:txBody>
      </p:sp>
      <p:pic>
        <p:nvPicPr>
          <p:cNvPr id="29" name="Picture 28" descr="image.png"/>
          <p:cNvPicPr>
            <a:picLocks noChangeAspect="1"/>
          </p:cNvPicPr>
          <p:nvPr/>
        </p:nvPicPr>
        <p:blipFill>
          <a:blip r:embed="rId16"/>
          <a:stretch>
            <a:fillRect/>
          </a:stretch>
        </p:blipFill>
        <p:spPr>
          <a:xfrm>
            <a:off x="781050" y="1604962"/>
            <a:ext cx="190500" cy="171450"/>
          </a:xfrm>
          <a:prstGeom prst="rect">
            <a:avLst/>
          </a:prstGeom>
        </p:spPr>
      </p:pic>
      <p:pic>
        <p:nvPicPr>
          <p:cNvPr id="30" name="Picture 29" descr="image.png"/>
          <p:cNvPicPr>
            <a:picLocks noChangeAspect="1"/>
          </p:cNvPicPr>
          <p:nvPr/>
        </p:nvPicPr>
        <p:blipFill>
          <a:blip r:embed="rId17"/>
          <a:stretch>
            <a:fillRect/>
          </a:stretch>
        </p:blipFill>
        <p:spPr>
          <a:xfrm>
            <a:off x="781050" y="3752850"/>
            <a:ext cx="171450" cy="171450"/>
          </a:xfrm>
          <a:prstGeom prst="rect">
            <a:avLst/>
          </a:prstGeom>
        </p:spPr>
      </p:pic>
      <p:pic>
        <p:nvPicPr>
          <p:cNvPr id="31" name="Picture 30" descr="image.png"/>
          <p:cNvPicPr>
            <a:picLocks noChangeAspect="1"/>
          </p:cNvPicPr>
          <p:nvPr/>
        </p:nvPicPr>
        <p:blipFill>
          <a:blip r:embed="rId18"/>
          <a:stretch>
            <a:fillRect/>
          </a:stretch>
        </p:blipFill>
        <p:spPr>
          <a:xfrm>
            <a:off x="781050" y="5815012"/>
            <a:ext cx="133350" cy="171450"/>
          </a:xfrm>
          <a:prstGeom prst="rect">
            <a:avLst/>
          </a:prstGeom>
        </p:spPr>
      </p:pic>
      <p:pic>
        <p:nvPicPr>
          <p:cNvPr id="32" name="Picture 31" descr="image.png"/>
          <p:cNvPicPr>
            <a:picLocks noChangeAspect="1"/>
          </p:cNvPicPr>
          <p:nvPr/>
        </p:nvPicPr>
        <p:blipFill>
          <a:blip r:embed="rId19"/>
          <a:stretch>
            <a:fillRect/>
          </a:stretch>
        </p:blipFill>
        <p:spPr>
          <a:xfrm>
            <a:off x="8870156" y="2533650"/>
            <a:ext cx="133350" cy="171450"/>
          </a:xfrm>
          <a:prstGeom prst="rect">
            <a:avLst/>
          </a:prstGeom>
        </p:spPr>
      </p:pic>
      <p:pic>
        <p:nvPicPr>
          <p:cNvPr id="33" name="Picture 32" descr="image.png"/>
          <p:cNvPicPr>
            <a:picLocks noChangeAspect="1"/>
          </p:cNvPicPr>
          <p:nvPr/>
        </p:nvPicPr>
        <p:blipFill>
          <a:blip r:embed="rId19"/>
          <a:stretch>
            <a:fillRect/>
          </a:stretch>
        </p:blipFill>
        <p:spPr>
          <a:xfrm>
            <a:off x="8870156" y="3343275"/>
            <a:ext cx="133350" cy="171450"/>
          </a:xfrm>
          <a:prstGeom prst="rect">
            <a:avLst/>
          </a:prstGeom>
        </p:spPr>
      </p:pic>
      <p:pic>
        <p:nvPicPr>
          <p:cNvPr id="34" name="Picture 33" descr="image.png"/>
          <p:cNvPicPr>
            <a:picLocks noChangeAspect="1"/>
          </p:cNvPicPr>
          <p:nvPr/>
        </p:nvPicPr>
        <p:blipFill>
          <a:blip r:embed="rId19"/>
          <a:stretch>
            <a:fillRect/>
          </a:stretch>
        </p:blipFill>
        <p:spPr>
          <a:xfrm>
            <a:off x="8870156" y="4152900"/>
            <a:ext cx="133350" cy="171450"/>
          </a:xfrm>
          <a:prstGeom prst="rect">
            <a:avLst/>
          </a:prstGeom>
        </p:spPr>
      </p:pic>
      <p:pic>
        <p:nvPicPr>
          <p:cNvPr id="35" name="Picture 34" descr="image.png"/>
          <p:cNvPicPr>
            <a:picLocks noChangeAspect="1"/>
          </p:cNvPicPr>
          <p:nvPr/>
        </p:nvPicPr>
        <p:blipFill>
          <a:blip r:embed="rId19"/>
          <a:stretch>
            <a:fillRect/>
          </a:stretch>
        </p:blipFill>
        <p:spPr>
          <a:xfrm>
            <a:off x="8870156" y="4962525"/>
            <a:ext cx="133350" cy="171450"/>
          </a:xfrm>
          <a:prstGeom prst="rect">
            <a:avLst/>
          </a:prstGeom>
        </p:spPr>
      </p:pic>
      <p:pic>
        <p:nvPicPr>
          <p:cNvPr id="36" name="Picture 35" descr="image.png"/>
          <p:cNvPicPr>
            <a:picLocks noChangeAspect="1"/>
          </p:cNvPicPr>
          <p:nvPr/>
        </p:nvPicPr>
        <p:blipFill>
          <a:blip r:embed="rId19"/>
          <a:stretch>
            <a:fillRect/>
          </a:stretch>
        </p:blipFill>
        <p:spPr>
          <a:xfrm>
            <a:off x="8870156" y="5772150"/>
            <a:ext cx="133350" cy="1714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533400" y="821531"/>
            <a:ext cx="11125200" cy="1209675"/>
          </a:xfrm>
          <a:prstGeom prst="rect">
            <a:avLst/>
          </a:prstGeom>
        </p:spPr>
      </p:pic>
      <p:pic>
        <p:nvPicPr>
          <p:cNvPr id="5" name="Picture 4" descr="image.png"/>
          <p:cNvPicPr>
            <a:picLocks noChangeAspect="1"/>
          </p:cNvPicPr>
          <p:nvPr/>
        </p:nvPicPr>
        <p:blipFill>
          <a:blip r:embed="rId5"/>
          <a:stretch>
            <a:fillRect/>
          </a:stretch>
        </p:blipFill>
        <p:spPr>
          <a:xfrm>
            <a:off x="533400" y="2202656"/>
            <a:ext cx="11125200" cy="1333500"/>
          </a:xfrm>
          <a:prstGeom prst="rect">
            <a:avLst/>
          </a:prstGeom>
        </p:spPr>
      </p:pic>
      <p:pic>
        <p:nvPicPr>
          <p:cNvPr id="6" name="Picture 5" descr="image.png"/>
          <p:cNvPicPr>
            <a:picLocks noChangeAspect="1"/>
          </p:cNvPicPr>
          <p:nvPr/>
        </p:nvPicPr>
        <p:blipFill>
          <a:blip r:embed="rId6"/>
          <a:stretch>
            <a:fillRect/>
          </a:stretch>
        </p:blipFill>
        <p:spPr>
          <a:xfrm>
            <a:off x="533400" y="5879306"/>
            <a:ext cx="11125200" cy="766762"/>
          </a:xfrm>
          <a:prstGeom prst="rect">
            <a:avLst/>
          </a:prstGeom>
        </p:spPr>
      </p:pic>
      <p:pic>
        <p:nvPicPr>
          <p:cNvPr id="7" name="Picture 6" descr="image.png"/>
          <p:cNvPicPr>
            <a:picLocks noChangeAspect="1"/>
          </p:cNvPicPr>
          <p:nvPr/>
        </p:nvPicPr>
        <p:blipFill>
          <a:blip r:embed="rId7"/>
          <a:stretch>
            <a:fillRect/>
          </a:stretch>
        </p:blipFill>
        <p:spPr>
          <a:xfrm>
            <a:off x="533400" y="3707606"/>
            <a:ext cx="5443537" cy="2000250"/>
          </a:xfrm>
          <a:prstGeom prst="rect">
            <a:avLst/>
          </a:prstGeom>
        </p:spPr>
      </p:pic>
      <p:pic>
        <p:nvPicPr>
          <p:cNvPr id="8" name="Picture 7" descr="image.png"/>
          <p:cNvPicPr>
            <a:picLocks noChangeAspect="1"/>
          </p:cNvPicPr>
          <p:nvPr/>
        </p:nvPicPr>
        <p:blipFill>
          <a:blip r:embed="rId8"/>
          <a:stretch>
            <a:fillRect/>
          </a:stretch>
        </p:blipFill>
        <p:spPr>
          <a:xfrm>
            <a:off x="6215062" y="3707606"/>
            <a:ext cx="5443537" cy="2000250"/>
          </a:xfrm>
          <a:prstGeom prst="rect">
            <a:avLst/>
          </a:prstGeom>
        </p:spPr>
      </p:pic>
      <p:sp>
        <p:nvSpPr>
          <p:cNvPr id="9" name="TextBox 8"/>
          <p:cNvSpPr txBox="1"/>
          <p:nvPr/>
        </p:nvSpPr>
        <p:spPr>
          <a:xfrm>
            <a:off x="533400" y="438150"/>
            <a:ext cx="2852737"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MOTIVATION</a:t>
            </a:r>
          </a:p>
        </p:txBody>
      </p:sp>
      <p:pic>
        <p:nvPicPr>
          <p:cNvPr id="10" name="Picture 9" descr="image.png"/>
          <p:cNvPicPr>
            <a:picLocks noChangeAspect="1"/>
          </p:cNvPicPr>
          <p:nvPr/>
        </p:nvPicPr>
        <p:blipFill>
          <a:blip r:embed="rId9"/>
          <a:stretch>
            <a:fillRect/>
          </a:stretch>
        </p:blipFill>
        <p:spPr>
          <a:xfrm>
            <a:off x="10801350" y="742950"/>
            <a:ext cx="857250" cy="276225"/>
          </a:xfrm>
          <a:prstGeom prst="rect">
            <a:avLst/>
          </a:prstGeom>
        </p:spPr>
      </p:pic>
      <p:sp>
        <p:nvSpPr>
          <p:cNvPr id="11" name="TextBox 10"/>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2" name="TextBox 11"/>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03 / 09</a:t>
            </a:r>
          </a:p>
        </p:txBody>
      </p:sp>
      <p:sp>
        <p:nvSpPr>
          <p:cNvPr id="13" name="TextBox 12"/>
          <p:cNvSpPr txBox="1"/>
          <p:nvPr/>
        </p:nvSpPr>
        <p:spPr>
          <a:xfrm>
            <a:off x="533400" y="638175"/>
            <a:ext cx="2995374" cy="381000"/>
          </a:xfrm>
          <a:prstGeom prst="rect">
            <a:avLst/>
          </a:prstGeom>
          <a:noFill/>
        </p:spPr>
        <p:txBody>
          <a:bodyPr wrap="square" lIns="0" rIns="0" tIns="0" bIns="0" anchor="t">
            <a:spAutoFit/>
          </a:bodyPr>
          <a:lstStyle/>
          <a:p>
            <a:pPr algn="l"/>
            <a:r>
              <a:rPr b="1" sz="2400" i="0" u="none">
                <a:solidFill>
                  <a:srgbClr val="F9FAFB"/>
                </a:solidFill>
                <a:latin typeface="Plus Jakarta Sans"/>
              </a:rPr>
              <a:t>Problem Statement</a:t>
            </a:r>
          </a:p>
        </p:txBody>
      </p:sp>
      <p:sp>
        <p:nvSpPr>
          <p:cNvPr id="14" name="TextBox 13"/>
          <p:cNvSpPr txBox="1"/>
          <p:nvPr/>
        </p:nvSpPr>
        <p:spPr>
          <a:xfrm>
            <a:off x="781050" y="1040606"/>
            <a:ext cx="10658475" cy="771525"/>
          </a:xfrm>
          <a:prstGeom prst="rect">
            <a:avLst/>
          </a:prstGeom>
          <a:noFill/>
        </p:spPr>
        <p:txBody>
          <a:bodyPr wrap="square" lIns="0" rIns="0" tIns="0" bIns="0" anchor="t">
            <a:spAutoFit/>
          </a:bodyPr>
          <a:lstStyle/>
          <a:p>
            <a:pPr algn="l">
              <a:lnSpc>
                <a:spcPts val="2025"/>
              </a:lnSpc>
            </a:pPr>
            <a:r>
              <a:rPr b="0" sz="1350" i="0" u="none">
                <a:solidFill>
                  <a:srgbClr val="E5E7EB"/>
                </a:solidFill>
                <a:latin typeface="Plus Jakarta Sans"/>
              </a:rPr>
              <a:t>Linux provides powerful utilities for monitoring and managing system resources, but users and system-programming students often need to use different commands and tools for different tasks. Understanding what happens behind these utilities requires fragmented knowledge of processes, system calls, file descriptors, memory, IPC, and synchronization.</a:t>
            </a:r>
          </a:p>
        </p:txBody>
      </p:sp>
      <p:sp>
        <p:nvSpPr>
          <p:cNvPr id="15" name="TextBox 14"/>
          <p:cNvSpPr txBox="1"/>
          <p:nvPr/>
        </p:nvSpPr>
        <p:spPr>
          <a:xfrm>
            <a:off x="1047750" y="2421731"/>
            <a:ext cx="10391775" cy="238125"/>
          </a:xfrm>
          <a:prstGeom prst="rect">
            <a:avLst/>
          </a:prstGeom>
          <a:noFill/>
        </p:spPr>
        <p:txBody>
          <a:bodyPr wrap="square" lIns="0" rIns="0" tIns="0" bIns="0" anchor="ctr">
            <a:spAutoFit/>
          </a:bodyPr>
          <a:lstStyle/>
          <a:p>
            <a:pPr algn="l"/>
            <a:r>
              <a:rPr b="1" sz="1500" i="0" u="none">
                <a:solidFill>
                  <a:srgbClr val="38BDF8"/>
                </a:solidFill>
                <a:latin typeface="Plus Jakarta Sans"/>
              </a:rPr>
              <a:t>OUR PROBLEM</a:t>
            </a:r>
          </a:p>
        </p:txBody>
      </p:sp>
      <p:sp>
        <p:nvSpPr>
          <p:cNvPr id="16" name="TextBox 15"/>
          <p:cNvSpPr txBox="1"/>
          <p:nvPr/>
        </p:nvSpPr>
        <p:spPr>
          <a:xfrm>
            <a:off x="781050" y="2774156"/>
            <a:ext cx="10658475" cy="542925"/>
          </a:xfrm>
          <a:prstGeom prst="rect">
            <a:avLst/>
          </a:prstGeom>
          <a:noFill/>
        </p:spPr>
        <p:txBody>
          <a:bodyPr wrap="square" lIns="0" rIns="0" tIns="0" bIns="0" anchor="t">
            <a:spAutoFit/>
          </a:bodyPr>
          <a:lstStyle/>
          <a:p>
            <a:pPr algn="l">
              <a:lnSpc>
                <a:spcPts val="2137"/>
              </a:lnSpc>
            </a:pPr>
            <a:r>
              <a:rPr b="0" sz="1425" i="0" u="none">
                <a:solidFill>
                  <a:srgbClr val="F3F4F6"/>
                </a:solidFill>
                <a:latin typeface="Plus Jakarta Sans SemiBold"/>
              </a:rPr>
              <a:t>How can we build a single educational system-programming toolkit that provides useful Linux utilities while covering major Operating System concepts in one integrated application?</a:t>
            </a:r>
          </a:p>
        </p:txBody>
      </p:sp>
      <p:sp>
        <p:nvSpPr>
          <p:cNvPr id="17" name="TextBox 16"/>
          <p:cNvSpPr txBox="1"/>
          <p:nvPr/>
        </p:nvSpPr>
        <p:spPr>
          <a:xfrm>
            <a:off x="733425" y="6003131"/>
            <a:ext cx="10725150" cy="152400"/>
          </a:xfrm>
          <a:prstGeom prst="rect">
            <a:avLst/>
          </a:prstGeom>
          <a:noFill/>
        </p:spPr>
        <p:txBody>
          <a:bodyPr wrap="square" lIns="0" rIns="0" tIns="0" bIns="0" anchor="t">
            <a:spAutoFit/>
          </a:bodyPr>
          <a:lstStyle/>
          <a:p>
            <a:pPr algn="l"/>
            <a:r>
              <a:rPr b="1" sz="975" i="0" u="none">
                <a:solidFill>
                  <a:srgbClr val="6B7280"/>
                </a:solidFill>
                <a:latin typeface="Plus Jakarta Sans"/>
              </a:rPr>
              <a:t>WHY IT MATTERS:</a:t>
            </a:r>
          </a:p>
        </p:txBody>
      </p:sp>
      <p:sp>
        <p:nvSpPr>
          <p:cNvPr id="18" name="TextBox 17"/>
          <p:cNvSpPr txBox="1"/>
          <p:nvPr/>
        </p:nvSpPr>
        <p:spPr>
          <a:xfrm>
            <a:off x="733425" y="6307931"/>
            <a:ext cx="10725150" cy="214312"/>
          </a:xfrm>
          <a:prstGeom prst="rect">
            <a:avLst/>
          </a:prstGeom>
          <a:noFill/>
        </p:spPr>
        <p:txBody>
          <a:bodyPr wrap="square" lIns="0" rIns="0" tIns="0" bIns="0" anchor="t">
            <a:spAutoFit/>
          </a:bodyPr>
          <a:lstStyle/>
          <a:p>
            <a:pPr algn="l">
              <a:lnSpc>
                <a:spcPts val="1687"/>
              </a:lnSpc>
            </a:pPr>
            <a:r>
              <a:rPr b="0" sz="1125" i="0" u="none">
                <a:solidFill>
                  <a:srgbClr val="D1D5DB"/>
                </a:solidFill>
                <a:latin typeface="Plus Jakarta Sans"/>
              </a:rPr>
              <a:t>Reduces command syntax overhead • Unifies disconnected OS concepts • Bridges academic theory with low-level C system call behavior.</a:t>
            </a:r>
          </a:p>
        </p:txBody>
      </p:sp>
      <p:pic>
        <p:nvPicPr>
          <p:cNvPr id="19" name="Picture 18" descr="image.png"/>
          <p:cNvPicPr>
            <a:picLocks noChangeAspect="1"/>
          </p:cNvPicPr>
          <p:nvPr/>
        </p:nvPicPr>
        <p:blipFill>
          <a:blip r:embed="rId10"/>
          <a:stretch>
            <a:fillRect/>
          </a:stretch>
        </p:blipFill>
        <p:spPr>
          <a:xfrm>
            <a:off x="781050" y="2455068"/>
            <a:ext cx="171450" cy="171450"/>
          </a:xfrm>
          <a:prstGeom prst="rect">
            <a:avLst/>
          </a:prstGeom>
        </p:spPr>
      </p:pic>
      <p:sp>
        <p:nvSpPr>
          <p:cNvPr id="20" name="TextBox 19"/>
          <p:cNvSpPr txBox="1"/>
          <p:nvPr/>
        </p:nvSpPr>
        <p:spPr>
          <a:xfrm>
            <a:off x="695325" y="3869531"/>
            <a:ext cx="5119687" cy="171450"/>
          </a:xfrm>
          <a:prstGeom prst="rect">
            <a:avLst/>
          </a:prstGeom>
          <a:noFill/>
        </p:spPr>
        <p:txBody>
          <a:bodyPr wrap="square" lIns="0" rIns="0" tIns="0" bIns="0" anchor="t">
            <a:spAutoFit/>
          </a:bodyPr>
          <a:lstStyle/>
          <a:p>
            <a:pPr algn="l"/>
            <a:r>
              <a:rPr b="1" sz="1050" i="0" u="none">
                <a:solidFill>
                  <a:srgbClr val="EF4444"/>
                </a:solidFill>
                <a:latin typeface="Plus Jakarta Sans"/>
              </a:rPr>
              <a:t>TRADITIONAL DISCONNECTED APPROACH</a:t>
            </a:r>
          </a:p>
        </p:txBody>
      </p:sp>
      <p:sp>
        <p:nvSpPr>
          <p:cNvPr id="21" name="TextBox 20"/>
          <p:cNvSpPr txBox="1"/>
          <p:nvPr/>
        </p:nvSpPr>
        <p:spPr>
          <a:xfrm>
            <a:off x="6376987" y="3869531"/>
            <a:ext cx="5119687" cy="171450"/>
          </a:xfrm>
          <a:prstGeom prst="rect">
            <a:avLst/>
          </a:prstGeom>
          <a:noFill/>
        </p:spPr>
        <p:txBody>
          <a:bodyPr wrap="square" lIns="0" rIns="0" tIns="0" bIns="0" anchor="t">
            <a:spAutoFit/>
          </a:bodyPr>
          <a:lstStyle/>
          <a:p>
            <a:pPr algn="l"/>
            <a:r>
              <a:rPr b="1" sz="1050" i="0" u="none">
                <a:solidFill>
                  <a:srgbClr val="10B981"/>
                </a:solidFill>
                <a:latin typeface="Plus Jakarta Sans"/>
              </a:rPr>
              <a:t>OUR INTEGRATED TOOLKIT SOLUTION</a:t>
            </a:r>
          </a:p>
        </p:txBody>
      </p:sp>
      <p:sp>
        <p:nvSpPr>
          <p:cNvPr id="22" name="TextBox 21"/>
          <p:cNvSpPr txBox="1"/>
          <p:nvPr/>
        </p:nvSpPr>
        <p:spPr>
          <a:xfrm>
            <a:off x="695325" y="4231481"/>
            <a:ext cx="5119687" cy="171450"/>
          </a:xfrm>
          <a:prstGeom prst="rect">
            <a:avLst/>
          </a:prstGeom>
          <a:noFill/>
        </p:spPr>
        <p:txBody>
          <a:bodyPr wrap="square" lIns="0" rIns="0" tIns="0" bIns="0" anchor="t">
            <a:spAutoFit/>
          </a:bodyPr>
          <a:lstStyle/>
          <a:p>
            <a:pPr algn="l"/>
            <a:r>
              <a:rPr b="0" sz="1050" i="0" u="none">
                <a:solidFill>
                  <a:srgbClr val="F59E0B"/>
                </a:solidFill>
                <a:latin typeface="JetBrains Mono"/>
              </a:rPr>
              <a:t>ps / top</a:t>
            </a:r>
            <a:r>
              <a:rPr b="0" sz="1050" i="0" u="none">
                <a:solidFill>
                  <a:srgbClr val="9CA3AF"/>
                </a:solidFill>
                <a:latin typeface="JetBrains Mono"/>
              </a:rPr>
              <a:t> → Process information</a:t>
            </a:r>
          </a:p>
        </p:txBody>
      </p:sp>
      <p:sp>
        <p:nvSpPr>
          <p:cNvPr id="23" name="TextBox 22"/>
          <p:cNvSpPr txBox="1"/>
          <p:nvPr/>
        </p:nvSpPr>
        <p:spPr>
          <a:xfrm>
            <a:off x="695325" y="4460081"/>
            <a:ext cx="5119687" cy="171450"/>
          </a:xfrm>
          <a:prstGeom prst="rect">
            <a:avLst/>
          </a:prstGeom>
          <a:noFill/>
        </p:spPr>
        <p:txBody>
          <a:bodyPr wrap="square" lIns="0" rIns="0" tIns="0" bIns="0" anchor="t">
            <a:spAutoFit/>
          </a:bodyPr>
          <a:lstStyle/>
          <a:p>
            <a:pPr algn="l"/>
            <a:r>
              <a:rPr b="0" sz="1050" i="0" u="none">
                <a:solidFill>
                  <a:srgbClr val="F59E0B"/>
                </a:solidFill>
                <a:latin typeface="JetBrains Mono"/>
              </a:rPr>
              <a:t>ls / stat</a:t>
            </a:r>
            <a:r>
              <a:rPr b="0" sz="1050" i="0" u="none">
                <a:solidFill>
                  <a:srgbClr val="9CA3AF"/>
                </a:solidFill>
                <a:latin typeface="JetBrains Mono"/>
              </a:rPr>
              <a:t> → File system attributes</a:t>
            </a:r>
          </a:p>
        </p:txBody>
      </p:sp>
      <p:sp>
        <p:nvSpPr>
          <p:cNvPr id="24" name="TextBox 23"/>
          <p:cNvSpPr txBox="1"/>
          <p:nvPr/>
        </p:nvSpPr>
        <p:spPr>
          <a:xfrm>
            <a:off x="695325" y="4688681"/>
            <a:ext cx="5119687" cy="171450"/>
          </a:xfrm>
          <a:prstGeom prst="rect">
            <a:avLst/>
          </a:prstGeom>
          <a:noFill/>
        </p:spPr>
        <p:txBody>
          <a:bodyPr wrap="square" lIns="0" rIns="0" tIns="0" bIns="0" anchor="t">
            <a:spAutoFit/>
          </a:bodyPr>
          <a:lstStyle/>
          <a:p>
            <a:pPr algn="l"/>
            <a:r>
              <a:rPr b="0" sz="1050" i="0" u="none">
                <a:solidFill>
                  <a:srgbClr val="F59E0B"/>
                </a:solidFill>
                <a:latin typeface="JetBrains Mono"/>
              </a:rPr>
              <a:t>free / vmstat</a:t>
            </a:r>
            <a:r>
              <a:rPr b="0" sz="1050" i="0" u="none">
                <a:solidFill>
                  <a:srgbClr val="9CA3AF"/>
                </a:solidFill>
                <a:latin typeface="JetBrains Mono"/>
              </a:rPr>
              <a:t> → Memory state</a:t>
            </a:r>
          </a:p>
        </p:txBody>
      </p:sp>
      <p:sp>
        <p:nvSpPr>
          <p:cNvPr id="25" name="TextBox 24"/>
          <p:cNvSpPr txBox="1"/>
          <p:nvPr/>
        </p:nvSpPr>
        <p:spPr>
          <a:xfrm>
            <a:off x="695325" y="4917281"/>
            <a:ext cx="5119687" cy="171450"/>
          </a:xfrm>
          <a:prstGeom prst="rect">
            <a:avLst/>
          </a:prstGeom>
          <a:noFill/>
        </p:spPr>
        <p:txBody>
          <a:bodyPr wrap="square" lIns="0" rIns="0" tIns="0" bIns="0" anchor="t">
            <a:spAutoFit/>
          </a:bodyPr>
          <a:lstStyle/>
          <a:p>
            <a:pPr algn="l"/>
            <a:r>
              <a:rPr b="0" sz="1050" i="0" u="none">
                <a:solidFill>
                  <a:srgbClr val="F59E0B"/>
                </a:solidFill>
                <a:latin typeface="JetBrains Mono"/>
              </a:rPr>
              <a:t>pipe programs</a:t>
            </a:r>
            <a:r>
              <a:rPr b="0" sz="1050" i="0" u="none">
                <a:solidFill>
                  <a:srgbClr val="9CA3AF"/>
                </a:solidFill>
                <a:latin typeface="JetBrains Mono"/>
              </a:rPr>
              <a:t> → IPC mechanisms</a:t>
            </a:r>
          </a:p>
        </p:txBody>
      </p:sp>
      <p:sp>
        <p:nvSpPr>
          <p:cNvPr id="26" name="TextBox 25"/>
          <p:cNvSpPr txBox="1"/>
          <p:nvPr/>
        </p:nvSpPr>
        <p:spPr>
          <a:xfrm>
            <a:off x="695325" y="5145881"/>
            <a:ext cx="5119687" cy="171450"/>
          </a:xfrm>
          <a:prstGeom prst="rect">
            <a:avLst/>
          </a:prstGeom>
          <a:noFill/>
        </p:spPr>
        <p:txBody>
          <a:bodyPr wrap="square" lIns="0" rIns="0" tIns="0" bIns="0" anchor="t">
            <a:spAutoFit/>
          </a:bodyPr>
          <a:lstStyle/>
          <a:p>
            <a:pPr algn="l"/>
            <a:r>
              <a:rPr b="0" sz="1050" i="0" u="none">
                <a:solidFill>
                  <a:srgbClr val="F59E0B"/>
                </a:solidFill>
                <a:latin typeface="JetBrains Mono"/>
              </a:rPr>
              <a:t>pthread demos</a:t>
            </a:r>
            <a:r>
              <a:rPr b="0" sz="1050" i="0" u="none">
                <a:solidFill>
                  <a:srgbClr val="9CA3AF"/>
                </a:solidFill>
                <a:latin typeface="JetBrains Mono"/>
              </a:rPr>
              <a:t> → Synchronization</a:t>
            </a:r>
          </a:p>
        </p:txBody>
      </p:sp>
      <p:sp>
        <p:nvSpPr>
          <p:cNvPr id="27" name="TextBox 26"/>
          <p:cNvSpPr txBox="1"/>
          <p:nvPr/>
        </p:nvSpPr>
        <p:spPr>
          <a:xfrm>
            <a:off x="6376987" y="4231481"/>
            <a:ext cx="5119687" cy="171450"/>
          </a:xfrm>
          <a:prstGeom prst="rect">
            <a:avLst/>
          </a:prstGeom>
          <a:noFill/>
        </p:spPr>
        <p:txBody>
          <a:bodyPr wrap="square" lIns="0" rIns="0" tIns="0" bIns="0" anchor="t">
            <a:spAutoFit/>
          </a:bodyPr>
          <a:lstStyle/>
          <a:p>
            <a:pPr algn="l"/>
            <a:r>
              <a:rPr b="1" sz="1050" i="0" u="none">
                <a:solidFill>
                  <a:srgbClr val="34D399"/>
                </a:solidFill>
                <a:latin typeface="JetBrains Mono"/>
              </a:rPr>
              <a:t>UnixSuite</a:t>
            </a:r>
          </a:p>
        </p:txBody>
      </p:sp>
      <p:sp>
        <p:nvSpPr>
          <p:cNvPr id="28" name="TextBox 27"/>
          <p:cNvSpPr txBox="1"/>
          <p:nvPr/>
        </p:nvSpPr>
        <p:spPr>
          <a:xfrm>
            <a:off x="6519862" y="4460081"/>
            <a:ext cx="4976812" cy="171450"/>
          </a:xfrm>
          <a:prstGeom prst="rect">
            <a:avLst/>
          </a:prstGeom>
          <a:noFill/>
        </p:spPr>
        <p:txBody>
          <a:bodyPr wrap="square" lIns="0" rIns="0" tIns="0" bIns="0" anchor="t">
            <a:spAutoFit/>
          </a:bodyPr>
          <a:lstStyle/>
          <a:p>
            <a:pPr algn="l"/>
            <a:r>
              <a:rPr b="0" sz="1050" i="0" u="none">
                <a:solidFill>
                  <a:srgbClr val="34D399"/>
                </a:solidFill>
                <a:latin typeface="JetBrains Mono"/>
              </a:rPr>
              <a:t>├── Process Info</a:t>
            </a:r>
          </a:p>
        </p:txBody>
      </p:sp>
      <p:sp>
        <p:nvSpPr>
          <p:cNvPr id="29" name="TextBox 28"/>
          <p:cNvSpPr txBox="1"/>
          <p:nvPr/>
        </p:nvSpPr>
        <p:spPr>
          <a:xfrm>
            <a:off x="6519862" y="4688681"/>
            <a:ext cx="4976812" cy="171450"/>
          </a:xfrm>
          <a:prstGeom prst="rect">
            <a:avLst/>
          </a:prstGeom>
          <a:noFill/>
        </p:spPr>
        <p:txBody>
          <a:bodyPr wrap="square" lIns="0" rIns="0" tIns="0" bIns="0" anchor="t">
            <a:spAutoFit/>
          </a:bodyPr>
          <a:lstStyle/>
          <a:p>
            <a:pPr algn="l"/>
            <a:r>
              <a:rPr b="0" sz="1050" i="0" u="none">
                <a:solidFill>
                  <a:srgbClr val="34D399"/>
                </a:solidFill>
                <a:latin typeface="JetBrains Mono"/>
              </a:rPr>
              <a:t>├── Memory Info</a:t>
            </a:r>
          </a:p>
        </p:txBody>
      </p:sp>
      <p:sp>
        <p:nvSpPr>
          <p:cNvPr id="30" name="TextBox 29"/>
          <p:cNvSpPr txBox="1"/>
          <p:nvPr/>
        </p:nvSpPr>
        <p:spPr>
          <a:xfrm>
            <a:off x="6519862" y="4917281"/>
            <a:ext cx="4976812" cy="171450"/>
          </a:xfrm>
          <a:prstGeom prst="rect">
            <a:avLst/>
          </a:prstGeom>
          <a:noFill/>
        </p:spPr>
        <p:txBody>
          <a:bodyPr wrap="square" lIns="0" rIns="0" tIns="0" bIns="0" anchor="t">
            <a:spAutoFit/>
          </a:bodyPr>
          <a:lstStyle/>
          <a:p>
            <a:pPr algn="l"/>
            <a:r>
              <a:rPr b="0" sz="1050" i="0" u="none">
                <a:solidFill>
                  <a:srgbClr val="34D399"/>
                </a:solidFill>
                <a:latin typeface="JetBrains Mono"/>
              </a:rPr>
              <a:t>├── File Info</a:t>
            </a:r>
          </a:p>
        </p:txBody>
      </p:sp>
      <p:sp>
        <p:nvSpPr>
          <p:cNvPr id="31" name="TextBox 30"/>
          <p:cNvSpPr txBox="1"/>
          <p:nvPr/>
        </p:nvSpPr>
        <p:spPr>
          <a:xfrm>
            <a:off x="6519862" y="5145881"/>
            <a:ext cx="4976812" cy="171450"/>
          </a:xfrm>
          <a:prstGeom prst="rect">
            <a:avLst/>
          </a:prstGeom>
          <a:noFill/>
        </p:spPr>
        <p:txBody>
          <a:bodyPr wrap="square" lIns="0" rIns="0" tIns="0" bIns="0" anchor="t">
            <a:spAutoFit/>
          </a:bodyPr>
          <a:lstStyle/>
          <a:p>
            <a:pPr algn="l"/>
            <a:r>
              <a:rPr b="0" sz="1050" i="0" u="none">
                <a:solidFill>
                  <a:srgbClr val="34D399"/>
                </a:solidFill>
                <a:latin typeface="JetBrains Mono"/>
              </a:rPr>
              <a:t>├── IPC Demo</a:t>
            </a:r>
          </a:p>
        </p:txBody>
      </p:sp>
      <p:sp>
        <p:nvSpPr>
          <p:cNvPr id="32" name="TextBox 31"/>
          <p:cNvSpPr txBox="1"/>
          <p:nvPr/>
        </p:nvSpPr>
        <p:spPr>
          <a:xfrm>
            <a:off x="6519862" y="5374481"/>
            <a:ext cx="4976812" cy="171450"/>
          </a:xfrm>
          <a:prstGeom prst="rect">
            <a:avLst/>
          </a:prstGeom>
          <a:noFill/>
        </p:spPr>
        <p:txBody>
          <a:bodyPr wrap="square" lIns="0" rIns="0" tIns="0" bIns="0" anchor="t">
            <a:spAutoFit/>
          </a:bodyPr>
          <a:lstStyle/>
          <a:p>
            <a:pPr algn="l"/>
            <a:r>
              <a:rPr b="0" sz="1050" i="0" u="none">
                <a:solidFill>
                  <a:srgbClr val="34D399"/>
                </a:solidFill>
                <a:latin typeface="JetBrains Mono"/>
              </a:rPr>
              <a:t>└── Thread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533400" y="4262437"/>
            <a:ext cx="11125200" cy="1000125"/>
          </a:xfrm>
          <a:prstGeom prst="rect">
            <a:avLst/>
          </a:prstGeom>
        </p:spPr>
      </p:pic>
      <p:pic>
        <p:nvPicPr>
          <p:cNvPr id="5" name="Picture 4" descr="image.png"/>
          <p:cNvPicPr>
            <a:picLocks noChangeAspect="1"/>
          </p:cNvPicPr>
          <p:nvPr/>
        </p:nvPicPr>
        <p:blipFill>
          <a:blip r:embed="rId5"/>
          <a:stretch>
            <a:fillRect/>
          </a:stretch>
        </p:blipFill>
        <p:spPr>
          <a:xfrm>
            <a:off x="533400" y="1881187"/>
            <a:ext cx="3581400" cy="1038225"/>
          </a:xfrm>
          <a:prstGeom prst="rect">
            <a:avLst/>
          </a:prstGeom>
        </p:spPr>
      </p:pic>
      <p:pic>
        <p:nvPicPr>
          <p:cNvPr id="6" name="Picture 5" descr="image.png"/>
          <p:cNvPicPr>
            <a:picLocks noChangeAspect="1"/>
          </p:cNvPicPr>
          <p:nvPr/>
        </p:nvPicPr>
        <p:blipFill>
          <a:blip r:embed="rId6"/>
          <a:stretch>
            <a:fillRect/>
          </a:stretch>
        </p:blipFill>
        <p:spPr>
          <a:xfrm>
            <a:off x="4305300" y="1881187"/>
            <a:ext cx="3581400" cy="1038225"/>
          </a:xfrm>
          <a:prstGeom prst="rect">
            <a:avLst/>
          </a:prstGeom>
        </p:spPr>
      </p:pic>
      <p:pic>
        <p:nvPicPr>
          <p:cNvPr id="7" name="Picture 6" descr="image.png"/>
          <p:cNvPicPr>
            <a:picLocks noChangeAspect="1"/>
          </p:cNvPicPr>
          <p:nvPr/>
        </p:nvPicPr>
        <p:blipFill>
          <a:blip r:embed="rId7"/>
          <a:stretch>
            <a:fillRect/>
          </a:stretch>
        </p:blipFill>
        <p:spPr>
          <a:xfrm>
            <a:off x="8077200" y="1881187"/>
            <a:ext cx="3581400" cy="1038225"/>
          </a:xfrm>
          <a:prstGeom prst="rect">
            <a:avLst/>
          </a:prstGeom>
        </p:spPr>
      </p:pic>
      <p:pic>
        <p:nvPicPr>
          <p:cNvPr id="8" name="Picture 7" descr="image.png"/>
          <p:cNvPicPr>
            <a:picLocks noChangeAspect="1"/>
          </p:cNvPicPr>
          <p:nvPr/>
        </p:nvPicPr>
        <p:blipFill>
          <a:blip r:embed="rId8"/>
          <a:stretch>
            <a:fillRect/>
          </a:stretch>
        </p:blipFill>
        <p:spPr>
          <a:xfrm>
            <a:off x="533400" y="3071812"/>
            <a:ext cx="5443537" cy="1038225"/>
          </a:xfrm>
          <a:prstGeom prst="rect">
            <a:avLst/>
          </a:prstGeom>
        </p:spPr>
      </p:pic>
      <p:pic>
        <p:nvPicPr>
          <p:cNvPr id="9" name="Picture 8" descr="image.png"/>
          <p:cNvPicPr>
            <a:picLocks noChangeAspect="1"/>
          </p:cNvPicPr>
          <p:nvPr/>
        </p:nvPicPr>
        <p:blipFill>
          <a:blip r:embed="rId9"/>
          <a:stretch>
            <a:fillRect/>
          </a:stretch>
        </p:blipFill>
        <p:spPr>
          <a:xfrm>
            <a:off x="6215062" y="3071812"/>
            <a:ext cx="5443537" cy="1038225"/>
          </a:xfrm>
          <a:prstGeom prst="rect">
            <a:avLst/>
          </a:prstGeom>
        </p:spPr>
      </p:pic>
      <p:pic>
        <p:nvPicPr>
          <p:cNvPr id="10" name="Picture 9" descr="image.png"/>
          <p:cNvPicPr>
            <a:picLocks noChangeAspect="1"/>
          </p:cNvPicPr>
          <p:nvPr/>
        </p:nvPicPr>
        <p:blipFill>
          <a:blip r:embed="rId10"/>
          <a:stretch>
            <a:fillRect/>
          </a:stretch>
        </p:blipFill>
        <p:spPr>
          <a:xfrm>
            <a:off x="1062037" y="4624387"/>
            <a:ext cx="3200400" cy="476250"/>
          </a:xfrm>
          <a:prstGeom prst="rect">
            <a:avLst/>
          </a:prstGeom>
        </p:spPr>
      </p:pic>
      <p:pic>
        <p:nvPicPr>
          <p:cNvPr id="11" name="Picture 10" descr="image.png"/>
          <p:cNvPicPr>
            <a:picLocks noChangeAspect="1"/>
          </p:cNvPicPr>
          <p:nvPr/>
        </p:nvPicPr>
        <p:blipFill>
          <a:blip r:embed="rId11"/>
          <a:stretch>
            <a:fillRect/>
          </a:stretch>
        </p:blipFill>
        <p:spPr>
          <a:xfrm>
            <a:off x="5957887" y="4695825"/>
            <a:ext cx="5172075" cy="333375"/>
          </a:xfrm>
          <a:prstGeom prst="rect">
            <a:avLst/>
          </a:prstGeom>
        </p:spPr>
      </p:pic>
      <p:sp>
        <p:nvSpPr>
          <p:cNvPr id="12" name="TextBox 11"/>
          <p:cNvSpPr txBox="1"/>
          <p:nvPr/>
        </p:nvSpPr>
        <p:spPr>
          <a:xfrm>
            <a:off x="533400" y="438150"/>
            <a:ext cx="4629150"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ANALYSIS</a:t>
            </a:r>
          </a:p>
        </p:txBody>
      </p:sp>
      <p:pic>
        <p:nvPicPr>
          <p:cNvPr id="13" name="Picture 12" descr="image.png"/>
          <p:cNvPicPr>
            <a:picLocks noChangeAspect="1"/>
          </p:cNvPicPr>
          <p:nvPr/>
        </p:nvPicPr>
        <p:blipFill>
          <a:blip r:embed="rId12"/>
          <a:stretch>
            <a:fillRect/>
          </a:stretch>
        </p:blipFill>
        <p:spPr>
          <a:xfrm>
            <a:off x="10801350" y="742950"/>
            <a:ext cx="857250" cy="276225"/>
          </a:xfrm>
          <a:prstGeom prst="rect">
            <a:avLst/>
          </a:prstGeom>
        </p:spPr>
      </p:pic>
      <p:sp>
        <p:nvSpPr>
          <p:cNvPr id="14" name="TextBox 13"/>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5" name="TextBox 14"/>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04 / 09</a:t>
            </a:r>
          </a:p>
        </p:txBody>
      </p:sp>
      <p:sp>
        <p:nvSpPr>
          <p:cNvPr id="16" name="TextBox 15"/>
          <p:cNvSpPr txBox="1"/>
          <p:nvPr/>
        </p:nvSpPr>
        <p:spPr>
          <a:xfrm>
            <a:off x="533400" y="638175"/>
            <a:ext cx="4860607" cy="381000"/>
          </a:xfrm>
          <a:prstGeom prst="rect">
            <a:avLst/>
          </a:prstGeom>
          <a:noFill/>
        </p:spPr>
        <p:txBody>
          <a:bodyPr wrap="square" lIns="0" rIns="0" tIns="0" bIns="0" anchor="t">
            <a:spAutoFit/>
          </a:bodyPr>
          <a:lstStyle/>
          <a:p>
            <a:pPr algn="l"/>
            <a:r>
              <a:rPr b="1" sz="2400" i="0" u="none">
                <a:solidFill>
                  <a:srgbClr val="F9FAFB"/>
                </a:solidFill>
                <a:latin typeface="Plus Jakarta Sans"/>
              </a:rPr>
              <a:t>Drawbacks in Existing Approach</a:t>
            </a:r>
          </a:p>
        </p:txBody>
      </p:sp>
      <p:sp>
        <p:nvSpPr>
          <p:cNvPr id="17" name="TextBox 16"/>
          <p:cNvSpPr txBox="1"/>
          <p:nvPr/>
        </p:nvSpPr>
        <p:spPr>
          <a:xfrm>
            <a:off x="533400" y="5414962"/>
            <a:ext cx="11125200" cy="171450"/>
          </a:xfrm>
          <a:prstGeom prst="rect">
            <a:avLst/>
          </a:prstGeom>
          <a:noFill/>
        </p:spPr>
        <p:txBody>
          <a:bodyPr wrap="square" lIns="0" rIns="0" tIns="0" bIns="0" anchor="t">
            <a:spAutoFit/>
          </a:bodyPr>
          <a:lstStyle/>
          <a:p>
            <a:pPr algn="ctr"/>
            <a:r>
              <a:rPr b="0" sz="1050" i="1" u="none">
                <a:solidFill>
                  <a:srgbClr val="9CA3AF"/>
                </a:solidFill>
                <a:latin typeface="Plus Jakarta Sans"/>
              </a:rPr>
              <a:t> "Existing tools are powerful; our contribution is an integrated educational system-programming toolkit." </a:t>
            </a:r>
          </a:p>
        </p:txBody>
      </p:sp>
      <p:sp>
        <p:nvSpPr>
          <p:cNvPr id="18" name="TextBox 17"/>
          <p:cNvSpPr txBox="1"/>
          <p:nvPr/>
        </p:nvSpPr>
        <p:spPr>
          <a:xfrm>
            <a:off x="942975" y="2043112"/>
            <a:ext cx="3009900" cy="200025"/>
          </a:xfrm>
          <a:prstGeom prst="rect">
            <a:avLst/>
          </a:prstGeom>
          <a:noFill/>
        </p:spPr>
        <p:txBody>
          <a:bodyPr wrap="square" lIns="0" rIns="0" tIns="0" bIns="0" anchor="ctr">
            <a:spAutoFit/>
          </a:bodyPr>
          <a:lstStyle/>
          <a:p>
            <a:pPr algn="l"/>
            <a:r>
              <a:rPr b="1" sz="1200" i="0" u="none">
                <a:solidFill>
                  <a:srgbClr val="F59E0B"/>
                </a:solidFill>
                <a:latin typeface="Plus Jakarta Sans"/>
              </a:rPr>
              <a:t>1. Separate Utilities</a:t>
            </a:r>
          </a:p>
        </p:txBody>
      </p:sp>
      <p:sp>
        <p:nvSpPr>
          <p:cNvPr id="19" name="TextBox 18"/>
          <p:cNvSpPr txBox="1"/>
          <p:nvPr/>
        </p:nvSpPr>
        <p:spPr>
          <a:xfrm>
            <a:off x="695325" y="2357437"/>
            <a:ext cx="325755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Different tasks require invoking completely separate, isolated Linux tools and utilities.</a:t>
            </a:r>
          </a:p>
        </p:txBody>
      </p:sp>
      <p:sp>
        <p:nvSpPr>
          <p:cNvPr id="20" name="TextBox 19"/>
          <p:cNvSpPr txBox="1"/>
          <p:nvPr/>
        </p:nvSpPr>
        <p:spPr>
          <a:xfrm>
            <a:off x="4752975" y="2043112"/>
            <a:ext cx="2971800" cy="200025"/>
          </a:xfrm>
          <a:prstGeom prst="rect">
            <a:avLst/>
          </a:prstGeom>
          <a:noFill/>
        </p:spPr>
        <p:txBody>
          <a:bodyPr wrap="square" lIns="0" rIns="0" tIns="0" bIns="0" anchor="ctr">
            <a:spAutoFit/>
          </a:bodyPr>
          <a:lstStyle/>
          <a:p>
            <a:pPr algn="l"/>
            <a:r>
              <a:rPr b="1" sz="1200" i="0" u="none">
                <a:solidFill>
                  <a:srgbClr val="F59E0B"/>
                </a:solidFill>
                <a:latin typeface="Plus Jakarta Sans"/>
              </a:rPr>
              <a:t>2. Command Dependency</a:t>
            </a:r>
          </a:p>
        </p:txBody>
      </p:sp>
      <p:sp>
        <p:nvSpPr>
          <p:cNvPr id="21" name="TextBox 20"/>
          <p:cNvSpPr txBox="1"/>
          <p:nvPr/>
        </p:nvSpPr>
        <p:spPr>
          <a:xfrm>
            <a:off x="4467225" y="2357437"/>
            <a:ext cx="325755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Users must memorize disparate commands, syntax flags, and option parameters across tools.</a:t>
            </a:r>
          </a:p>
        </p:txBody>
      </p:sp>
      <p:sp>
        <p:nvSpPr>
          <p:cNvPr id="22" name="TextBox 21"/>
          <p:cNvSpPr txBox="1"/>
          <p:nvPr/>
        </p:nvSpPr>
        <p:spPr>
          <a:xfrm>
            <a:off x="8505825" y="2043112"/>
            <a:ext cx="2990850" cy="200025"/>
          </a:xfrm>
          <a:prstGeom prst="rect">
            <a:avLst/>
          </a:prstGeom>
          <a:noFill/>
        </p:spPr>
        <p:txBody>
          <a:bodyPr wrap="square" lIns="0" rIns="0" tIns="0" bIns="0" anchor="ctr">
            <a:spAutoFit/>
          </a:bodyPr>
          <a:lstStyle/>
          <a:p>
            <a:pPr algn="l"/>
            <a:r>
              <a:rPr b="1" sz="1200" i="0" u="none">
                <a:solidFill>
                  <a:srgbClr val="F59E0B"/>
                </a:solidFill>
                <a:latin typeface="Plus Jakarta Sans"/>
              </a:rPr>
              <a:t>3. Concepts Disconnected</a:t>
            </a:r>
          </a:p>
        </p:txBody>
      </p:sp>
      <p:sp>
        <p:nvSpPr>
          <p:cNvPr id="23" name="TextBox 22"/>
          <p:cNvSpPr txBox="1"/>
          <p:nvPr/>
        </p:nvSpPr>
        <p:spPr>
          <a:xfrm>
            <a:off x="8239125" y="2357437"/>
            <a:ext cx="325755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Processes, memory, files, IPC, and concurrency are studied as isolated textbook topics.</a:t>
            </a:r>
          </a:p>
        </p:txBody>
      </p:sp>
      <p:sp>
        <p:nvSpPr>
          <p:cNvPr id="24" name="TextBox 23"/>
          <p:cNvSpPr txBox="1"/>
          <p:nvPr/>
        </p:nvSpPr>
        <p:spPr>
          <a:xfrm>
            <a:off x="1009650" y="3233737"/>
            <a:ext cx="4805362" cy="200025"/>
          </a:xfrm>
          <a:prstGeom prst="rect">
            <a:avLst/>
          </a:prstGeom>
          <a:noFill/>
        </p:spPr>
        <p:txBody>
          <a:bodyPr wrap="square" lIns="0" rIns="0" tIns="0" bIns="0" anchor="ctr">
            <a:spAutoFit/>
          </a:bodyPr>
          <a:lstStyle/>
          <a:p>
            <a:pPr algn="l"/>
            <a:r>
              <a:rPr b="1" sz="1200" i="0" u="none">
                <a:solidFill>
                  <a:srgbClr val="F59E0B"/>
                </a:solidFill>
                <a:latin typeface="Plus Jakarta Sans"/>
              </a:rPr>
              <a:t>4. Beginner Difficulty</a:t>
            </a:r>
          </a:p>
        </p:txBody>
      </p:sp>
      <p:sp>
        <p:nvSpPr>
          <p:cNvPr id="25" name="TextBox 24"/>
          <p:cNvSpPr txBox="1"/>
          <p:nvPr/>
        </p:nvSpPr>
        <p:spPr>
          <a:xfrm>
            <a:off x="695325" y="3548062"/>
            <a:ext cx="5119687"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Students grasp OS theory but struggle connecting concepts directly to live Linux kernel behavior.</a:t>
            </a:r>
          </a:p>
        </p:txBody>
      </p:sp>
      <p:sp>
        <p:nvSpPr>
          <p:cNvPr id="26" name="TextBox 25"/>
          <p:cNvSpPr txBox="1"/>
          <p:nvPr/>
        </p:nvSpPr>
        <p:spPr>
          <a:xfrm>
            <a:off x="6624637" y="3233737"/>
            <a:ext cx="4872037" cy="200025"/>
          </a:xfrm>
          <a:prstGeom prst="rect">
            <a:avLst/>
          </a:prstGeom>
          <a:noFill/>
        </p:spPr>
        <p:txBody>
          <a:bodyPr wrap="square" lIns="0" rIns="0" tIns="0" bIns="0" anchor="ctr">
            <a:spAutoFit/>
          </a:bodyPr>
          <a:lstStyle/>
          <a:p>
            <a:pPr algn="l"/>
            <a:r>
              <a:rPr b="1" sz="1200" i="0" u="none">
                <a:solidFill>
                  <a:srgbClr val="F59E0B"/>
                </a:solidFill>
                <a:latin typeface="Plus Jakarta Sans"/>
              </a:rPr>
              <a:t>5. Limited Integration</a:t>
            </a:r>
          </a:p>
        </p:txBody>
      </p:sp>
      <p:sp>
        <p:nvSpPr>
          <p:cNvPr id="27" name="TextBox 26"/>
          <p:cNvSpPr txBox="1"/>
          <p:nvPr/>
        </p:nvSpPr>
        <p:spPr>
          <a:xfrm>
            <a:off x="6376987" y="3548062"/>
            <a:ext cx="5119687"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Lack of a single educational C application demonstrating multiple core system concepts in one place.</a:t>
            </a:r>
          </a:p>
        </p:txBody>
      </p:sp>
      <p:pic>
        <p:nvPicPr>
          <p:cNvPr id="28" name="Picture 27" descr="image.png"/>
          <p:cNvPicPr>
            <a:picLocks noChangeAspect="1"/>
          </p:cNvPicPr>
          <p:nvPr/>
        </p:nvPicPr>
        <p:blipFill>
          <a:blip r:embed="rId13"/>
          <a:stretch>
            <a:fillRect/>
          </a:stretch>
        </p:blipFill>
        <p:spPr>
          <a:xfrm>
            <a:off x="4995862" y="4648200"/>
            <a:ext cx="228600" cy="228600"/>
          </a:xfrm>
          <a:prstGeom prst="rect">
            <a:avLst/>
          </a:prstGeom>
        </p:spPr>
      </p:pic>
      <p:pic>
        <p:nvPicPr>
          <p:cNvPr id="29" name="Picture 28" descr="image.png"/>
          <p:cNvPicPr>
            <a:picLocks noChangeAspect="1"/>
          </p:cNvPicPr>
          <p:nvPr/>
        </p:nvPicPr>
        <p:blipFill>
          <a:blip r:embed="rId14"/>
          <a:stretch>
            <a:fillRect/>
          </a:stretch>
        </p:blipFill>
        <p:spPr>
          <a:xfrm>
            <a:off x="695325" y="2057400"/>
            <a:ext cx="152400" cy="171450"/>
          </a:xfrm>
          <a:prstGeom prst="rect">
            <a:avLst/>
          </a:prstGeom>
        </p:spPr>
      </p:pic>
      <p:pic>
        <p:nvPicPr>
          <p:cNvPr id="30" name="Picture 29" descr="image.png"/>
          <p:cNvPicPr>
            <a:picLocks noChangeAspect="1"/>
          </p:cNvPicPr>
          <p:nvPr/>
        </p:nvPicPr>
        <p:blipFill>
          <a:blip r:embed="rId15"/>
          <a:stretch>
            <a:fillRect/>
          </a:stretch>
        </p:blipFill>
        <p:spPr>
          <a:xfrm>
            <a:off x="4467225" y="2057400"/>
            <a:ext cx="190500" cy="171450"/>
          </a:xfrm>
          <a:prstGeom prst="rect">
            <a:avLst/>
          </a:prstGeom>
        </p:spPr>
      </p:pic>
      <p:pic>
        <p:nvPicPr>
          <p:cNvPr id="31" name="Picture 30" descr="image.png"/>
          <p:cNvPicPr>
            <a:picLocks noChangeAspect="1"/>
          </p:cNvPicPr>
          <p:nvPr/>
        </p:nvPicPr>
        <p:blipFill>
          <a:blip r:embed="rId16"/>
          <a:stretch>
            <a:fillRect/>
          </a:stretch>
        </p:blipFill>
        <p:spPr>
          <a:xfrm>
            <a:off x="8239125" y="2057400"/>
            <a:ext cx="171450" cy="171450"/>
          </a:xfrm>
          <a:prstGeom prst="rect">
            <a:avLst/>
          </a:prstGeom>
        </p:spPr>
      </p:pic>
      <p:pic>
        <p:nvPicPr>
          <p:cNvPr id="32" name="Picture 31" descr="image.png"/>
          <p:cNvPicPr>
            <a:picLocks noChangeAspect="1"/>
          </p:cNvPicPr>
          <p:nvPr/>
        </p:nvPicPr>
        <p:blipFill>
          <a:blip r:embed="rId17"/>
          <a:stretch>
            <a:fillRect/>
          </a:stretch>
        </p:blipFill>
        <p:spPr>
          <a:xfrm>
            <a:off x="695325" y="3248025"/>
            <a:ext cx="219075" cy="171450"/>
          </a:xfrm>
          <a:prstGeom prst="rect">
            <a:avLst/>
          </a:prstGeom>
        </p:spPr>
      </p:pic>
      <p:pic>
        <p:nvPicPr>
          <p:cNvPr id="33" name="Picture 32" descr="image.png"/>
          <p:cNvPicPr>
            <a:picLocks noChangeAspect="1"/>
          </p:cNvPicPr>
          <p:nvPr/>
        </p:nvPicPr>
        <p:blipFill>
          <a:blip r:embed="rId18"/>
          <a:stretch>
            <a:fillRect/>
          </a:stretch>
        </p:blipFill>
        <p:spPr>
          <a:xfrm>
            <a:off x="6376987" y="3248025"/>
            <a:ext cx="152400" cy="171450"/>
          </a:xfrm>
          <a:prstGeom prst="rect">
            <a:avLst/>
          </a:prstGeom>
        </p:spPr>
      </p:pic>
      <p:sp>
        <p:nvSpPr>
          <p:cNvPr id="34" name="TextBox 33"/>
          <p:cNvSpPr txBox="1"/>
          <p:nvPr/>
        </p:nvSpPr>
        <p:spPr>
          <a:xfrm>
            <a:off x="1062037" y="4424362"/>
            <a:ext cx="3200400" cy="142875"/>
          </a:xfrm>
          <a:prstGeom prst="rect">
            <a:avLst/>
          </a:prstGeom>
          <a:noFill/>
        </p:spPr>
        <p:txBody>
          <a:bodyPr wrap="square" lIns="0" rIns="0" tIns="0" bIns="0" anchor="t">
            <a:spAutoFit/>
          </a:bodyPr>
          <a:lstStyle/>
          <a:p>
            <a:pPr algn="ctr"/>
            <a:r>
              <a:rPr b="1" sz="900" i="0" u="none">
                <a:solidFill>
                  <a:srgbClr val="EF4444"/>
                </a:solidFill>
                <a:latin typeface="Plus Jakarta Sans"/>
              </a:rPr>
              <a:t>EXISTING APPROACH</a:t>
            </a:r>
          </a:p>
        </p:txBody>
      </p:sp>
      <p:sp>
        <p:nvSpPr>
          <p:cNvPr id="35" name="TextBox 34"/>
          <p:cNvSpPr txBox="1"/>
          <p:nvPr/>
        </p:nvSpPr>
        <p:spPr>
          <a:xfrm>
            <a:off x="5957887" y="4495800"/>
            <a:ext cx="5172075" cy="142875"/>
          </a:xfrm>
          <a:prstGeom prst="rect">
            <a:avLst/>
          </a:prstGeom>
          <a:noFill/>
        </p:spPr>
        <p:txBody>
          <a:bodyPr wrap="square" lIns="0" rIns="0" tIns="0" bIns="0" anchor="t">
            <a:spAutoFit/>
          </a:bodyPr>
          <a:lstStyle/>
          <a:p>
            <a:pPr algn="ctr"/>
            <a:r>
              <a:rPr b="1" sz="900" i="0" u="none">
                <a:solidFill>
                  <a:srgbClr val="10B981"/>
                </a:solidFill>
                <a:latin typeface="Plus Jakarta Sans"/>
              </a:rPr>
              <a:t>OUR INTEGRATED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1095375" y="1581150"/>
            <a:ext cx="10001250" cy="4857750"/>
          </a:xfrm>
          <a:prstGeom prst="rect">
            <a:avLst/>
          </a:prstGeom>
        </p:spPr>
      </p:pic>
      <p:pic>
        <p:nvPicPr>
          <p:cNvPr id="5" name="Picture 4" descr="image.png"/>
          <p:cNvPicPr>
            <a:picLocks noChangeAspect="1"/>
          </p:cNvPicPr>
          <p:nvPr/>
        </p:nvPicPr>
        <p:blipFill>
          <a:blip r:embed="rId5"/>
          <a:stretch>
            <a:fillRect/>
          </a:stretch>
        </p:blipFill>
        <p:spPr>
          <a:xfrm>
            <a:off x="4175819" y="1781175"/>
            <a:ext cx="3840360" cy="485775"/>
          </a:xfrm>
          <a:prstGeom prst="rect">
            <a:avLst/>
          </a:prstGeom>
        </p:spPr>
      </p:pic>
      <p:pic>
        <p:nvPicPr>
          <p:cNvPr id="6" name="Picture 5" descr="image.png"/>
          <p:cNvPicPr>
            <a:picLocks noChangeAspect="1"/>
          </p:cNvPicPr>
          <p:nvPr/>
        </p:nvPicPr>
        <p:blipFill>
          <a:blip r:embed="rId6"/>
          <a:stretch>
            <a:fillRect/>
          </a:stretch>
        </p:blipFill>
        <p:spPr>
          <a:xfrm>
            <a:off x="3215580" y="2628900"/>
            <a:ext cx="5760690" cy="485775"/>
          </a:xfrm>
          <a:prstGeom prst="rect">
            <a:avLst/>
          </a:prstGeom>
        </p:spPr>
      </p:pic>
      <p:pic>
        <p:nvPicPr>
          <p:cNvPr id="7" name="Picture 6" descr="image.png"/>
          <p:cNvPicPr>
            <a:picLocks noChangeAspect="1"/>
          </p:cNvPicPr>
          <p:nvPr/>
        </p:nvPicPr>
        <p:blipFill>
          <a:blip r:embed="rId7"/>
          <a:stretch>
            <a:fillRect/>
          </a:stretch>
        </p:blipFill>
        <p:spPr>
          <a:xfrm>
            <a:off x="2495550" y="4962525"/>
            <a:ext cx="7200900" cy="457200"/>
          </a:xfrm>
          <a:prstGeom prst="rect">
            <a:avLst/>
          </a:prstGeom>
        </p:spPr>
      </p:pic>
      <p:pic>
        <p:nvPicPr>
          <p:cNvPr id="8" name="Picture 7" descr="image.png"/>
          <p:cNvPicPr>
            <a:picLocks noChangeAspect="1"/>
          </p:cNvPicPr>
          <p:nvPr/>
        </p:nvPicPr>
        <p:blipFill>
          <a:blip r:embed="rId8"/>
          <a:stretch>
            <a:fillRect/>
          </a:stretch>
        </p:blipFill>
        <p:spPr>
          <a:xfrm>
            <a:off x="1775519" y="5781675"/>
            <a:ext cx="8640960" cy="457200"/>
          </a:xfrm>
          <a:prstGeom prst="rect">
            <a:avLst/>
          </a:prstGeom>
        </p:spPr>
      </p:pic>
      <p:pic>
        <p:nvPicPr>
          <p:cNvPr id="9" name="Picture 8" descr="image.png"/>
          <p:cNvPicPr>
            <a:picLocks noChangeAspect="1"/>
          </p:cNvPicPr>
          <p:nvPr/>
        </p:nvPicPr>
        <p:blipFill>
          <a:blip r:embed="rId9"/>
          <a:stretch>
            <a:fillRect/>
          </a:stretch>
        </p:blipFill>
        <p:spPr>
          <a:xfrm>
            <a:off x="1295400" y="3476625"/>
            <a:ext cx="3136850" cy="514350"/>
          </a:xfrm>
          <a:prstGeom prst="rect">
            <a:avLst/>
          </a:prstGeom>
        </p:spPr>
      </p:pic>
      <p:pic>
        <p:nvPicPr>
          <p:cNvPr id="10" name="Picture 9" descr="image.png"/>
          <p:cNvPicPr>
            <a:picLocks noChangeAspect="1"/>
          </p:cNvPicPr>
          <p:nvPr/>
        </p:nvPicPr>
        <p:blipFill>
          <a:blip r:embed="rId10"/>
          <a:stretch>
            <a:fillRect/>
          </a:stretch>
        </p:blipFill>
        <p:spPr>
          <a:xfrm>
            <a:off x="4527500" y="3476625"/>
            <a:ext cx="3136850" cy="514350"/>
          </a:xfrm>
          <a:prstGeom prst="rect">
            <a:avLst/>
          </a:prstGeom>
        </p:spPr>
      </p:pic>
      <p:pic>
        <p:nvPicPr>
          <p:cNvPr id="11" name="Picture 10" descr="image.png"/>
          <p:cNvPicPr>
            <a:picLocks noChangeAspect="1"/>
          </p:cNvPicPr>
          <p:nvPr/>
        </p:nvPicPr>
        <p:blipFill>
          <a:blip r:embed="rId9"/>
          <a:stretch>
            <a:fillRect/>
          </a:stretch>
        </p:blipFill>
        <p:spPr>
          <a:xfrm>
            <a:off x="7759600" y="3476625"/>
            <a:ext cx="3136999" cy="514350"/>
          </a:xfrm>
          <a:prstGeom prst="rect">
            <a:avLst/>
          </a:prstGeom>
        </p:spPr>
      </p:pic>
      <p:pic>
        <p:nvPicPr>
          <p:cNvPr id="12" name="Picture 11" descr="image.png"/>
          <p:cNvPicPr>
            <a:picLocks noChangeAspect="1"/>
          </p:cNvPicPr>
          <p:nvPr/>
        </p:nvPicPr>
        <p:blipFill>
          <a:blip r:embed="rId9"/>
          <a:stretch>
            <a:fillRect/>
          </a:stretch>
        </p:blipFill>
        <p:spPr>
          <a:xfrm>
            <a:off x="1295400" y="4086225"/>
            <a:ext cx="3136850" cy="514350"/>
          </a:xfrm>
          <a:prstGeom prst="rect">
            <a:avLst/>
          </a:prstGeom>
        </p:spPr>
      </p:pic>
      <p:pic>
        <p:nvPicPr>
          <p:cNvPr id="13" name="Picture 12" descr="image.png"/>
          <p:cNvPicPr>
            <a:picLocks noChangeAspect="1"/>
          </p:cNvPicPr>
          <p:nvPr/>
        </p:nvPicPr>
        <p:blipFill>
          <a:blip r:embed="rId10"/>
          <a:stretch>
            <a:fillRect/>
          </a:stretch>
        </p:blipFill>
        <p:spPr>
          <a:xfrm>
            <a:off x="4527500" y="4086225"/>
            <a:ext cx="3136850" cy="514350"/>
          </a:xfrm>
          <a:prstGeom prst="rect">
            <a:avLst/>
          </a:prstGeom>
        </p:spPr>
      </p:pic>
      <p:pic>
        <p:nvPicPr>
          <p:cNvPr id="14" name="Picture 13" descr="image.png"/>
          <p:cNvPicPr>
            <a:picLocks noChangeAspect="1"/>
          </p:cNvPicPr>
          <p:nvPr/>
        </p:nvPicPr>
        <p:blipFill>
          <a:blip r:embed="rId9"/>
          <a:stretch>
            <a:fillRect/>
          </a:stretch>
        </p:blipFill>
        <p:spPr>
          <a:xfrm>
            <a:off x="7759600" y="4086225"/>
            <a:ext cx="3136999" cy="514350"/>
          </a:xfrm>
          <a:prstGeom prst="rect">
            <a:avLst/>
          </a:prstGeom>
        </p:spPr>
      </p:pic>
      <p:sp>
        <p:nvSpPr>
          <p:cNvPr id="15" name="TextBox 14"/>
          <p:cNvSpPr txBox="1"/>
          <p:nvPr/>
        </p:nvSpPr>
        <p:spPr>
          <a:xfrm>
            <a:off x="533400" y="438150"/>
            <a:ext cx="4819650"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ARCHITECTURE</a:t>
            </a:r>
          </a:p>
        </p:txBody>
      </p:sp>
      <p:pic>
        <p:nvPicPr>
          <p:cNvPr id="16" name="Picture 15" descr="image.png"/>
          <p:cNvPicPr>
            <a:picLocks noChangeAspect="1"/>
          </p:cNvPicPr>
          <p:nvPr/>
        </p:nvPicPr>
        <p:blipFill>
          <a:blip r:embed="rId11"/>
          <a:stretch>
            <a:fillRect/>
          </a:stretch>
        </p:blipFill>
        <p:spPr>
          <a:xfrm>
            <a:off x="10801350" y="742950"/>
            <a:ext cx="857250" cy="276225"/>
          </a:xfrm>
          <a:prstGeom prst="rect">
            <a:avLst/>
          </a:prstGeom>
        </p:spPr>
      </p:pic>
      <p:sp>
        <p:nvSpPr>
          <p:cNvPr id="17" name="TextBox 16"/>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8" name="TextBox 17"/>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05 / 09</a:t>
            </a:r>
          </a:p>
        </p:txBody>
      </p:sp>
      <p:sp>
        <p:nvSpPr>
          <p:cNvPr id="19" name="TextBox 18"/>
          <p:cNvSpPr txBox="1"/>
          <p:nvPr/>
        </p:nvSpPr>
        <p:spPr>
          <a:xfrm>
            <a:off x="533400" y="638175"/>
            <a:ext cx="5060632" cy="381000"/>
          </a:xfrm>
          <a:prstGeom prst="rect">
            <a:avLst/>
          </a:prstGeom>
          <a:noFill/>
        </p:spPr>
        <p:txBody>
          <a:bodyPr wrap="square" lIns="0" rIns="0" tIns="0" bIns="0" anchor="t">
            <a:spAutoFit/>
          </a:bodyPr>
          <a:lstStyle/>
          <a:p>
            <a:pPr algn="l"/>
            <a:r>
              <a:rPr b="1" sz="2400" i="0" u="none">
                <a:solidFill>
                  <a:srgbClr val="F9FAFB"/>
                </a:solidFill>
                <a:latin typeface="Plus Jakarta Sans"/>
              </a:rPr>
              <a:t>Proposed System — Architecture</a:t>
            </a:r>
          </a:p>
        </p:txBody>
      </p:sp>
      <p:sp>
        <p:nvSpPr>
          <p:cNvPr id="20" name="TextBox 19"/>
          <p:cNvSpPr txBox="1"/>
          <p:nvPr/>
        </p:nvSpPr>
        <p:spPr>
          <a:xfrm>
            <a:off x="1809750" y="1028700"/>
            <a:ext cx="8572500" cy="400050"/>
          </a:xfrm>
          <a:prstGeom prst="rect">
            <a:avLst/>
          </a:prstGeom>
          <a:noFill/>
        </p:spPr>
        <p:txBody>
          <a:bodyPr wrap="square" lIns="0" rIns="0" tIns="0" bIns="0" anchor="t">
            <a:spAutoFit/>
          </a:bodyPr>
          <a:lstStyle/>
          <a:p>
            <a:pPr algn="ctr"/>
            <a:r>
              <a:rPr b="0" sz="1200" i="0" u="none">
                <a:solidFill>
                  <a:srgbClr val="D1D5DB"/>
                </a:solidFill>
                <a:latin typeface="Plus Jakarta Sans"/>
              </a:rPr>
              <a:t>Advanced Unix Utility Suite is a user-space C application providing custom utilities mapped directly to major OS Course Outcomes (CO-1 to CO-6).</a:t>
            </a:r>
          </a:p>
        </p:txBody>
      </p:sp>
      <p:pic>
        <p:nvPicPr>
          <p:cNvPr id="21" name="Picture 20" descr="image.png"/>
          <p:cNvPicPr>
            <a:picLocks noChangeAspect="1"/>
          </p:cNvPicPr>
          <p:nvPr/>
        </p:nvPicPr>
        <p:blipFill>
          <a:blip r:embed="rId12"/>
          <a:stretch>
            <a:fillRect/>
          </a:stretch>
        </p:blipFill>
        <p:spPr>
          <a:xfrm>
            <a:off x="6043612" y="2381250"/>
            <a:ext cx="104775" cy="133350"/>
          </a:xfrm>
          <a:prstGeom prst="rect">
            <a:avLst/>
          </a:prstGeom>
        </p:spPr>
      </p:pic>
      <p:pic>
        <p:nvPicPr>
          <p:cNvPr id="22" name="Picture 21" descr="image.png"/>
          <p:cNvPicPr>
            <a:picLocks noChangeAspect="1"/>
          </p:cNvPicPr>
          <p:nvPr/>
        </p:nvPicPr>
        <p:blipFill>
          <a:blip r:embed="rId12"/>
          <a:stretch>
            <a:fillRect/>
          </a:stretch>
        </p:blipFill>
        <p:spPr>
          <a:xfrm>
            <a:off x="6043612" y="3228975"/>
            <a:ext cx="104775" cy="133350"/>
          </a:xfrm>
          <a:prstGeom prst="rect">
            <a:avLst/>
          </a:prstGeom>
        </p:spPr>
      </p:pic>
      <p:pic>
        <p:nvPicPr>
          <p:cNvPr id="23" name="Picture 22" descr="image.png"/>
          <p:cNvPicPr>
            <a:picLocks noChangeAspect="1"/>
          </p:cNvPicPr>
          <p:nvPr/>
        </p:nvPicPr>
        <p:blipFill>
          <a:blip r:embed="rId12"/>
          <a:stretch>
            <a:fillRect/>
          </a:stretch>
        </p:blipFill>
        <p:spPr>
          <a:xfrm>
            <a:off x="6043612" y="4714875"/>
            <a:ext cx="104775" cy="133350"/>
          </a:xfrm>
          <a:prstGeom prst="rect">
            <a:avLst/>
          </a:prstGeom>
        </p:spPr>
      </p:pic>
      <p:pic>
        <p:nvPicPr>
          <p:cNvPr id="24" name="Picture 23" descr="image.png"/>
          <p:cNvPicPr>
            <a:picLocks noChangeAspect="1"/>
          </p:cNvPicPr>
          <p:nvPr/>
        </p:nvPicPr>
        <p:blipFill>
          <a:blip r:embed="rId12"/>
          <a:stretch>
            <a:fillRect/>
          </a:stretch>
        </p:blipFill>
        <p:spPr>
          <a:xfrm>
            <a:off x="6043612" y="5534025"/>
            <a:ext cx="104775" cy="133350"/>
          </a:xfrm>
          <a:prstGeom prst="rect">
            <a:avLst/>
          </a:prstGeom>
        </p:spPr>
      </p:pic>
      <p:pic>
        <p:nvPicPr>
          <p:cNvPr id="25" name="Picture 24" descr="image.png"/>
          <p:cNvPicPr>
            <a:picLocks noChangeAspect="1"/>
          </p:cNvPicPr>
          <p:nvPr/>
        </p:nvPicPr>
        <p:blipFill>
          <a:blip r:embed="rId13"/>
          <a:stretch>
            <a:fillRect/>
          </a:stretch>
        </p:blipFill>
        <p:spPr>
          <a:xfrm>
            <a:off x="5295900" y="1952625"/>
            <a:ext cx="133350" cy="152400"/>
          </a:xfrm>
          <a:prstGeom prst="rect">
            <a:avLst/>
          </a:prstGeom>
        </p:spPr>
      </p:pic>
      <p:sp>
        <p:nvSpPr>
          <p:cNvPr id="26" name="TextBox 25"/>
          <p:cNvSpPr txBox="1"/>
          <p:nvPr/>
        </p:nvSpPr>
        <p:spPr>
          <a:xfrm>
            <a:off x="2449413" y="3581400"/>
            <a:ext cx="828675" cy="152400"/>
          </a:xfrm>
          <a:prstGeom prst="rect">
            <a:avLst/>
          </a:prstGeom>
          <a:noFill/>
        </p:spPr>
        <p:txBody>
          <a:bodyPr wrap="square" lIns="0" rIns="0" tIns="0" bIns="0" anchor="t">
            <a:spAutoFit/>
          </a:bodyPr>
          <a:lstStyle/>
          <a:p>
            <a:pPr algn="ctr"/>
            <a:r>
              <a:rPr b="0" sz="975" i="0" u="none">
                <a:solidFill>
                  <a:srgbClr val="34D399"/>
                </a:solidFill>
                <a:latin typeface="Plus Jakarta Sans Black"/>
              </a:rPr>
              <a:t>1. System Info</a:t>
            </a:r>
          </a:p>
        </p:txBody>
      </p:sp>
      <p:sp>
        <p:nvSpPr>
          <p:cNvPr id="27" name="TextBox 26"/>
          <p:cNvSpPr txBox="1"/>
          <p:nvPr/>
        </p:nvSpPr>
        <p:spPr>
          <a:xfrm>
            <a:off x="2311300" y="3752850"/>
            <a:ext cx="1104900" cy="123825"/>
          </a:xfrm>
          <a:prstGeom prst="rect">
            <a:avLst/>
          </a:prstGeom>
          <a:noFill/>
        </p:spPr>
        <p:txBody>
          <a:bodyPr wrap="square" lIns="0" rIns="0" tIns="0" bIns="0" anchor="t">
            <a:spAutoFit/>
          </a:bodyPr>
          <a:lstStyle/>
          <a:p>
            <a:pPr algn="ctr"/>
            <a:r>
              <a:rPr b="0" sz="825" i="0" u="none">
                <a:solidFill>
                  <a:srgbClr val="34D399"/>
                </a:solidFill>
                <a:latin typeface="Plus Jakarta Sans SemiBold"/>
              </a:rPr>
              <a:t>(CO-1: Sys Overview)</a:t>
            </a:r>
          </a:p>
        </p:txBody>
      </p:sp>
      <p:sp>
        <p:nvSpPr>
          <p:cNvPr id="28" name="TextBox 27"/>
          <p:cNvSpPr txBox="1"/>
          <p:nvPr/>
        </p:nvSpPr>
        <p:spPr>
          <a:xfrm>
            <a:off x="5652938" y="3581400"/>
            <a:ext cx="885825" cy="152400"/>
          </a:xfrm>
          <a:prstGeom prst="rect">
            <a:avLst/>
          </a:prstGeom>
          <a:noFill/>
        </p:spPr>
        <p:txBody>
          <a:bodyPr wrap="square" lIns="0" rIns="0" tIns="0" bIns="0" anchor="t">
            <a:spAutoFit/>
          </a:bodyPr>
          <a:lstStyle/>
          <a:p>
            <a:pPr algn="ctr"/>
            <a:r>
              <a:rPr b="0" sz="975" i="0" u="none">
                <a:solidFill>
                  <a:srgbClr val="34D399"/>
                </a:solidFill>
                <a:latin typeface="Plus Jakarta Sans Black"/>
              </a:rPr>
              <a:t>2. Process Mgr</a:t>
            </a:r>
          </a:p>
        </p:txBody>
      </p:sp>
      <p:sp>
        <p:nvSpPr>
          <p:cNvPr id="29" name="TextBox 28"/>
          <p:cNvSpPr txBox="1"/>
          <p:nvPr/>
        </p:nvSpPr>
        <p:spPr>
          <a:xfrm>
            <a:off x="5562451" y="3752850"/>
            <a:ext cx="1066800" cy="123825"/>
          </a:xfrm>
          <a:prstGeom prst="rect">
            <a:avLst/>
          </a:prstGeom>
          <a:noFill/>
        </p:spPr>
        <p:txBody>
          <a:bodyPr wrap="square" lIns="0" rIns="0" tIns="0" bIns="0" anchor="t">
            <a:spAutoFit/>
          </a:bodyPr>
          <a:lstStyle/>
          <a:p>
            <a:pPr algn="ctr"/>
            <a:r>
              <a:rPr b="0" sz="825" i="0" u="none">
                <a:solidFill>
                  <a:srgbClr val="34D399"/>
                </a:solidFill>
                <a:latin typeface="Plus Jakarta Sans SemiBold"/>
              </a:rPr>
              <a:t>(CO-2: Process Ctrl)</a:t>
            </a:r>
          </a:p>
        </p:txBody>
      </p:sp>
      <p:sp>
        <p:nvSpPr>
          <p:cNvPr id="30" name="TextBox 29"/>
          <p:cNvSpPr txBox="1"/>
          <p:nvPr/>
        </p:nvSpPr>
        <p:spPr>
          <a:xfrm>
            <a:off x="8923287" y="3581400"/>
            <a:ext cx="809625" cy="152400"/>
          </a:xfrm>
          <a:prstGeom prst="rect">
            <a:avLst/>
          </a:prstGeom>
          <a:noFill/>
        </p:spPr>
        <p:txBody>
          <a:bodyPr wrap="square" lIns="0" rIns="0" tIns="0" bIns="0" anchor="t">
            <a:spAutoFit/>
          </a:bodyPr>
          <a:lstStyle/>
          <a:p>
            <a:pPr algn="ctr"/>
            <a:r>
              <a:rPr b="0" sz="975" i="0" u="none">
                <a:solidFill>
                  <a:srgbClr val="34D399"/>
                </a:solidFill>
                <a:latin typeface="Plus Jakarta Sans Black"/>
              </a:rPr>
              <a:t>3. IPC Utilities</a:t>
            </a:r>
          </a:p>
        </p:txBody>
      </p:sp>
      <p:sp>
        <p:nvSpPr>
          <p:cNvPr id="31" name="TextBox 30"/>
          <p:cNvSpPr txBox="1"/>
          <p:nvPr/>
        </p:nvSpPr>
        <p:spPr>
          <a:xfrm>
            <a:off x="8666112" y="3752850"/>
            <a:ext cx="1323975" cy="123825"/>
          </a:xfrm>
          <a:prstGeom prst="rect">
            <a:avLst/>
          </a:prstGeom>
          <a:noFill/>
        </p:spPr>
        <p:txBody>
          <a:bodyPr wrap="square" lIns="0" rIns="0" tIns="0" bIns="0" anchor="t">
            <a:spAutoFit/>
          </a:bodyPr>
          <a:lstStyle/>
          <a:p>
            <a:pPr algn="ctr"/>
            <a:r>
              <a:rPr b="0" sz="825" i="0" u="none">
                <a:solidFill>
                  <a:srgbClr val="34D399"/>
                </a:solidFill>
                <a:latin typeface="Plus Jakarta Sans SemiBold"/>
              </a:rPr>
              <a:t>(CO-3: Inter-Proc Comm)</a:t>
            </a:r>
          </a:p>
        </p:txBody>
      </p:sp>
      <p:sp>
        <p:nvSpPr>
          <p:cNvPr id="32" name="TextBox 31"/>
          <p:cNvSpPr txBox="1"/>
          <p:nvPr/>
        </p:nvSpPr>
        <p:spPr>
          <a:xfrm>
            <a:off x="2268438" y="4191000"/>
            <a:ext cx="1190625" cy="152400"/>
          </a:xfrm>
          <a:prstGeom prst="rect">
            <a:avLst/>
          </a:prstGeom>
          <a:noFill/>
        </p:spPr>
        <p:txBody>
          <a:bodyPr wrap="square" lIns="0" rIns="0" tIns="0" bIns="0" anchor="t">
            <a:spAutoFit/>
          </a:bodyPr>
          <a:lstStyle/>
          <a:p>
            <a:pPr algn="ctr"/>
            <a:r>
              <a:rPr b="0" sz="975" i="0" u="none">
                <a:solidFill>
                  <a:srgbClr val="34D399"/>
                </a:solidFill>
                <a:latin typeface="Plus Jakarta Sans Black"/>
              </a:rPr>
              <a:t>4. Memory Analysis</a:t>
            </a:r>
          </a:p>
        </p:txBody>
      </p:sp>
      <p:sp>
        <p:nvSpPr>
          <p:cNvPr id="33" name="TextBox 32"/>
          <p:cNvSpPr txBox="1"/>
          <p:nvPr/>
        </p:nvSpPr>
        <p:spPr>
          <a:xfrm>
            <a:off x="2277963" y="4362450"/>
            <a:ext cx="1171575" cy="123825"/>
          </a:xfrm>
          <a:prstGeom prst="rect">
            <a:avLst/>
          </a:prstGeom>
          <a:noFill/>
        </p:spPr>
        <p:txBody>
          <a:bodyPr wrap="square" lIns="0" rIns="0" tIns="0" bIns="0" anchor="t">
            <a:spAutoFit/>
          </a:bodyPr>
          <a:lstStyle/>
          <a:p>
            <a:pPr algn="ctr"/>
            <a:r>
              <a:rPr b="0" sz="825" i="0" u="none">
                <a:solidFill>
                  <a:srgbClr val="34D399"/>
                </a:solidFill>
                <a:latin typeface="Plus Jakarta Sans SemiBold"/>
              </a:rPr>
              <a:t>(CO-4: Memory Mgmt)</a:t>
            </a:r>
          </a:p>
        </p:txBody>
      </p:sp>
      <p:sp>
        <p:nvSpPr>
          <p:cNvPr id="34" name="TextBox 33"/>
          <p:cNvSpPr txBox="1"/>
          <p:nvPr/>
        </p:nvSpPr>
        <p:spPr>
          <a:xfrm>
            <a:off x="5681513" y="4191000"/>
            <a:ext cx="828675" cy="152400"/>
          </a:xfrm>
          <a:prstGeom prst="rect">
            <a:avLst/>
          </a:prstGeom>
          <a:noFill/>
        </p:spPr>
        <p:txBody>
          <a:bodyPr wrap="square" lIns="0" rIns="0" tIns="0" bIns="0" anchor="t">
            <a:spAutoFit/>
          </a:bodyPr>
          <a:lstStyle/>
          <a:p>
            <a:pPr algn="ctr"/>
            <a:r>
              <a:rPr b="0" sz="975" i="0" u="none">
                <a:solidFill>
                  <a:srgbClr val="34D399"/>
                </a:solidFill>
                <a:latin typeface="Plus Jakarta Sans Black"/>
              </a:rPr>
              <a:t>5. File System</a:t>
            </a:r>
          </a:p>
        </p:txBody>
      </p:sp>
      <p:sp>
        <p:nvSpPr>
          <p:cNvPr id="35" name="TextBox 34"/>
          <p:cNvSpPr txBox="1"/>
          <p:nvPr/>
        </p:nvSpPr>
        <p:spPr>
          <a:xfrm>
            <a:off x="5533876" y="4362450"/>
            <a:ext cx="1123950" cy="123825"/>
          </a:xfrm>
          <a:prstGeom prst="rect">
            <a:avLst/>
          </a:prstGeom>
          <a:noFill/>
        </p:spPr>
        <p:txBody>
          <a:bodyPr wrap="square" lIns="0" rIns="0" tIns="0" bIns="0" anchor="t">
            <a:spAutoFit/>
          </a:bodyPr>
          <a:lstStyle/>
          <a:p>
            <a:pPr algn="ctr"/>
            <a:r>
              <a:rPr b="0" sz="825" i="0" u="none">
                <a:solidFill>
                  <a:srgbClr val="34D399"/>
                </a:solidFill>
                <a:latin typeface="Plus Jakarta Sans SemiBold"/>
              </a:rPr>
              <a:t>(CO-5: Storage / VFS)</a:t>
            </a:r>
          </a:p>
        </p:txBody>
      </p:sp>
      <p:sp>
        <p:nvSpPr>
          <p:cNvPr id="36" name="TextBox 35"/>
          <p:cNvSpPr txBox="1"/>
          <p:nvPr/>
        </p:nvSpPr>
        <p:spPr>
          <a:xfrm>
            <a:off x="8856612" y="4191000"/>
            <a:ext cx="942975" cy="152400"/>
          </a:xfrm>
          <a:prstGeom prst="rect">
            <a:avLst/>
          </a:prstGeom>
          <a:noFill/>
        </p:spPr>
        <p:txBody>
          <a:bodyPr wrap="square" lIns="0" rIns="0" tIns="0" bIns="0" anchor="t">
            <a:spAutoFit/>
          </a:bodyPr>
          <a:lstStyle/>
          <a:p>
            <a:pPr algn="ctr"/>
            <a:r>
              <a:rPr b="0" sz="975" i="0" u="none">
                <a:solidFill>
                  <a:srgbClr val="34D399"/>
                </a:solidFill>
                <a:latin typeface="Plus Jakarta Sans Black"/>
              </a:rPr>
              <a:t>6. Concurrency</a:t>
            </a:r>
          </a:p>
        </p:txBody>
      </p:sp>
      <p:sp>
        <p:nvSpPr>
          <p:cNvPr id="37" name="TextBox 36"/>
          <p:cNvSpPr txBox="1"/>
          <p:nvPr/>
        </p:nvSpPr>
        <p:spPr>
          <a:xfrm>
            <a:off x="8723262" y="4362450"/>
            <a:ext cx="1209675" cy="123825"/>
          </a:xfrm>
          <a:prstGeom prst="rect">
            <a:avLst/>
          </a:prstGeom>
          <a:noFill/>
        </p:spPr>
        <p:txBody>
          <a:bodyPr wrap="square" lIns="0" rIns="0" tIns="0" bIns="0" anchor="t">
            <a:spAutoFit/>
          </a:bodyPr>
          <a:lstStyle/>
          <a:p>
            <a:pPr algn="ctr"/>
            <a:r>
              <a:rPr b="0" sz="825" i="0" u="none">
                <a:solidFill>
                  <a:srgbClr val="34D399"/>
                </a:solidFill>
                <a:latin typeface="Plus Jakarta Sans SemiBold"/>
              </a:rPr>
              <a:t>(CO-6: Threads &amp; Sync)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533400" y="1352550"/>
            <a:ext cx="5443537" cy="4762500"/>
          </a:xfrm>
          <a:prstGeom prst="rect">
            <a:avLst/>
          </a:prstGeom>
        </p:spPr>
      </p:pic>
      <p:pic>
        <p:nvPicPr>
          <p:cNvPr id="5" name="Picture 4" descr="image.png"/>
          <p:cNvPicPr>
            <a:picLocks noChangeAspect="1"/>
          </p:cNvPicPr>
          <p:nvPr/>
        </p:nvPicPr>
        <p:blipFill>
          <a:blip r:embed="rId5"/>
          <a:stretch>
            <a:fillRect/>
          </a:stretch>
        </p:blipFill>
        <p:spPr>
          <a:xfrm>
            <a:off x="6215062" y="2061418"/>
            <a:ext cx="5443537" cy="1200001"/>
          </a:xfrm>
          <a:prstGeom prst="rect">
            <a:avLst/>
          </a:prstGeom>
        </p:spPr>
      </p:pic>
      <p:pic>
        <p:nvPicPr>
          <p:cNvPr id="6" name="Picture 5" descr="image.png"/>
          <p:cNvPicPr>
            <a:picLocks noChangeAspect="1"/>
          </p:cNvPicPr>
          <p:nvPr/>
        </p:nvPicPr>
        <p:blipFill>
          <a:blip r:embed="rId6"/>
          <a:stretch>
            <a:fillRect/>
          </a:stretch>
        </p:blipFill>
        <p:spPr>
          <a:xfrm>
            <a:off x="6215062" y="3375719"/>
            <a:ext cx="5443537" cy="1001910"/>
          </a:xfrm>
          <a:prstGeom prst="rect">
            <a:avLst/>
          </a:prstGeom>
        </p:spPr>
      </p:pic>
      <p:pic>
        <p:nvPicPr>
          <p:cNvPr id="7" name="Picture 6" descr="image.png"/>
          <p:cNvPicPr>
            <a:picLocks noChangeAspect="1"/>
          </p:cNvPicPr>
          <p:nvPr/>
        </p:nvPicPr>
        <p:blipFill>
          <a:blip r:embed="rId7"/>
          <a:stretch>
            <a:fillRect/>
          </a:stretch>
        </p:blipFill>
        <p:spPr>
          <a:xfrm>
            <a:off x="6215062" y="4491930"/>
            <a:ext cx="5443537" cy="1200001"/>
          </a:xfrm>
          <a:prstGeom prst="rect">
            <a:avLst/>
          </a:prstGeom>
        </p:spPr>
      </p:pic>
      <p:pic>
        <p:nvPicPr>
          <p:cNvPr id="8" name="Picture 7" descr="image.png"/>
          <p:cNvPicPr>
            <a:picLocks noChangeAspect="1"/>
          </p:cNvPicPr>
          <p:nvPr/>
        </p:nvPicPr>
        <p:blipFill>
          <a:blip r:embed="rId8"/>
          <a:stretch>
            <a:fillRect/>
          </a:stretch>
        </p:blipFill>
        <p:spPr>
          <a:xfrm>
            <a:off x="1222474" y="2133600"/>
            <a:ext cx="4065240" cy="323850"/>
          </a:xfrm>
          <a:prstGeom prst="rect">
            <a:avLst/>
          </a:prstGeom>
        </p:spPr>
      </p:pic>
      <p:pic>
        <p:nvPicPr>
          <p:cNvPr id="9" name="Picture 8" descr="image.png"/>
          <p:cNvPicPr>
            <a:picLocks noChangeAspect="1"/>
          </p:cNvPicPr>
          <p:nvPr/>
        </p:nvPicPr>
        <p:blipFill>
          <a:blip r:embed="rId9"/>
          <a:stretch>
            <a:fillRect/>
          </a:stretch>
        </p:blipFill>
        <p:spPr>
          <a:xfrm>
            <a:off x="1222474" y="2676525"/>
            <a:ext cx="4065240" cy="323850"/>
          </a:xfrm>
          <a:prstGeom prst="rect">
            <a:avLst/>
          </a:prstGeom>
        </p:spPr>
      </p:pic>
      <p:pic>
        <p:nvPicPr>
          <p:cNvPr id="10" name="Picture 9" descr="image.png"/>
          <p:cNvPicPr>
            <a:picLocks noChangeAspect="1"/>
          </p:cNvPicPr>
          <p:nvPr/>
        </p:nvPicPr>
        <p:blipFill>
          <a:blip r:embed="rId10"/>
          <a:stretch>
            <a:fillRect/>
          </a:stretch>
        </p:blipFill>
        <p:spPr>
          <a:xfrm>
            <a:off x="1222474" y="3219450"/>
            <a:ext cx="4065240" cy="323850"/>
          </a:xfrm>
          <a:prstGeom prst="rect">
            <a:avLst/>
          </a:prstGeom>
        </p:spPr>
      </p:pic>
      <p:pic>
        <p:nvPicPr>
          <p:cNvPr id="11" name="Picture 10" descr="image.png"/>
          <p:cNvPicPr>
            <a:picLocks noChangeAspect="1"/>
          </p:cNvPicPr>
          <p:nvPr/>
        </p:nvPicPr>
        <p:blipFill>
          <a:blip r:embed="rId11"/>
          <a:stretch>
            <a:fillRect/>
          </a:stretch>
        </p:blipFill>
        <p:spPr>
          <a:xfrm>
            <a:off x="1222474" y="3762375"/>
            <a:ext cx="4065240" cy="323850"/>
          </a:xfrm>
          <a:prstGeom prst="rect">
            <a:avLst/>
          </a:prstGeom>
        </p:spPr>
      </p:pic>
      <p:pic>
        <p:nvPicPr>
          <p:cNvPr id="12" name="Picture 11" descr="image.png"/>
          <p:cNvPicPr>
            <a:picLocks noChangeAspect="1"/>
          </p:cNvPicPr>
          <p:nvPr/>
        </p:nvPicPr>
        <p:blipFill>
          <a:blip r:embed="rId12"/>
          <a:stretch>
            <a:fillRect/>
          </a:stretch>
        </p:blipFill>
        <p:spPr>
          <a:xfrm>
            <a:off x="1222474" y="4305300"/>
            <a:ext cx="4065240" cy="323850"/>
          </a:xfrm>
          <a:prstGeom prst="rect">
            <a:avLst/>
          </a:prstGeom>
        </p:spPr>
      </p:pic>
      <p:pic>
        <p:nvPicPr>
          <p:cNvPr id="13" name="Picture 12" descr="image.png"/>
          <p:cNvPicPr>
            <a:picLocks noChangeAspect="1"/>
          </p:cNvPicPr>
          <p:nvPr/>
        </p:nvPicPr>
        <p:blipFill>
          <a:blip r:embed="rId13"/>
          <a:stretch>
            <a:fillRect/>
          </a:stretch>
        </p:blipFill>
        <p:spPr>
          <a:xfrm>
            <a:off x="1222474" y="4848225"/>
            <a:ext cx="4065240" cy="323850"/>
          </a:xfrm>
          <a:prstGeom prst="rect">
            <a:avLst/>
          </a:prstGeom>
        </p:spPr>
      </p:pic>
      <p:pic>
        <p:nvPicPr>
          <p:cNvPr id="14" name="Picture 13" descr="image.png"/>
          <p:cNvPicPr>
            <a:picLocks noChangeAspect="1"/>
          </p:cNvPicPr>
          <p:nvPr/>
        </p:nvPicPr>
        <p:blipFill>
          <a:blip r:embed="rId14"/>
          <a:stretch>
            <a:fillRect/>
          </a:stretch>
        </p:blipFill>
        <p:spPr>
          <a:xfrm>
            <a:off x="1222474" y="5391150"/>
            <a:ext cx="4065240" cy="323850"/>
          </a:xfrm>
          <a:prstGeom prst="rect">
            <a:avLst/>
          </a:prstGeom>
        </p:spPr>
      </p:pic>
      <p:sp>
        <p:nvSpPr>
          <p:cNvPr id="15" name="TextBox 14"/>
          <p:cNvSpPr txBox="1"/>
          <p:nvPr/>
        </p:nvSpPr>
        <p:spPr>
          <a:xfrm>
            <a:off x="533400" y="438150"/>
            <a:ext cx="3333750"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EXECUTION FLOW</a:t>
            </a:r>
          </a:p>
        </p:txBody>
      </p:sp>
      <p:pic>
        <p:nvPicPr>
          <p:cNvPr id="16" name="Picture 15" descr="image.png"/>
          <p:cNvPicPr>
            <a:picLocks noChangeAspect="1"/>
          </p:cNvPicPr>
          <p:nvPr/>
        </p:nvPicPr>
        <p:blipFill>
          <a:blip r:embed="rId15"/>
          <a:stretch>
            <a:fillRect/>
          </a:stretch>
        </p:blipFill>
        <p:spPr>
          <a:xfrm>
            <a:off x="10801350" y="742950"/>
            <a:ext cx="857250" cy="276225"/>
          </a:xfrm>
          <a:prstGeom prst="rect">
            <a:avLst/>
          </a:prstGeom>
        </p:spPr>
      </p:pic>
      <p:sp>
        <p:nvSpPr>
          <p:cNvPr id="17" name="TextBox 16"/>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8" name="TextBox 17"/>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06 / 09</a:t>
            </a:r>
          </a:p>
        </p:txBody>
      </p:sp>
      <p:sp>
        <p:nvSpPr>
          <p:cNvPr id="19" name="TextBox 18"/>
          <p:cNvSpPr txBox="1"/>
          <p:nvPr/>
        </p:nvSpPr>
        <p:spPr>
          <a:xfrm>
            <a:off x="533400" y="638175"/>
            <a:ext cx="3500437" cy="381000"/>
          </a:xfrm>
          <a:prstGeom prst="rect">
            <a:avLst/>
          </a:prstGeom>
          <a:noFill/>
        </p:spPr>
        <p:txBody>
          <a:bodyPr wrap="square" lIns="0" rIns="0" tIns="0" bIns="0" anchor="t">
            <a:spAutoFit/>
          </a:bodyPr>
          <a:lstStyle/>
          <a:p>
            <a:pPr algn="l"/>
            <a:r>
              <a:rPr b="1" sz="2400" i="0" u="none">
                <a:solidFill>
                  <a:srgbClr val="F9FAFB"/>
                </a:solidFill>
                <a:latin typeface="Plus Jakarta Sans"/>
              </a:rPr>
              <a:t>How the System Works</a:t>
            </a:r>
          </a:p>
        </p:txBody>
      </p:sp>
      <p:sp>
        <p:nvSpPr>
          <p:cNvPr id="20" name="TextBox 19"/>
          <p:cNvSpPr txBox="1"/>
          <p:nvPr/>
        </p:nvSpPr>
        <p:spPr>
          <a:xfrm>
            <a:off x="714375" y="1752600"/>
            <a:ext cx="5081587" cy="171450"/>
          </a:xfrm>
          <a:prstGeom prst="rect">
            <a:avLst/>
          </a:prstGeom>
          <a:noFill/>
        </p:spPr>
        <p:txBody>
          <a:bodyPr wrap="square" lIns="0" rIns="0" tIns="0" bIns="0" anchor="t">
            <a:spAutoFit/>
          </a:bodyPr>
          <a:lstStyle/>
          <a:p>
            <a:pPr algn="ctr"/>
            <a:r>
              <a:rPr b="1" sz="1050" i="0" u="none">
                <a:solidFill>
                  <a:srgbClr val="10B981"/>
                </a:solidFill>
                <a:latin typeface="Plus Jakarta Sans"/>
              </a:rPr>
              <a:t>EXECUTION WORKFLOW</a:t>
            </a:r>
          </a:p>
        </p:txBody>
      </p:sp>
      <p:sp>
        <p:nvSpPr>
          <p:cNvPr id="21" name="TextBox 20"/>
          <p:cNvSpPr txBox="1"/>
          <p:nvPr/>
        </p:nvSpPr>
        <p:spPr>
          <a:xfrm>
            <a:off x="6215062" y="1775668"/>
            <a:ext cx="5443537" cy="171450"/>
          </a:xfrm>
          <a:prstGeom prst="rect">
            <a:avLst/>
          </a:prstGeom>
          <a:noFill/>
        </p:spPr>
        <p:txBody>
          <a:bodyPr wrap="square" lIns="0" rIns="0" tIns="0" bIns="0" anchor="t">
            <a:spAutoFit/>
          </a:bodyPr>
          <a:lstStyle/>
          <a:p>
            <a:pPr algn="l"/>
            <a:r>
              <a:rPr b="1" sz="1050" i="0" u="none">
                <a:solidFill>
                  <a:srgbClr val="38BDF8"/>
                </a:solidFill>
                <a:latin typeface="Plus Jakarta Sans"/>
              </a:rPr>
              <a:t>CONCEPTUAL UI OUTPUT EXAMPLES</a:t>
            </a:r>
          </a:p>
        </p:txBody>
      </p:sp>
      <p:pic>
        <p:nvPicPr>
          <p:cNvPr id="22" name="Picture 21" descr="image.png"/>
          <p:cNvPicPr>
            <a:picLocks noChangeAspect="1"/>
          </p:cNvPicPr>
          <p:nvPr/>
        </p:nvPicPr>
        <p:blipFill>
          <a:blip r:embed="rId16"/>
          <a:stretch>
            <a:fillRect/>
          </a:stretch>
        </p:blipFill>
        <p:spPr>
          <a:xfrm>
            <a:off x="3217068" y="2514600"/>
            <a:ext cx="76200" cy="104775"/>
          </a:xfrm>
          <a:prstGeom prst="rect">
            <a:avLst/>
          </a:prstGeom>
        </p:spPr>
      </p:pic>
      <p:pic>
        <p:nvPicPr>
          <p:cNvPr id="23" name="Picture 22" descr="image.png"/>
          <p:cNvPicPr>
            <a:picLocks noChangeAspect="1"/>
          </p:cNvPicPr>
          <p:nvPr/>
        </p:nvPicPr>
        <p:blipFill>
          <a:blip r:embed="rId16"/>
          <a:stretch>
            <a:fillRect/>
          </a:stretch>
        </p:blipFill>
        <p:spPr>
          <a:xfrm>
            <a:off x="3217068" y="3057525"/>
            <a:ext cx="76200" cy="104775"/>
          </a:xfrm>
          <a:prstGeom prst="rect">
            <a:avLst/>
          </a:prstGeom>
        </p:spPr>
      </p:pic>
      <p:pic>
        <p:nvPicPr>
          <p:cNvPr id="24" name="Picture 23" descr="image.png"/>
          <p:cNvPicPr>
            <a:picLocks noChangeAspect="1"/>
          </p:cNvPicPr>
          <p:nvPr/>
        </p:nvPicPr>
        <p:blipFill>
          <a:blip r:embed="rId16"/>
          <a:stretch>
            <a:fillRect/>
          </a:stretch>
        </p:blipFill>
        <p:spPr>
          <a:xfrm>
            <a:off x="3217068" y="3600450"/>
            <a:ext cx="76200" cy="104775"/>
          </a:xfrm>
          <a:prstGeom prst="rect">
            <a:avLst/>
          </a:prstGeom>
        </p:spPr>
      </p:pic>
      <p:pic>
        <p:nvPicPr>
          <p:cNvPr id="25" name="Picture 24" descr="image.png"/>
          <p:cNvPicPr>
            <a:picLocks noChangeAspect="1"/>
          </p:cNvPicPr>
          <p:nvPr/>
        </p:nvPicPr>
        <p:blipFill>
          <a:blip r:embed="rId16"/>
          <a:stretch>
            <a:fillRect/>
          </a:stretch>
        </p:blipFill>
        <p:spPr>
          <a:xfrm>
            <a:off x="3217068" y="4143375"/>
            <a:ext cx="76200" cy="104775"/>
          </a:xfrm>
          <a:prstGeom prst="rect">
            <a:avLst/>
          </a:prstGeom>
        </p:spPr>
      </p:pic>
      <p:pic>
        <p:nvPicPr>
          <p:cNvPr id="26" name="Picture 25" descr="image.png"/>
          <p:cNvPicPr>
            <a:picLocks noChangeAspect="1"/>
          </p:cNvPicPr>
          <p:nvPr/>
        </p:nvPicPr>
        <p:blipFill>
          <a:blip r:embed="rId16"/>
          <a:stretch>
            <a:fillRect/>
          </a:stretch>
        </p:blipFill>
        <p:spPr>
          <a:xfrm>
            <a:off x="3217068" y="4686300"/>
            <a:ext cx="76200" cy="104775"/>
          </a:xfrm>
          <a:prstGeom prst="rect">
            <a:avLst/>
          </a:prstGeom>
        </p:spPr>
      </p:pic>
      <p:pic>
        <p:nvPicPr>
          <p:cNvPr id="27" name="Picture 26" descr="image.png"/>
          <p:cNvPicPr>
            <a:picLocks noChangeAspect="1"/>
          </p:cNvPicPr>
          <p:nvPr/>
        </p:nvPicPr>
        <p:blipFill>
          <a:blip r:embed="rId16"/>
          <a:stretch>
            <a:fillRect/>
          </a:stretch>
        </p:blipFill>
        <p:spPr>
          <a:xfrm>
            <a:off x="3217068" y="5229225"/>
            <a:ext cx="76200" cy="104775"/>
          </a:xfrm>
          <a:prstGeom prst="rect">
            <a:avLst/>
          </a:prstGeom>
        </p:spPr>
      </p:pic>
      <p:sp>
        <p:nvSpPr>
          <p:cNvPr id="28" name="TextBox 27"/>
          <p:cNvSpPr txBox="1"/>
          <p:nvPr/>
        </p:nvSpPr>
        <p:spPr>
          <a:xfrm>
            <a:off x="6357937" y="2166193"/>
            <a:ext cx="5157787" cy="198090"/>
          </a:xfrm>
          <a:prstGeom prst="rect">
            <a:avLst/>
          </a:prstGeom>
          <a:noFill/>
        </p:spPr>
        <p:txBody>
          <a:bodyPr wrap="square" lIns="0" rIns="0" tIns="0" bIns="0" anchor="t">
            <a:spAutoFit/>
          </a:bodyPr>
          <a:lstStyle/>
          <a:p>
            <a:pPr algn="l">
              <a:lnSpc>
                <a:spcPts val="1560"/>
              </a:lnSpc>
            </a:pPr>
            <a:r>
              <a:rPr b="0" sz="975" i="0" u="none">
                <a:solidFill>
                  <a:srgbClr val="38BDF8"/>
                </a:solidFill>
                <a:latin typeface="JetBrains Mono SemiBold"/>
              </a:rPr>
              <a:t>UnixSuite &gt;</a:t>
            </a:r>
            <a:r>
              <a:rPr b="0" sz="975" i="0" u="none">
                <a:solidFill>
                  <a:srgbClr val="E5E7EB"/>
                </a:solidFill>
                <a:latin typeface="JetBrains Mono"/>
              </a:rPr>
              <a:t> </a:t>
            </a:r>
            <a:r>
              <a:rPr b="0" sz="975" i="0" u="none">
                <a:solidFill>
                  <a:srgbClr val="F3F4F6"/>
                </a:solidFill>
                <a:latin typeface="JetBrains Mono"/>
              </a:rPr>
              <a:t>system-info</a:t>
            </a:r>
          </a:p>
        </p:txBody>
      </p:sp>
      <p:sp>
        <p:nvSpPr>
          <p:cNvPr id="29" name="TextBox 28"/>
          <p:cNvSpPr txBox="1"/>
          <p:nvPr/>
        </p:nvSpPr>
        <p:spPr>
          <a:xfrm>
            <a:off x="6357937" y="2364283"/>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OS : Ubuntu Linux 22.04 LTS</a:t>
            </a:r>
          </a:p>
        </p:txBody>
      </p:sp>
      <p:sp>
        <p:nvSpPr>
          <p:cNvPr id="30" name="TextBox 29"/>
          <p:cNvSpPr txBox="1"/>
          <p:nvPr/>
        </p:nvSpPr>
        <p:spPr>
          <a:xfrm>
            <a:off x="6357937" y="2562373"/>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CPU : 8 Cores (x86_64)</a:t>
            </a:r>
          </a:p>
        </p:txBody>
      </p:sp>
      <p:sp>
        <p:nvSpPr>
          <p:cNvPr id="31" name="TextBox 30"/>
          <p:cNvSpPr txBox="1"/>
          <p:nvPr/>
        </p:nvSpPr>
        <p:spPr>
          <a:xfrm>
            <a:off x="6357937" y="2760464"/>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RAM : 16 GB Total | 8.2 GB Free</a:t>
            </a:r>
          </a:p>
        </p:txBody>
      </p:sp>
      <p:sp>
        <p:nvSpPr>
          <p:cNvPr id="32" name="TextBox 31"/>
          <p:cNvSpPr txBox="1"/>
          <p:nvPr/>
        </p:nvSpPr>
        <p:spPr>
          <a:xfrm>
            <a:off x="6357937" y="2958554"/>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Kernel : 6.8.0-generic</a:t>
            </a:r>
          </a:p>
        </p:txBody>
      </p:sp>
      <p:sp>
        <p:nvSpPr>
          <p:cNvPr id="33" name="TextBox 32"/>
          <p:cNvSpPr txBox="1"/>
          <p:nvPr/>
        </p:nvSpPr>
        <p:spPr>
          <a:xfrm>
            <a:off x="6357937" y="3480494"/>
            <a:ext cx="5157787" cy="198090"/>
          </a:xfrm>
          <a:prstGeom prst="rect">
            <a:avLst/>
          </a:prstGeom>
          <a:noFill/>
        </p:spPr>
        <p:txBody>
          <a:bodyPr wrap="square" lIns="0" rIns="0" tIns="0" bIns="0" anchor="t">
            <a:spAutoFit/>
          </a:bodyPr>
          <a:lstStyle/>
          <a:p>
            <a:pPr algn="l">
              <a:lnSpc>
                <a:spcPts val="1560"/>
              </a:lnSpc>
            </a:pPr>
            <a:r>
              <a:rPr b="0" sz="975" i="0" u="none">
                <a:solidFill>
                  <a:srgbClr val="38BDF8"/>
                </a:solidFill>
                <a:latin typeface="JetBrains Mono SemiBold"/>
              </a:rPr>
              <a:t>UnixSuite &gt;</a:t>
            </a:r>
            <a:r>
              <a:rPr b="0" sz="975" i="0" u="none">
                <a:solidFill>
                  <a:srgbClr val="E5E7EB"/>
                </a:solidFill>
                <a:latin typeface="JetBrains Mono"/>
              </a:rPr>
              <a:t> </a:t>
            </a:r>
            <a:r>
              <a:rPr b="0" sz="975" i="0" u="none">
                <a:solidFill>
                  <a:srgbClr val="F3F4F6"/>
                </a:solidFill>
                <a:latin typeface="JetBrains Mono"/>
              </a:rPr>
              <a:t>file-info main.c</a:t>
            </a:r>
          </a:p>
        </p:txBody>
      </p:sp>
      <p:sp>
        <p:nvSpPr>
          <p:cNvPr id="34" name="TextBox 33"/>
          <p:cNvSpPr txBox="1"/>
          <p:nvPr/>
        </p:nvSpPr>
        <p:spPr>
          <a:xfrm>
            <a:off x="6357937" y="3678584"/>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Size : 12.4 KB</a:t>
            </a:r>
          </a:p>
        </p:txBody>
      </p:sp>
      <p:sp>
        <p:nvSpPr>
          <p:cNvPr id="35" name="TextBox 34"/>
          <p:cNvSpPr txBox="1"/>
          <p:nvPr/>
        </p:nvSpPr>
        <p:spPr>
          <a:xfrm>
            <a:off x="6357937" y="3876675"/>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Owner : student (1000)</a:t>
            </a:r>
          </a:p>
        </p:txBody>
      </p:sp>
      <p:sp>
        <p:nvSpPr>
          <p:cNvPr id="36" name="TextBox 35"/>
          <p:cNvSpPr txBox="1"/>
          <p:nvPr/>
        </p:nvSpPr>
        <p:spPr>
          <a:xfrm>
            <a:off x="6357937" y="4074765"/>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Permissions : rw-r--r-- (0644)</a:t>
            </a:r>
          </a:p>
        </p:txBody>
      </p:sp>
      <p:sp>
        <p:nvSpPr>
          <p:cNvPr id="37" name="TextBox 36"/>
          <p:cNvSpPr txBox="1"/>
          <p:nvPr/>
        </p:nvSpPr>
        <p:spPr>
          <a:xfrm>
            <a:off x="6357937" y="4596705"/>
            <a:ext cx="5157787" cy="198090"/>
          </a:xfrm>
          <a:prstGeom prst="rect">
            <a:avLst/>
          </a:prstGeom>
          <a:noFill/>
        </p:spPr>
        <p:txBody>
          <a:bodyPr wrap="square" lIns="0" rIns="0" tIns="0" bIns="0" anchor="t">
            <a:spAutoFit/>
          </a:bodyPr>
          <a:lstStyle/>
          <a:p>
            <a:pPr algn="l">
              <a:lnSpc>
                <a:spcPts val="1560"/>
              </a:lnSpc>
            </a:pPr>
            <a:r>
              <a:rPr b="0" sz="975" i="0" u="none">
                <a:solidFill>
                  <a:srgbClr val="38BDF8"/>
                </a:solidFill>
                <a:latin typeface="JetBrains Mono SemiBold"/>
              </a:rPr>
              <a:t>UnixSuite &gt;</a:t>
            </a:r>
            <a:r>
              <a:rPr b="0" sz="975" i="0" u="none">
                <a:solidFill>
                  <a:srgbClr val="E5E7EB"/>
                </a:solidFill>
                <a:latin typeface="JetBrains Mono"/>
              </a:rPr>
              <a:t> </a:t>
            </a:r>
            <a:r>
              <a:rPr b="0" sz="975" i="0" u="none">
                <a:solidFill>
                  <a:srgbClr val="F3F4F6"/>
                </a:solidFill>
                <a:latin typeface="JetBrains Mono"/>
              </a:rPr>
              <a:t>processes</a:t>
            </a:r>
          </a:p>
        </p:txBody>
      </p:sp>
      <p:sp>
        <p:nvSpPr>
          <p:cNvPr id="38" name="TextBox 37"/>
          <p:cNvSpPr txBox="1"/>
          <p:nvPr/>
        </p:nvSpPr>
        <p:spPr>
          <a:xfrm>
            <a:off x="6357937" y="4794795"/>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PID NAME STATUS</a:t>
            </a:r>
          </a:p>
        </p:txBody>
      </p:sp>
      <p:sp>
        <p:nvSpPr>
          <p:cNvPr id="39" name="TextBox 38"/>
          <p:cNvSpPr txBox="1"/>
          <p:nvPr/>
        </p:nvSpPr>
        <p:spPr>
          <a:xfrm>
            <a:off x="6357937" y="4992885"/>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1201 bash RUNNING</a:t>
            </a:r>
          </a:p>
        </p:txBody>
      </p:sp>
      <p:sp>
        <p:nvSpPr>
          <p:cNvPr id="40" name="TextBox 39"/>
          <p:cNvSpPr txBox="1"/>
          <p:nvPr/>
        </p:nvSpPr>
        <p:spPr>
          <a:xfrm>
            <a:off x="6357937" y="5190976"/>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1245 gcc SLEEPING</a:t>
            </a:r>
          </a:p>
        </p:txBody>
      </p:sp>
      <p:sp>
        <p:nvSpPr>
          <p:cNvPr id="41" name="TextBox 40"/>
          <p:cNvSpPr txBox="1"/>
          <p:nvPr/>
        </p:nvSpPr>
        <p:spPr>
          <a:xfrm>
            <a:off x="6357937" y="5389066"/>
            <a:ext cx="5157787" cy="198090"/>
          </a:xfrm>
          <a:prstGeom prst="rect">
            <a:avLst/>
          </a:prstGeom>
          <a:noFill/>
        </p:spPr>
        <p:txBody>
          <a:bodyPr wrap="square" lIns="0" rIns="0" tIns="0" bIns="0" anchor="t">
            <a:spAutoFit/>
          </a:bodyPr>
          <a:lstStyle/>
          <a:p>
            <a:pPr algn="l">
              <a:lnSpc>
                <a:spcPts val="1560"/>
              </a:lnSpc>
            </a:pPr>
            <a:r>
              <a:rPr b="0" sz="975" i="0" u="none">
                <a:solidFill>
                  <a:srgbClr val="9CA3AF"/>
                </a:solidFill>
                <a:latin typeface="JetBrains Mono"/>
              </a:rPr>
              <a:t>1290 code RUNNING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533400" y="4919662"/>
            <a:ext cx="11125200" cy="571500"/>
          </a:xfrm>
          <a:prstGeom prst="rect">
            <a:avLst/>
          </a:prstGeom>
        </p:spPr>
      </p:pic>
      <p:pic>
        <p:nvPicPr>
          <p:cNvPr id="5" name="Picture 4" descr="image.png"/>
          <p:cNvPicPr>
            <a:picLocks noChangeAspect="1"/>
          </p:cNvPicPr>
          <p:nvPr/>
        </p:nvPicPr>
        <p:blipFill>
          <a:blip r:embed="rId5"/>
          <a:stretch>
            <a:fillRect/>
          </a:stretch>
        </p:blipFill>
        <p:spPr>
          <a:xfrm>
            <a:off x="533400" y="1976437"/>
            <a:ext cx="3581400" cy="1319212"/>
          </a:xfrm>
          <a:prstGeom prst="rect">
            <a:avLst/>
          </a:prstGeom>
        </p:spPr>
      </p:pic>
      <p:pic>
        <p:nvPicPr>
          <p:cNvPr id="6" name="Picture 5" descr="image.png"/>
          <p:cNvPicPr>
            <a:picLocks noChangeAspect="1"/>
          </p:cNvPicPr>
          <p:nvPr/>
        </p:nvPicPr>
        <p:blipFill>
          <a:blip r:embed="rId6"/>
          <a:stretch>
            <a:fillRect/>
          </a:stretch>
        </p:blipFill>
        <p:spPr>
          <a:xfrm>
            <a:off x="4305300" y="1976437"/>
            <a:ext cx="3581400" cy="1319212"/>
          </a:xfrm>
          <a:prstGeom prst="rect">
            <a:avLst/>
          </a:prstGeom>
        </p:spPr>
      </p:pic>
      <p:pic>
        <p:nvPicPr>
          <p:cNvPr id="7" name="Picture 6" descr="image.png"/>
          <p:cNvPicPr>
            <a:picLocks noChangeAspect="1"/>
          </p:cNvPicPr>
          <p:nvPr/>
        </p:nvPicPr>
        <p:blipFill>
          <a:blip r:embed="rId7"/>
          <a:stretch>
            <a:fillRect/>
          </a:stretch>
        </p:blipFill>
        <p:spPr>
          <a:xfrm>
            <a:off x="8077200" y="1976437"/>
            <a:ext cx="3581400" cy="1319212"/>
          </a:xfrm>
          <a:prstGeom prst="rect">
            <a:avLst/>
          </a:prstGeom>
        </p:spPr>
      </p:pic>
      <p:pic>
        <p:nvPicPr>
          <p:cNvPr id="8" name="Picture 7" descr="image.png"/>
          <p:cNvPicPr>
            <a:picLocks noChangeAspect="1"/>
          </p:cNvPicPr>
          <p:nvPr/>
        </p:nvPicPr>
        <p:blipFill>
          <a:blip r:embed="rId8"/>
          <a:stretch>
            <a:fillRect/>
          </a:stretch>
        </p:blipFill>
        <p:spPr>
          <a:xfrm>
            <a:off x="533400" y="3448050"/>
            <a:ext cx="3581400" cy="1319212"/>
          </a:xfrm>
          <a:prstGeom prst="rect">
            <a:avLst/>
          </a:prstGeom>
        </p:spPr>
      </p:pic>
      <p:pic>
        <p:nvPicPr>
          <p:cNvPr id="9" name="Picture 8" descr="image.png"/>
          <p:cNvPicPr>
            <a:picLocks noChangeAspect="1"/>
          </p:cNvPicPr>
          <p:nvPr/>
        </p:nvPicPr>
        <p:blipFill>
          <a:blip r:embed="rId9"/>
          <a:stretch>
            <a:fillRect/>
          </a:stretch>
        </p:blipFill>
        <p:spPr>
          <a:xfrm>
            <a:off x="4305300" y="3448050"/>
            <a:ext cx="3581400" cy="1319212"/>
          </a:xfrm>
          <a:prstGeom prst="rect">
            <a:avLst/>
          </a:prstGeom>
        </p:spPr>
      </p:pic>
      <p:pic>
        <p:nvPicPr>
          <p:cNvPr id="10" name="Picture 9" descr="image.png"/>
          <p:cNvPicPr>
            <a:picLocks noChangeAspect="1"/>
          </p:cNvPicPr>
          <p:nvPr/>
        </p:nvPicPr>
        <p:blipFill>
          <a:blip r:embed="rId10"/>
          <a:stretch>
            <a:fillRect/>
          </a:stretch>
        </p:blipFill>
        <p:spPr>
          <a:xfrm>
            <a:off x="8077200" y="3448050"/>
            <a:ext cx="3581400" cy="1319212"/>
          </a:xfrm>
          <a:prstGeom prst="rect">
            <a:avLst/>
          </a:prstGeom>
        </p:spPr>
      </p:pic>
      <p:pic>
        <p:nvPicPr>
          <p:cNvPr id="11" name="Picture 10" descr="image.png"/>
          <p:cNvPicPr>
            <a:picLocks noChangeAspect="1"/>
          </p:cNvPicPr>
          <p:nvPr/>
        </p:nvPicPr>
        <p:blipFill>
          <a:blip r:embed="rId11"/>
          <a:stretch>
            <a:fillRect/>
          </a:stretch>
        </p:blipFill>
        <p:spPr>
          <a:xfrm>
            <a:off x="733425" y="5043487"/>
            <a:ext cx="1908869" cy="323850"/>
          </a:xfrm>
          <a:prstGeom prst="rect">
            <a:avLst/>
          </a:prstGeom>
        </p:spPr>
      </p:pic>
      <p:pic>
        <p:nvPicPr>
          <p:cNvPr id="12" name="Picture 11" descr="image.png"/>
          <p:cNvPicPr>
            <a:picLocks noChangeAspect="1"/>
          </p:cNvPicPr>
          <p:nvPr/>
        </p:nvPicPr>
        <p:blipFill>
          <a:blip r:embed="rId12"/>
          <a:stretch>
            <a:fillRect/>
          </a:stretch>
        </p:blipFill>
        <p:spPr>
          <a:xfrm>
            <a:off x="2937569" y="5043487"/>
            <a:ext cx="1908869" cy="323850"/>
          </a:xfrm>
          <a:prstGeom prst="rect">
            <a:avLst/>
          </a:prstGeom>
        </p:spPr>
      </p:pic>
      <p:pic>
        <p:nvPicPr>
          <p:cNvPr id="13" name="Picture 12" descr="image.png"/>
          <p:cNvPicPr>
            <a:picLocks noChangeAspect="1"/>
          </p:cNvPicPr>
          <p:nvPr/>
        </p:nvPicPr>
        <p:blipFill>
          <a:blip r:embed="rId13"/>
          <a:stretch>
            <a:fillRect/>
          </a:stretch>
        </p:blipFill>
        <p:spPr>
          <a:xfrm>
            <a:off x="5141714" y="5043487"/>
            <a:ext cx="1908869" cy="323850"/>
          </a:xfrm>
          <a:prstGeom prst="rect">
            <a:avLst/>
          </a:prstGeom>
        </p:spPr>
      </p:pic>
      <p:pic>
        <p:nvPicPr>
          <p:cNvPr id="14" name="Picture 13" descr="image.png"/>
          <p:cNvPicPr>
            <a:picLocks noChangeAspect="1"/>
          </p:cNvPicPr>
          <p:nvPr/>
        </p:nvPicPr>
        <p:blipFill>
          <a:blip r:embed="rId14"/>
          <a:stretch>
            <a:fillRect/>
          </a:stretch>
        </p:blipFill>
        <p:spPr>
          <a:xfrm>
            <a:off x="7345858" y="5043487"/>
            <a:ext cx="1908869" cy="323850"/>
          </a:xfrm>
          <a:prstGeom prst="rect">
            <a:avLst/>
          </a:prstGeom>
        </p:spPr>
      </p:pic>
      <p:pic>
        <p:nvPicPr>
          <p:cNvPr id="15" name="Picture 14" descr="image.png"/>
          <p:cNvPicPr>
            <a:picLocks noChangeAspect="1"/>
          </p:cNvPicPr>
          <p:nvPr/>
        </p:nvPicPr>
        <p:blipFill>
          <a:blip r:embed="rId15"/>
          <a:stretch>
            <a:fillRect/>
          </a:stretch>
        </p:blipFill>
        <p:spPr>
          <a:xfrm>
            <a:off x="9550003" y="5043487"/>
            <a:ext cx="1908869" cy="323850"/>
          </a:xfrm>
          <a:prstGeom prst="rect">
            <a:avLst/>
          </a:prstGeom>
        </p:spPr>
      </p:pic>
      <p:sp>
        <p:nvSpPr>
          <p:cNvPr id="16" name="TextBox 15"/>
          <p:cNvSpPr txBox="1"/>
          <p:nvPr/>
        </p:nvSpPr>
        <p:spPr>
          <a:xfrm>
            <a:off x="533400" y="438150"/>
            <a:ext cx="6924675"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CORE MECHANISMS</a:t>
            </a:r>
          </a:p>
        </p:txBody>
      </p:sp>
      <p:pic>
        <p:nvPicPr>
          <p:cNvPr id="17" name="Picture 16" descr="image.png"/>
          <p:cNvPicPr>
            <a:picLocks noChangeAspect="1"/>
          </p:cNvPicPr>
          <p:nvPr/>
        </p:nvPicPr>
        <p:blipFill>
          <a:blip r:embed="rId16"/>
          <a:stretch>
            <a:fillRect/>
          </a:stretch>
        </p:blipFill>
        <p:spPr>
          <a:xfrm>
            <a:off x="10801350" y="742950"/>
            <a:ext cx="857250" cy="276225"/>
          </a:xfrm>
          <a:prstGeom prst="rect">
            <a:avLst/>
          </a:prstGeom>
        </p:spPr>
      </p:pic>
      <p:sp>
        <p:nvSpPr>
          <p:cNvPr id="18" name="TextBox 17"/>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9" name="TextBox 18"/>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07 / 09</a:t>
            </a:r>
          </a:p>
        </p:txBody>
      </p:sp>
      <p:sp>
        <p:nvSpPr>
          <p:cNvPr id="20" name="TextBox 19"/>
          <p:cNvSpPr txBox="1"/>
          <p:nvPr/>
        </p:nvSpPr>
        <p:spPr>
          <a:xfrm>
            <a:off x="533400" y="638175"/>
            <a:ext cx="7270908" cy="381000"/>
          </a:xfrm>
          <a:prstGeom prst="rect">
            <a:avLst/>
          </a:prstGeom>
          <a:noFill/>
        </p:spPr>
        <p:txBody>
          <a:bodyPr wrap="square" lIns="0" rIns="0" tIns="0" bIns="0" anchor="t">
            <a:spAutoFit/>
          </a:bodyPr>
          <a:lstStyle/>
          <a:p>
            <a:pPr algn="l"/>
            <a:r>
              <a:rPr b="1" sz="2400" i="0" u="none">
                <a:solidFill>
                  <a:srgbClr val="F9FAFB"/>
                </a:solidFill>
                <a:latin typeface="Plus Jakarta Sans"/>
              </a:rPr>
              <a:t>Algorithms &amp; System Programming Mechanisms</a:t>
            </a:r>
          </a:p>
        </p:txBody>
      </p:sp>
      <p:sp>
        <p:nvSpPr>
          <p:cNvPr id="21" name="TextBox 20"/>
          <p:cNvSpPr txBox="1"/>
          <p:nvPr/>
        </p:nvSpPr>
        <p:spPr>
          <a:xfrm>
            <a:off x="933450" y="2128837"/>
            <a:ext cx="3028950" cy="200025"/>
          </a:xfrm>
          <a:prstGeom prst="rect">
            <a:avLst/>
          </a:prstGeom>
          <a:noFill/>
        </p:spPr>
        <p:txBody>
          <a:bodyPr wrap="square" lIns="0" rIns="0" tIns="0" bIns="0" anchor="ctr">
            <a:spAutoFit/>
          </a:bodyPr>
          <a:lstStyle/>
          <a:p>
            <a:pPr algn="l"/>
            <a:r>
              <a:rPr b="1" sz="1200" i="0" u="none">
                <a:solidFill>
                  <a:srgbClr val="10B981"/>
                </a:solidFill>
                <a:latin typeface="Plus Jakarta Sans"/>
              </a:rPr>
              <a:t>1. Process Creation</a:t>
            </a:r>
          </a:p>
        </p:txBody>
      </p:sp>
      <p:sp>
        <p:nvSpPr>
          <p:cNvPr id="22" name="TextBox 21"/>
          <p:cNvSpPr txBox="1"/>
          <p:nvPr/>
        </p:nvSpPr>
        <p:spPr>
          <a:xfrm>
            <a:off x="685800" y="2443162"/>
            <a:ext cx="3276600" cy="185737"/>
          </a:xfrm>
          <a:prstGeom prst="rect">
            <a:avLst/>
          </a:prstGeom>
          <a:noFill/>
        </p:spPr>
        <p:txBody>
          <a:bodyPr wrap="square" lIns="0" rIns="0" tIns="0" bIns="0" anchor="t">
            <a:spAutoFit/>
          </a:bodyPr>
          <a:lstStyle/>
          <a:p>
            <a:pPr algn="l">
              <a:lnSpc>
                <a:spcPts val="1462"/>
              </a:lnSpc>
            </a:pPr>
            <a:r>
              <a:rPr b="0" sz="975" i="0" u="none">
                <a:solidFill>
                  <a:srgbClr val="38BDF8"/>
                </a:solidFill>
                <a:latin typeface="JetBrains Mono"/>
              </a:rPr>
              <a:t>fork()</a:t>
            </a:r>
          </a:p>
        </p:txBody>
      </p:sp>
      <p:sp>
        <p:nvSpPr>
          <p:cNvPr id="23" name="TextBox 22"/>
          <p:cNvSpPr txBox="1"/>
          <p:nvPr/>
        </p:nvSpPr>
        <p:spPr>
          <a:xfrm>
            <a:off x="685800" y="2743200"/>
            <a:ext cx="327660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Spawns a child process by duplicating the calling process state in the kernel.</a:t>
            </a:r>
          </a:p>
        </p:txBody>
      </p:sp>
      <p:sp>
        <p:nvSpPr>
          <p:cNvPr id="24" name="TextBox 23"/>
          <p:cNvSpPr txBox="1"/>
          <p:nvPr/>
        </p:nvSpPr>
        <p:spPr>
          <a:xfrm>
            <a:off x="4686300" y="2128837"/>
            <a:ext cx="3048000" cy="200025"/>
          </a:xfrm>
          <a:prstGeom prst="rect">
            <a:avLst/>
          </a:prstGeom>
          <a:noFill/>
        </p:spPr>
        <p:txBody>
          <a:bodyPr wrap="square" lIns="0" rIns="0" tIns="0" bIns="0" anchor="ctr">
            <a:spAutoFit/>
          </a:bodyPr>
          <a:lstStyle/>
          <a:p>
            <a:pPr algn="l"/>
            <a:r>
              <a:rPr b="1" sz="1200" i="0" u="none">
                <a:solidFill>
                  <a:srgbClr val="10B981"/>
                </a:solidFill>
                <a:latin typeface="Plus Jakarta Sans"/>
              </a:rPr>
              <a:t>2. Program Execution</a:t>
            </a:r>
          </a:p>
        </p:txBody>
      </p:sp>
      <p:sp>
        <p:nvSpPr>
          <p:cNvPr id="25" name="TextBox 24"/>
          <p:cNvSpPr txBox="1"/>
          <p:nvPr/>
        </p:nvSpPr>
        <p:spPr>
          <a:xfrm>
            <a:off x="4457700" y="2443162"/>
            <a:ext cx="3276600" cy="185737"/>
          </a:xfrm>
          <a:prstGeom prst="rect">
            <a:avLst/>
          </a:prstGeom>
          <a:noFill/>
        </p:spPr>
        <p:txBody>
          <a:bodyPr wrap="square" lIns="0" rIns="0" tIns="0" bIns="0" anchor="t">
            <a:spAutoFit/>
          </a:bodyPr>
          <a:lstStyle/>
          <a:p>
            <a:pPr algn="l">
              <a:lnSpc>
                <a:spcPts val="1462"/>
              </a:lnSpc>
            </a:pPr>
            <a:r>
              <a:rPr b="0" sz="975" i="0" u="none">
                <a:solidFill>
                  <a:srgbClr val="38BDF8"/>
                </a:solidFill>
                <a:latin typeface="JetBrains Mono"/>
              </a:rPr>
              <a:t>exec() family</a:t>
            </a:r>
          </a:p>
        </p:txBody>
      </p:sp>
      <p:sp>
        <p:nvSpPr>
          <p:cNvPr id="26" name="TextBox 25"/>
          <p:cNvSpPr txBox="1"/>
          <p:nvPr/>
        </p:nvSpPr>
        <p:spPr>
          <a:xfrm>
            <a:off x="4457700" y="2743200"/>
            <a:ext cx="327660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Replaces current process memory image with a new executable program.</a:t>
            </a:r>
          </a:p>
        </p:txBody>
      </p:sp>
      <p:sp>
        <p:nvSpPr>
          <p:cNvPr id="27" name="TextBox 26"/>
          <p:cNvSpPr txBox="1"/>
          <p:nvPr/>
        </p:nvSpPr>
        <p:spPr>
          <a:xfrm>
            <a:off x="8458200" y="2128837"/>
            <a:ext cx="3048000" cy="200025"/>
          </a:xfrm>
          <a:prstGeom prst="rect">
            <a:avLst/>
          </a:prstGeom>
          <a:noFill/>
        </p:spPr>
        <p:txBody>
          <a:bodyPr wrap="square" lIns="0" rIns="0" tIns="0" bIns="0" anchor="ctr">
            <a:spAutoFit/>
          </a:bodyPr>
          <a:lstStyle/>
          <a:p>
            <a:pPr algn="l"/>
            <a:r>
              <a:rPr b="1" sz="1200" i="0" u="none">
                <a:solidFill>
                  <a:srgbClr val="10B981"/>
                </a:solidFill>
                <a:latin typeface="Plus Jakarta Sans"/>
              </a:rPr>
              <a:t>3. Synchronization</a:t>
            </a:r>
          </a:p>
        </p:txBody>
      </p:sp>
      <p:sp>
        <p:nvSpPr>
          <p:cNvPr id="28" name="TextBox 27"/>
          <p:cNvSpPr txBox="1"/>
          <p:nvPr/>
        </p:nvSpPr>
        <p:spPr>
          <a:xfrm>
            <a:off x="8229600" y="2443162"/>
            <a:ext cx="3276600" cy="185737"/>
          </a:xfrm>
          <a:prstGeom prst="rect">
            <a:avLst/>
          </a:prstGeom>
          <a:noFill/>
        </p:spPr>
        <p:txBody>
          <a:bodyPr wrap="square" lIns="0" rIns="0" tIns="0" bIns="0" anchor="t">
            <a:spAutoFit/>
          </a:bodyPr>
          <a:lstStyle/>
          <a:p>
            <a:pPr algn="l">
              <a:lnSpc>
                <a:spcPts val="1462"/>
              </a:lnSpc>
            </a:pPr>
            <a:r>
              <a:rPr b="0" sz="975" i="0" u="none">
                <a:solidFill>
                  <a:srgbClr val="38BDF8"/>
                </a:solidFill>
                <a:latin typeface="JetBrains Mono"/>
              </a:rPr>
              <a:t>wait() / waitpid()</a:t>
            </a:r>
          </a:p>
        </p:txBody>
      </p:sp>
      <p:sp>
        <p:nvSpPr>
          <p:cNvPr id="29" name="TextBox 28"/>
          <p:cNvSpPr txBox="1"/>
          <p:nvPr/>
        </p:nvSpPr>
        <p:spPr>
          <a:xfrm>
            <a:off x="8229600" y="2743200"/>
            <a:ext cx="327660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Blocks parent until child completes execution and collects termination status.</a:t>
            </a:r>
          </a:p>
        </p:txBody>
      </p:sp>
      <p:sp>
        <p:nvSpPr>
          <p:cNvPr id="30" name="TextBox 29"/>
          <p:cNvSpPr txBox="1"/>
          <p:nvPr/>
        </p:nvSpPr>
        <p:spPr>
          <a:xfrm>
            <a:off x="914400" y="3600450"/>
            <a:ext cx="3048000" cy="200025"/>
          </a:xfrm>
          <a:prstGeom prst="rect">
            <a:avLst/>
          </a:prstGeom>
          <a:noFill/>
        </p:spPr>
        <p:txBody>
          <a:bodyPr wrap="square" lIns="0" rIns="0" tIns="0" bIns="0" anchor="ctr">
            <a:spAutoFit/>
          </a:bodyPr>
          <a:lstStyle/>
          <a:p>
            <a:pPr algn="l"/>
            <a:r>
              <a:rPr b="1" sz="1200" i="0" u="none">
                <a:solidFill>
                  <a:srgbClr val="38BDF8"/>
                </a:solidFill>
                <a:latin typeface="Plus Jakarta Sans"/>
              </a:rPr>
              <a:t>4. File I/O</a:t>
            </a:r>
          </a:p>
        </p:txBody>
      </p:sp>
      <p:sp>
        <p:nvSpPr>
          <p:cNvPr id="31" name="TextBox 30"/>
          <p:cNvSpPr txBox="1"/>
          <p:nvPr/>
        </p:nvSpPr>
        <p:spPr>
          <a:xfrm>
            <a:off x="685800" y="3914775"/>
            <a:ext cx="3276600" cy="185737"/>
          </a:xfrm>
          <a:prstGeom prst="rect">
            <a:avLst/>
          </a:prstGeom>
          <a:noFill/>
        </p:spPr>
        <p:txBody>
          <a:bodyPr wrap="square" lIns="0" rIns="0" tIns="0" bIns="0" anchor="t">
            <a:spAutoFit/>
          </a:bodyPr>
          <a:lstStyle/>
          <a:p>
            <a:pPr algn="l">
              <a:lnSpc>
                <a:spcPts val="1462"/>
              </a:lnSpc>
            </a:pPr>
            <a:r>
              <a:rPr b="0" sz="975" i="0" u="none">
                <a:solidFill>
                  <a:srgbClr val="10B981"/>
                </a:solidFill>
                <a:latin typeface="JetBrains Mono"/>
              </a:rPr>
              <a:t>open → read/write → close</a:t>
            </a:r>
          </a:p>
        </p:txBody>
      </p:sp>
      <p:sp>
        <p:nvSpPr>
          <p:cNvPr id="32" name="TextBox 31"/>
          <p:cNvSpPr txBox="1"/>
          <p:nvPr/>
        </p:nvSpPr>
        <p:spPr>
          <a:xfrm>
            <a:off x="685800" y="4214812"/>
            <a:ext cx="327660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Direct POSIX file descriptor calls to inspect and manipulate storage files.</a:t>
            </a:r>
          </a:p>
        </p:txBody>
      </p:sp>
      <p:sp>
        <p:nvSpPr>
          <p:cNvPr id="33" name="TextBox 32"/>
          <p:cNvSpPr txBox="1"/>
          <p:nvPr/>
        </p:nvSpPr>
        <p:spPr>
          <a:xfrm>
            <a:off x="4724400" y="3600450"/>
            <a:ext cx="3009900" cy="200025"/>
          </a:xfrm>
          <a:prstGeom prst="rect">
            <a:avLst/>
          </a:prstGeom>
          <a:noFill/>
        </p:spPr>
        <p:txBody>
          <a:bodyPr wrap="square" lIns="0" rIns="0" tIns="0" bIns="0" anchor="ctr">
            <a:spAutoFit/>
          </a:bodyPr>
          <a:lstStyle/>
          <a:p>
            <a:pPr algn="l"/>
            <a:r>
              <a:rPr b="1" sz="1200" i="0" u="none">
                <a:solidFill>
                  <a:srgbClr val="38BDF8"/>
                </a:solidFill>
                <a:latin typeface="Plus Jakarta Sans"/>
              </a:rPr>
              <a:t>5. IPC Channels</a:t>
            </a:r>
          </a:p>
        </p:txBody>
      </p:sp>
      <p:sp>
        <p:nvSpPr>
          <p:cNvPr id="34" name="TextBox 33"/>
          <p:cNvSpPr txBox="1"/>
          <p:nvPr/>
        </p:nvSpPr>
        <p:spPr>
          <a:xfrm>
            <a:off x="4457700" y="3914775"/>
            <a:ext cx="3276600" cy="185737"/>
          </a:xfrm>
          <a:prstGeom prst="rect">
            <a:avLst/>
          </a:prstGeom>
          <a:noFill/>
        </p:spPr>
        <p:txBody>
          <a:bodyPr wrap="square" lIns="0" rIns="0" tIns="0" bIns="0" anchor="t">
            <a:spAutoFit/>
          </a:bodyPr>
          <a:lstStyle/>
          <a:p>
            <a:pPr algn="l">
              <a:lnSpc>
                <a:spcPts val="1462"/>
              </a:lnSpc>
            </a:pPr>
            <a:r>
              <a:rPr b="0" sz="975" i="0" u="none">
                <a:solidFill>
                  <a:srgbClr val="10B981"/>
                </a:solidFill>
                <a:latin typeface="JetBrains Mono"/>
              </a:rPr>
              <a:t>pipe() / FIFO / signals</a:t>
            </a:r>
          </a:p>
        </p:txBody>
      </p:sp>
      <p:sp>
        <p:nvSpPr>
          <p:cNvPr id="35" name="TextBox 34"/>
          <p:cNvSpPr txBox="1"/>
          <p:nvPr/>
        </p:nvSpPr>
        <p:spPr>
          <a:xfrm>
            <a:off x="4457700" y="4214812"/>
            <a:ext cx="327660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Enables inter-process data streaming and asynchronous kernel signaling.</a:t>
            </a:r>
          </a:p>
        </p:txBody>
      </p:sp>
      <p:sp>
        <p:nvSpPr>
          <p:cNvPr id="36" name="TextBox 35"/>
          <p:cNvSpPr txBox="1"/>
          <p:nvPr/>
        </p:nvSpPr>
        <p:spPr>
          <a:xfrm>
            <a:off x="8515350" y="3600450"/>
            <a:ext cx="2990850" cy="200025"/>
          </a:xfrm>
          <a:prstGeom prst="rect">
            <a:avLst/>
          </a:prstGeom>
          <a:noFill/>
        </p:spPr>
        <p:txBody>
          <a:bodyPr wrap="square" lIns="0" rIns="0" tIns="0" bIns="0" anchor="ctr">
            <a:spAutoFit/>
          </a:bodyPr>
          <a:lstStyle/>
          <a:p>
            <a:pPr algn="l"/>
            <a:r>
              <a:rPr b="1" sz="1200" i="0" u="none">
                <a:solidFill>
                  <a:srgbClr val="38BDF8"/>
                </a:solidFill>
                <a:latin typeface="Plus Jakarta Sans"/>
              </a:rPr>
              <a:t>6. Concurrency</a:t>
            </a:r>
          </a:p>
        </p:txBody>
      </p:sp>
      <p:sp>
        <p:nvSpPr>
          <p:cNvPr id="37" name="TextBox 36"/>
          <p:cNvSpPr txBox="1"/>
          <p:nvPr/>
        </p:nvSpPr>
        <p:spPr>
          <a:xfrm>
            <a:off x="8229600" y="3914775"/>
            <a:ext cx="3276600" cy="185737"/>
          </a:xfrm>
          <a:prstGeom prst="rect">
            <a:avLst/>
          </a:prstGeom>
          <a:noFill/>
        </p:spPr>
        <p:txBody>
          <a:bodyPr wrap="square" lIns="0" rIns="0" tIns="0" bIns="0" anchor="t">
            <a:spAutoFit/>
          </a:bodyPr>
          <a:lstStyle/>
          <a:p>
            <a:pPr algn="l">
              <a:lnSpc>
                <a:spcPts val="1462"/>
              </a:lnSpc>
            </a:pPr>
            <a:r>
              <a:rPr b="0" sz="975" i="0" u="none">
                <a:solidFill>
                  <a:srgbClr val="10B981"/>
                </a:solidFill>
                <a:latin typeface="JetBrains Mono"/>
              </a:rPr>
              <a:t>pthread + mutex + semaphores</a:t>
            </a:r>
          </a:p>
        </p:txBody>
      </p:sp>
      <p:sp>
        <p:nvSpPr>
          <p:cNvPr id="38" name="TextBox 37"/>
          <p:cNvSpPr txBox="1"/>
          <p:nvPr/>
        </p:nvSpPr>
        <p:spPr>
          <a:xfrm>
            <a:off x="8229600" y="4214812"/>
            <a:ext cx="3276600" cy="400050"/>
          </a:xfrm>
          <a:prstGeom prst="rect">
            <a:avLst/>
          </a:prstGeom>
          <a:noFill/>
        </p:spPr>
        <p:txBody>
          <a:bodyPr wrap="square" lIns="0" rIns="0" tIns="0" bIns="0" anchor="t">
            <a:spAutoFit/>
          </a:bodyPr>
          <a:lstStyle/>
          <a:p>
            <a:pPr algn="l">
              <a:lnSpc>
                <a:spcPts val="1575"/>
              </a:lnSpc>
            </a:pPr>
            <a:r>
              <a:rPr b="0" sz="1050" i="0" u="none">
                <a:solidFill>
                  <a:srgbClr val="9CA3AF"/>
                </a:solidFill>
                <a:latin typeface="Plus Jakarta Sans"/>
              </a:rPr>
              <a:t>Multi-threading with mutual exclusion locks to prevent data race conditions.</a:t>
            </a:r>
          </a:p>
        </p:txBody>
      </p:sp>
      <p:pic>
        <p:nvPicPr>
          <p:cNvPr id="39" name="Picture 38" descr="image.png"/>
          <p:cNvPicPr>
            <a:picLocks noChangeAspect="1"/>
          </p:cNvPicPr>
          <p:nvPr/>
        </p:nvPicPr>
        <p:blipFill>
          <a:blip r:embed="rId17"/>
          <a:stretch>
            <a:fillRect/>
          </a:stretch>
        </p:blipFill>
        <p:spPr>
          <a:xfrm>
            <a:off x="2737544" y="5119687"/>
            <a:ext cx="104775" cy="171450"/>
          </a:xfrm>
          <a:prstGeom prst="rect">
            <a:avLst/>
          </a:prstGeom>
        </p:spPr>
      </p:pic>
      <p:pic>
        <p:nvPicPr>
          <p:cNvPr id="40" name="Picture 39" descr="image.png"/>
          <p:cNvPicPr>
            <a:picLocks noChangeAspect="1"/>
          </p:cNvPicPr>
          <p:nvPr/>
        </p:nvPicPr>
        <p:blipFill>
          <a:blip r:embed="rId17"/>
          <a:stretch>
            <a:fillRect/>
          </a:stretch>
        </p:blipFill>
        <p:spPr>
          <a:xfrm>
            <a:off x="4941689" y="5119687"/>
            <a:ext cx="104775" cy="171450"/>
          </a:xfrm>
          <a:prstGeom prst="rect">
            <a:avLst/>
          </a:prstGeom>
        </p:spPr>
      </p:pic>
      <p:pic>
        <p:nvPicPr>
          <p:cNvPr id="41" name="Picture 40" descr="image.png"/>
          <p:cNvPicPr>
            <a:picLocks noChangeAspect="1"/>
          </p:cNvPicPr>
          <p:nvPr/>
        </p:nvPicPr>
        <p:blipFill>
          <a:blip r:embed="rId18"/>
          <a:stretch>
            <a:fillRect/>
          </a:stretch>
        </p:blipFill>
        <p:spPr>
          <a:xfrm>
            <a:off x="7145833" y="5119687"/>
            <a:ext cx="104775" cy="171450"/>
          </a:xfrm>
          <a:prstGeom prst="rect">
            <a:avLst/>
          </a:prstGeom>
        </p:spPr>
      </p:pic>
      <p:pic>
        <p:nvPicPr>
          <p:cNvPr id="42" name="Picture 41" descr="image.png"/>
          <p:cNvPicPr>
            <a:picLocks noChangeAspect="1"/>
          </p:cNvPicPr>
          <p:nvPr/>
        </p:nvPicPr>
        <p:blipFill>
          <a:blip r:embed="rId18"/>
          <a:stretch>
            <a:fillRect/>
          </a:stretch>
        </p:blipFill>
        <p:spPr>
          <a:xfrm>
            <a:off x="9349978" y="5119687"/>
            <a:ext cx="104775" cy="171450"/>
          </a:xfrm>
          <a:prstGeom prst="rect">
            <a:avLst/>
          </a:prstGeom>
        </p:spPr>
      </p:pic>
      <p:pic>
        <p:nvPicPr>
          <p:cNvPr id="43" name="Picture 42" descr="image.png"/>
          <p:cNvPicPr>
            <a:picLocks noChangeAspect="1"/>
          </p:cNvPicPr>
          <p:nvPr/>
        </p:nvPicPr>
        <p:blipFill>
          <a:blip r:embed="rId19"/>
          <a:stretch>
            <a:fillRect/>
          </a:stretch>
        </p:blipFill>
        <p:spPr>
          <a:xfrm>
            <a:off x="685800" y="2143125"/>
            <a:ext cx="152400" cy="171450"/>
          </a:xfrm>
          <a:prstGeom prst="rect">
            <a:avLst/>
          </a:prstGeom>
        </p:spPr>
      </p:pic>
      <p:pic>
        <p:nvPicPr>
          <p:cNvPr id="44" name="Picture 43" descr="image.png"/>
          <p:cNvPicPr>
            <a:picLocks noChangeAspect="1"/>
          </p:cNvPicPr>
          <p:nvPr/>
        </p:nvPicPr>
        <p:blipFill>
          <a:blip r:embed="rId20"/>
          <a:stretch>
            <a:fillRect/>
          </a:stretch>
        </p:blipFill>
        <p:spPr>
          <a:xfrm>
            <a:off x="4457700" y="2143125"/>
            <a:ext cx="133350" cy="171450"/>
          </a:xfrm>
          <a:prstGeom prst="rect">
            <a:avLst/>
          </a:prstGeom>
        </p:spPr>
      </p:pic>
      <p:pic>
        <p:nvPicPr>
          <p:cNvPr id="45" name="Picture 44" descr="image.png"/>
          <p:cNvPicPr>
            <a:picLocks noChangeAspect="1"/>
          </p:cNvPicPr>
          <p:nvPr/>
        </p:nvPicPr>
        <p:blipFill>
          <a:blip r:embed="rId21"/>
          <a:stretch>
            <a:fillRect/>
          </a:stretch>
        </p:blipFill>
        <p:spPr>
          <a:xfrm>
            <a:off x="8229600" y="2143125"/>
            <a:ext cx="133350" cy="171450"/>
          </a:xfrm>
          <a:prstGeom prst="rect">
            <a:avLst/>
          </a:prstGeom>
        </p:spPr>
      </p:pic>
      <p:pic>
        <p:nvPicPr>
          <p:cNvPr id="46" name="Picture 45" descr="image.png"/>
          <p:cNvPicPr>
            <a:picLocks noChangeAspect="1"/>
          </p:cNvPicPr>
          <p:nvPr/>
        </p:nvPicPr>
        <p:blipFill>
          <a:blip r:embed="rId22"/>
          <a:stretch>
            <a:fillRect/>
          </a:stretch>
        </p:blipFill>
        <p:spPr>
          <a:xfrm>
            <a:off x="685800" y="3614737"/>
            <a:ext cx="133350" cy="171450"/>
          </a:xfrm>
          <a:prstGeom prst="rect">
            <a:avLst/>
          </a:prstGeom>
        </p:spPr>
      </p:pic>
      <p:pic>
        <p:nvPicPr>
          <p:cNvPr id="47" name="Picture 46" descr="image.png"/>
          <p:cNvPicPr>
            <a:picLocks noChangeAspect="1"/>
          </p:cNvPicPr>
          <p:nvPr/>
        </p:nvPicPr>
        <p:blipFill>
          <a:blip r:embed="rId23"/>
          <a:stretch>
            <a:fillRect/>
          </a:stretch>
        </p:blipFill>
        <p:spPr>
          <a:xfrm>
            <a:off x="4457700" y="3614737"/>
            <a:ext cx="171450" cy="171450"/>
          </a:xfrm>
          <a:prstGeom prst="rect">
            <a:avLst/>
          </a:prstGeom>
        </p:spPr>
      </p:pic>
      <p:pic>
        <p:nvPicPr>
          <p:cNvPr id="48" name="Picture 47" descr="image.png"/>
          <p:cNvPicPr>
            <a:picLocks noChangeAspect="1"/>
          </p:cNvPicPr>
          <p:nvPr/>
        </p:nvPicPr>
        <p:blipFill>
          <a:blip r:embed="rId24"/>
          <a:stretch>
            <a:fillRect/>
          </a:stretch>
        </p:blipFill>
        <p:spPr>
          <a:xfrm>
            <a:off x="8229600" y="3614737"/>
            <a:ext cx="190500" cy="1714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533400" y="4878288"/>
            <a:ext cx="11125200" cy="735210"/>
          </a:xfrm>
          <a:prstGeom prst="rect">
            <a:avLst/>
          </a:prstGeom>
        </p:spPr>
      </p:pic>
      <p:pic>
        <p:nvPicPr>
          <p:cNvPr id="5" name="Picture 4" descr="image.png"/>
          <p:cNvPicPr>
            <a:picLocks noChangeAspect="1"/>
          </p:cNvPicPr>
          <p:nvPr/>
        </p:nvPicPr>
        <p:blipFill>
          <a:blip r:embed="rId5"/>
          <a:stretch>
            <a:fillRect/>
          </a:stretch>
        </p:blipFill>
        <p:spPr>
          <a:xfrm>
            <a:off x="533400" y="1854100"/>
            <a:ext cx="5443537" cy="2833687"/>
          </a:xfrm>
          <a:prstGeom prst="rect">
            <a:avLst/>
          </a:prstGeom>
        </p:spPr>
      </p:pic>
      <p:pic>
        <p:nvPicPr>
          <p:cNvPr id="6" name="Picture 5" descr="image.png"/>
          <p:cNvPicPr>
            <a:picLocks noChangeAspect="1"/>
          </p:cNvPicPr>
          <p:nvPr/>
        </p:nvPicPr>
        <p:blipFill>
          <a:blip r:embed="rId6"/>
          <a:stretch>
            <a:fillRect/>
          </a:stretch>
        </p:blipFill>
        <p:spPr>
          <a:xfrm>
            <a:off x="6215062" y="1854100"/>
            <a:ext cx="5443537" cy="2833687"/>
          </a:xfrm>
          <a:prstGeom prst="rect">
            <a:avLst/>
          </a:prstGeom>
        </p:spPr>
      </p:pic>
      <p:sp>
        <p:nvSpPr>
          <p:cNvPr id="7" name="TextBox 6"/>
          <p:cNvSpPr txBox="1"/>
          <p:nvPr/>
        </p:nvSpPr>
        <p:spPr>
          <a:xfrm>
            <a:off x="533400" y="438150"/>
            <a:ext cx="5210175"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SPECIFICATIONS</a:t>
            </a:r>
          </a:p>
        </p:txBody>
      </p:sp>
      <p:pic>
        <p:nvPicPr>
          <p:cNvPr id="8" name="Picture 7" descr="image.png"/>
          <p:cNvPicPr>
            <a:picLocks noChangeAspect="1"/>
          </p:cNvPicPr>
          <p:nvPr/>
        </p:nvPicPr>
        <p:blipFill>
          <a:blip r:embed="rId7"/>
          <a:stretch>
            <a:fillRect/>
          </a:stretch>
        </p:blipFill>
        <p:spPr>
          <a:xfrm>
            <a:off x="10801350" y="742950"/>
            <a:ext cx="857250" cy="276225"/>
          </a:xfrm>
          <a:prstGeom prst="rect">
            <a:avLst/>
          </a:prstGeom>
        </p:spPr>
      </p:pic>
      <p:sp>
        <p:nvSpPr>
          <p:cNvPr id="9" name="TextBox 8"/>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0" name="TextBox 9"/>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08 / 09</a:t>
            </a:r>
          </a:p>
        </p:txBody>
      </p:sp>
      <p:sp>
        <p:nvSpPr>
          <p:cNvPr id="11" name="TextBox 10"/>
          <p:cNvSpPr txBox="1"/>
          <p:nvPr/>
        </p:nvSpPr>
        <p:spPr>
          <a:xfrm>
            <a:off x="533400" y="638175"/>
            <a:ext cx="5470683" cy="381000"/>
          </a:xfrm>
          <a:prstGeom prst="rect">
            <a:avLst/>
          </a:prstGeom>
          <a:noFill/>
        </p:spPr>
        <p:txBody>
          <a:bodyPr wrap="square" lIns="0" rIns="0" tIns="0" bIns="0" anchor="t">
            <a:spAutoFit/>
          </a:bodyPr>
          <a:lstStyle/>
          <a:p>
            <a:pPr algn="l"/>
            <a:r>
              <a:rPr b="1" sz="2400" i="0" u="none">
                <a:solidFill>
                  <a:srgbClr val="F9FAFB"/>
                </a:solidFill>
                <a:latin typeface="Plus Jakarta Sans"/>
              </a:rPr>
              <a:t>Hardware &amp; Software Requirements</a:t>
            </a:r>
          </a:p>
        </p:txBody>
      </p:sp>
      <p:sp>
        <p:nvSpPr>
          <p:cNvPr id="12" name="TextBox 11"/>
          <p:cNvSpPr txBox="1"/>
          <p:nvPr/>
        </p:nvSpPr>
        <p:spPr>
          <a:xfrm>
            <a:off x="1047750" y="2073175"/>
            <a:ext cx="4710112" cy="238125"/>
          </a:xfrm>
          <a:prstGeom prst="rect">
            <a:avLst/>
          </a:prstGeom>
          <a:noFill/>
        </p:spPr>
        <p:txBody>
          <a:bodyPr wrap="square" lIns="0" rIns="0" tIns="0" bIns="0" anchor="ctr">
            <a:spAutoFit/>
          </a:bodyPr>
          <a:lstStyle/>
          <a:p>
            <a:pPr algn="l"/>
            <a:r>
              <a:rPr b="1" sz="1500" i="0" u="none">
                <a:solidFill>
                  <a:srgbClr val="10B981"/>
                </a:solidFill>
                <a:latin typeface="Plus Jakarta Sans"/>
              </a:rPr>
              <a:t>Hardware Requirements</a:t>
            </a:r>
          </a:p>
        </p:txBody>
      </p:sp>
      <p:sp>
        <p:nvSpPr>
          <p:cNvPr id="13" name="TextBox 12"/>
          <p:cNvSpPr txBox="1"/>
          <p:nvPr/>
        </p:nvSpPr>
        <p:spPr>
          <a:xfrm>
            <a:off x="6748462" y="2073175"/>
            <a:ext cx="4691062" cy="238125"/>
          </a:xfrm>
          <a:prstGeom prst="rect">
            <a:avLst/>
          </a:prstGeom>
          <a:noFill/>
        </p:spPr>
        <p:txBody>
          <a:bodyPr wrap="square" lIns="0" rIns="0" tIns="0" bIns="0" anchor="ctr">
            <a:spAutoFit/>
          </a:bodyPr>
          <a:lstStyle/>
          <a:p>
            <a:pPr algn="l"/>
            <a:r>
              <a:rPr b="1" sz="1500" i="0" u="none">
                <a:solidFill>
                  <a:srgbClr val="38BDF8"/>
                </a:solidFill>
                <a:latin typeface="Plus Jakarta Sans"/>
              </a:rPr>
              <a:t>Software Requirements</a:t>
            </a:r>
          </a:p>
        </p:txBody>
      </p:sp>
      <p:sp>
        <p:nvSpPr>
          <p:cNvPr id="14" name="TextBox 13"/>
          <p:cNvSpPr txBox="1"/>
          <p:nvPr/>
        </p:nvSpPr>
        <p:spPr>
          <a:xfrm>
            <a:off x="733425" y="5021163"/>
            <a:ext cx="4286250" cy="449460"/>
          </a:xfrm>
          <a:prstGeom prst="rect">
            <a:avLst/>
          </a:prstGeom>
          <a:noFill/>
        </p:spPr>
        <p:txBody>
          <a:bodyPr wrap="square" lIns="0" rIns="0" tIns="0" bIns="0" anchor="t">
            <a:spAutoFit/>
          </a:bodyPr>
          <a:lstStyle/>
          <a:p>
            <a:pPr algn="l">
              <a:lnSpc>
                <a:spcPts val="1800"/>
              </a:lnSpc>
            </a:pPr>
            <a:r>
              <a:rPr b="0" sz="1125" i="0" u="none">
                <a:solidFill>
                  <a:srgbClr val="6B7280"/>
                </a:solidFill>
                <a:latin typeface="JetBrains Mono"/>
              </a:rPr>
              <a:t>BUILD COMMAND:</a:t>
            </a:r>
            <a:r>
              <a:rPr b="0" sz="1125" i="0" u="none">
                <a:solidFill>
                  <a:srgbClr val="E5E7EB"/>
                </a:solidFill>
                <a:latin typeface="JetBrains Mono"/>
              </a:rPr>
              <a:t> </a:t>
            </a:r>
            <a:r>
              <a:rPr b="0" sz="1125" i="0" u="none">
                <a:solidFill>
                  <a:srgbClr val="38BDF8"/>
                </a:solidFill>
                <a:latin typeface="JetBrains Mono SemiBold"/>
              </a:rPr>
              <a:t>$</a:t>
            </a:r>
            <a:r>
              <a:rPr b="0" sz="1125" i="0" u="none">
                <a:solidFill>
                  <a:srgbClr val="E5E7EB"/>
                </a:solidFill>
                <a:latin typeface="JetBrains Mono"/>
              </a:rPr>
              <a:t> </a:t>
            </a:r>
            <a:r>
              <a:rPr b="0" sz="1125" i="0" u="none">
                <a:solidFill>
                  <a:srgbClr val="F3F4F6"/>
                </a:solidFill>
                <a:latin typeface="JetBrains Mono"/>
              </a:rPr>
              <a:t>gcc -Wall -O2 unixsuite.c -o unixsuite -lpthread</a:t>
            </a:r>
          </a:p>
        </p:txBody>
      </p:sp>
      <p:pic>
        <p:nvPicPr>
          <p:cNvPr id="15" name="Picture 14" descr="image.png"/>
          <p:cNvPicPr>
            <a:picLocks noChangeAspect="1"/>
          </p:cNvPicPr>
          <p:nvPr/>
        </p:nvPicPr>
        <p:blipFill>
          <a:blip r:embed="rId8"/>
          <a:stretch>
            <a:fillRect/>
          </a:stretch>
        </p:blipFill>
        <p:spPr>
          <a:xfrm>
            <a:off x="9572625" y="5099149"/>
            <a:ext cx="1885950" cy="293340"/>
          </a:xfrm>
          <a:prstGeom prst="rect">
            <a:avLst/>
          </a:prstGeom>
        </p:spPr>
      </p:pic>
      <p:pic>
        <p:nvPicPr>
          <p:cNvPr id="16" name="Picture 15" descr="image.png"/>
          <p:cNvPicPr>
            <a:picLocks noChangeAspect="1"/>
          </p:cNvPicPr>
          <p:nvPr/>
        </p:nvPicPr>
        <p:blipFill>
          <a:blip r:embed="rId9"/>
          <a:stretch>
            <a:fillRect/>
          </a:stretch>
        </p:blipFill>
        <p:spPr>
          <a:xfrm>
            <a:off x="781050" y="2106513"/>
            <a:ext cx="171450" cy="171450"/>
          </a:xfrm>
          <a:prstGeom prst="rect">
            <a:avLst/>
          </a:prstGeom>
        </p:spPr>
      </p:pic>
      <p:sp>
        <p:nvSpPr>
          <p:cNvPr id="17" name="TextBox 16"/>
          <p:cNvSpPr txBox="1"/>
          <p:nvPr/>
        </p:nvSpPr>
        <p:spPr>
          <a:xfrm>
            <a:off x="1028700" y="2425600"/>
            <a:ext cx="4729162" cy="485775"/>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Processor (CPU):</a:t>
            </a:r>
            <a:r>
              <a:rPr b="0" sz="1275" i="0" u="none">
                <a:solidFill>
                  <a:srgbClr val="D1D5DB"/>
                </a:solidFill>
                <a:latin typeface="Plus Jakarta Sans"/>
              </a:rPr>
              <a:t> Dual-Core Intel / AMD Processor (x86_64 or ARM64)</a:t>
            </a:r>
          </a:p>
        </p:txBody>
      </p:sp>
      <p:sp>
        <p:nvSpPr>
          <p:cNvPr id="18" name="TextBox 17"/>
          <p:cNvSpPr txBox="1"/>
          <p:nvPr/>
        </p:nvSpPr>
        <p:spPr>
          <a:xfrm>
            <a:off x="1028700" y="3025675"/>
            <a:ext cx="4729162" cy="485775"/>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Memory (RAM):</a:t>
            </a:r>
            <a:r>
              <a:rPr b="0" sz="1275" i="0" u="none">
                <a:solidFill>
                  <a:srgbClr val="D1D5DB"/>
                </a:solidFill>
                <a:latin typeface="Plus Jakarta Sans"/>
              </a:rPr>
              <a:t> 4 GB Minimum (8 GB Recommended for heavy debugging)</a:t>
            </a:r>
          </a:p>
        </p:txBody>
      </p:sp>
      <p:sp>
        <p:nvSpPr>
          <p:cNvPr id="19" name="TextBox 18"/>
          <p:cNvSpPr txBox="1"/>
          <p:nvPr/>
        </p:nvSpPr>
        <p:spPr>
          <a:xfrm>
            <a:off x="1028700" y="3625750"/>
            <a:ext cx="4729162" cy="242887"/>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Disk Storage:</a:t>
            </a:r>
            <a:r>
              <a:rPr b="0" sz="1275" i="0" u="none">
                <a:solidFill>
                  <a:srgbClr val="D1D5DB"/>
                </a:solidFill>
                <a:latin typeface="Plus Jakarta Sans"/>
              </a:rPr>
              <a:t> 10 GB Available Disk Space</a:t>
            </a:r>
          </a:p>
        </p:txBody>
      </p:sp>
      <p:sp>
        <p:nvSpPr>
          <p:cNvPr id="20" name="TextBox 19"/>
          <p:cNvSpPr txBox="1"/>
          <p:nvPr/>
        </p:nvSpPr>
        <p:spPr>
          <a:xfrm>
            <a:off x="1028700" y="3982938"/>
            <a:ext cx="4729162" cy="485775"/>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Display Output:</a:t>
            </a:r>
            <a:r>
              <a:rPr b="0" sz="1275" i="0" u="none">
                <a:solidFill>
                  <a:srgbClr val="D1D5DB"/>
                </a:solidFill>
                <a:latin typeface="Plus Jakarta Sans"/>
              </a:rPr>
              <a:t> Standard Monitor / Projector Resolution (1280x720 min)</a:t>
            </a:r>
          </a:p>
        </p:txBody>
      </p:sp>
      <p:pic>
        <p:nvPicPr>
          <p:cNvPr id="21" name="Picture 20" descr="image.png"/>
          <p:cNvPicPr>
            <a:picLocks noChangeAspect="1"/>
          </p:cNvPicPr>
          <p:nvPr/>
        </p:nvPicPr>
        <p:blipFill>
          <a:blip r:embed="rId10"/>
          <a:stretch>
            <a:fillRect/>
          </a:stretch>
        </p:blipFill>
        <p:spPr>
          <a:xfrm>
            <a:off x="6462712" y="2106513"/>
            <a:ext cx="190500" cy="171450"/>
          </a:xfrm>
          <a:prstGeom prst="rect">
            <a:avLst/>
          </a:prstGeom>
        </p:spPr>
      </p:pic>
      <p:sp>
        <p:nvSpPr>
          <p:cNvPr id="22" name="TextBox 21"/>
          <p:cNvSpPr txBox="1"/>
          <p:nvPr/>
        </p:nvSpPr>
        <p:spPr>
          <a:xfrm>
            <a:off x="6710362" y="2425600"/>
            <a:ext cx="4729162" cy="242887"/>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Operating System:</a:t>
            </a:r>
            <a:r>
              <a:rPr b="0" sz="1275" i="0" u="none">
                <a:solidFill>
                  <a:srgbClr val="D1D5DB"/>
                </a:solidFill>
                <a:latin typeface="Plus Jakarta Sans"/>
              </a:rPr>
              <a:t> Ubuntu Linux 22.04 LTS / Debian / WSL2</a:t>
            </a:r>
          </a:p>
        </p:txBody>
      </p:sp>
      <p:sp>
        <p:nvSpPr>
          <p:cNvPr id="23" name="TextBox 22"/>
          <p:cNvSpPr txBox="1"/>
          <p:nvPr/>
        </p:nvSpPr>
        <p:spPr>
          <a:xfrm>
            <a:off x="6710362" y="2782788"/>
            <a:ext cx="4729162" cy="242887"/>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Programming Language:</a:t>
            </a:r>
            <a:r>
              <a:rPr b="0" sz="1275" i="0" u="none">
                <a:solidFill>
                  <a:srgbClr val="D1D5DB"/>
                </a:solidFill>
                <a:latin typeface="Plus Jakarta Sans"/>
              </a:rPr>
              <a:t> C (C11 Standard)</a:t>
            </a:r>
          </a:p>
        </p:txBody>
      </p:sp>
      <p:sp>
        <p:nvSpPr>
          <p:cNvPr id="24" name="TextBox 23"/>
          <p:cNvSpPr txBox="1"/>
          <p:nvPr/>
        </p:nvSpPr>
        <p:spPr>
          <a:xfrm>
            <a:off x="6710362" y="3139975"/>
            <a:ext cx="4729162" cy="485775"/>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Compiler Toolchain:</a:t>
            </a:r>
            <a:r>
              <a:rPr b="0" sz="1275" i="0" u="none">
                <a:solidFill>
                  <a:srgbClr val="D1D5DB"/>
                </a:solidFill>
                <a:latin typeface="Plus Jakarta Sans"/>
              </a:rPr>
              <a:t> GCC (GNU Compiler Collection) + GNU Make</a:t>
            </a:r>
          </a:p>
        </p:txBody>
      </p:sp>
      <p:sp>
        <p:nvSpPr>
          <p:cNvPr id="25" name="TextBox 24"/>
          <p:cNvSpPr txBox="1"/>
          <p:nvPr/>
        </p:nvSpPr>
        <p:spPr>
          <a:xfrm>
            <a:off x="6710362" y="3740050"/>
            <a:ext cx="4729162" cy="242887"/>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Development Tools:</a:t>
            </a:r>
            <a:r>
              <a:rPr b="0" sz="1275" i="0" u="none">
                <a:solidFill>
                  <a:srgbClr val="D1D5DB"/>
                </a:solidFill>
                <a:latin typeface="Plus Jakarta Sans"/>
              </a:rPr>
              <a:t> VS Code / Vim &amp; GDB Debugger</a:t>
            </a:r>
          </a:p>
        </p:txBody>
      </p:sp>
      <p:sp>
        <p:nvSpPr>
          <p:cNvPr id="26" name="TextBox 25"/>
          <p:cNvSpPr txBox="1"/>
          <p:nvPr/>
        </p:nvSpPr>
        <p:spPr>
          <a:xfrm>
            <a:off x="6710362" y="4097238"/>
            <a:ext cx="4729162" cy="242887"/>
          </a:xfrm>
          <a:prstGeom prst="rect">
            <a:avLst/>
          </a:prstGeom>
          <a:noFill/>
        </p:spPr>
        <p:txBody>
          <a:bodyPr wrap="square" lIns="0" rIns="0" tIns="0" bIns="0" anchor="t">
            <a:spAutoFit/>
          </a:bodyPr>
          <a:lstStyle/>
          <a:p>
            <a:pPr algn="l">
              <a:lnSpc>
                <a:spcPts val="1912"/>
              </a:lnSpc>
            </a:pPr>
            <a:r>
              <a:rPr b="1" sz="1275" i="0" u="none">
                <a:solidFill>
                  <a:srgbClr val="D1D5DB"/>
                </a:solidFill>
                <a:latin typeface="Plus Jakarta Sans"/>
              </a:rPr>
              <a:t>Version Control:</a:t>
            </a:r>
            <a:r>
              <a:rPr b="0" sz="1275" i="0" u="none">
                <a:solidFill>
                  <a:srgbClr val="D1D5DB"/>
                </a:solidFill>
                <a:latin typeface="Plus Jakarta Sans"/>
              </a:rPr>
              <a:t> Git &amp; GitHub Repository</a:t>
            </a:r>
          </a:p>
        </p:txBody>
      </p:sp>
      <p:sp>
        <p:nvSpPr>
          <p:cNvPr id="27" name="TextBox 26"/>
          <p:cNvSpPr txBox="1"/>
          <p:nvPr/>
        </p:nvSpPr>
        <p:spPr>
          <a:xfrm>
            <a:off x="781050" y="242560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28" name="TextBox 27"/>
          <p:cNvSpPr txBox="1"/>
          <p:nvPr/>
        </p:nvSpPr>
        <p:spPr>
          <a:xfrm>
            <a:off x="781050" y="302567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29" name="TextBox 28"/>
          <p:cNvSpPr txBox="1"/>
          <p:nvPr/>
        </p:nvSpPr>
        <p:spPr>
          <a:xfrm>
            <a:off x="781050" y="362575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0" name="TextBox 29"/>
          <p:cNvSpPr txBox="1"/>
          <p:nvPr/>
        </p:nvSpPr>
        <p:spPr>
          <a:xfrm>
            <a:off x="781050" y="3982938"/>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1" name="TextBox 30"/>
          <p:cNvSpPr txBox="1"/>
          <p:nvPr/>
        </p:nvSpPr>
        <p:spPr>
          <a:xfrm>
            <a:off x="6462712" y="242560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2" name="TextBox 31"/>
          <p:cNvSpPr txBox="1"/>
          <p:nvPr/>
        </p:nvSpPr>
        <p:spPr>
          <a:xfrm>
            <a:off x="6462712" y="2782788"/>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3" name="TextBox 32"/>
          <p:cNvSpPr txBox="1"/>
          <p:nvPr/>
        </p:nvSpPr>
        <p:spPr>
          <a:xfrm>
            <a:off x="6462712" y="313997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4" name="TextBox 33"/>
          <p:cNvSpPr txBox="1"/>
          <p:nvPr/>
        </p:nvSpPr>
        <p:spPr>
          <a:xfrm>
            <a:off x="6462712" y="374005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5" name="TextBox 34"/>
          <p:cNvSpPr txBox="1"/>
          <p:nvPr/>
        </p:nvSpPr>
        <p:spPr>
          <a:xfrm>
            <a:off x="6462712" y="4097238"/>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115050"/>
            <a:ext cx="11125200" cy="304800"/>
          </a:xfrm>
          <a:prstGeom prst="rect">
            <a:avLst/>
          </a:prstGeom>
        </p:spPr>
      </p:pic>
      <p:pic>
        <p:nvPicPr>
          <p:cNvPr id="4" name="Picture 3" descr="image.png"/>
          <p:cNvPicPr>
            <a:picLocks noChangeAspect="1"/>
          </p:cNvPicPr>
          <p:nvPr/>
        </p:nvPicPr>
        <p:blipFill>
          <a:blip r:embed="rId4"/>
          <a:stretch>
            <a:fillRect/>
          </a:stretch>
        </p:blipFill>
        <p:spPr>
          <a:xfrm>
            <a:off x="533400" y="1352550"/>
            <a:ext cx="5443537" cy="4762500"/>
          </a:xfrm>
          <a:prstGeom prst="rect">
            <a:avLst/>
          </a:prstGeom>
        </p:spPr>
      </p:pic>
      <p:pic>
        <p:nvPicPr>
          <p:cNvPr id="5" name="Picture 4" descr="image.png"/>
          <p:cNvPicPr>
            <a:picLocks noChangeAspect="1"/>
          </p:cNvPicPr>
          <p:nvPr/>
        </p:nvPicPr>
        <p:blipFill>
          <a:blip r:embed="rId5"/>
          <a:stretch>
            <a:fillRect/>
          </a:stretch>
        </p:blipFill>
        <p:spPr>
          <a:xfrm>
            <a:off x="6215062" y="1352550"/>
            <a:ext cx="5443537" cy="4762500"/>
          </a:xfrm>
          <a:prstGeom prst="rect">
            <a:avLst/>
          </a:prstGeom>
        </p:spPr>
      </p:pic>
      <p:pic>
        <p:nvPicPr>
          <p:cNvPr id="6" name="Picture 5" descr="image.png"/>
          <p:cNvPicPr>
            <a:picLocks noChangeAspect="1"/>
          </p:cNvPicPr>
          <p:nvPr/>
        </p:nvPicPr>
        <p:blipFill>
          <a:blip r:embed="rId6"/>
          <a:stretch>
            <a:fillRect/>
          </a:stretch>
        </p:blipFill>
        <p:spPr>
          <a:xfrm>
            <a:off x="6424612" y="5157787"/>
            <a:ext cx="5053012" cy="776287"/>
          </a:xfrm>
          <a:prstGeom prst="rect">
            <a:avLst/>
          </a:prstGeom>
        </p:spPr>
      </p:pic>
      <p:sp>
        <p:nvSpPr>
          <p:cNvPr id="7" name="TextBox 6"/>
          <p:cNvSpPr txBox="1"/>
          <p:nvPr/>
        </p:nvSpPr>
        <p:spPr>
          <a:xfrm>
            <a:off x="533400" y="438150"/>
            <a:ext cx="5343525" cy="581025"/>
          </a:xfrm>
          <a:prstGeom prst="rect">
            <a:avLst/>
          </a:prstGeom>
          <a:noFill/>
        </p:spPr>
        <p:txBody>
          <a:bodyPr wrap="square" lIns="0" rIns="0" tIns="0" bIns="0" anchor="t">
            <a:spAutoFit/>
          </a:bodyPr>
          <a:lstStyle/>
          <a:p>
            <a:pPr algn="l"/>
            <a:r>
              <a:rPr b="0" sz="1200" i="0" u="none">
                <a:solidFill>
                  <a:srgbClr val="10B981"/>
                </a:solidFill>
                <a:latin typeface="Plus Jakarta Sans SemiBold"/>
              </a:rPr>
              <a:t>ROADMAP &amp; REFERENCES</a:t>
            </a:r>
          </a:p>
        </p:txBody>
      </p:sp>
      <p:pic>
        <p:nvPicPr>
          <p:cNvPr id="8" name="Picture 7" descr="image.png"/>
          <p:cNvPicPr>
            <a:picLocks noChangeAspect="1"/>
          </p:cNvPicPr>
          <p:nvPr/>
        </p:nvPicPr>
        <p:blipFill>
          <a:blip r:embed="rId7"/>
          <a:stretch>
            <a:fillRect/>
          </a:stretch>
        </p:blipFill>
        <p:spPr>
          <a:xfrm>
            <a:off x="10801350" y="742950"/>
            <a:ext cx="857250" cy="276225"/>
          </a:xfrm>
          <a:prstGeom prst="rect">
            <a:avLst/>
          </a:prstGeom>
        </p:spPr>
      </p:pic>
      <p:sp>
        <p:nvSpPr>
          <p:cNvPr id="9" name="TextBox 8"/>
          <p:cNvSpPr txBox="1"/>
          <p:nvPr/>
        </p:nvSpPr>
        <p:spPr>
          <a:xfrm>
            <a:off x="533400" y="6257925"/>
            <a:ext cx="2057400" cy="161925"/>
          </a:xfrm>
          <a:prstGeom prst="rect">
            <a:avLst/>
          </a:prstGeom>
          <a:noFill/>
        </p:spPr>
        <p:txBody>
          <a:bodyPr wrap="square" lIns="0" rIns="0" tIns="0" bIns="0" anchor="t">
            <a:spAutoFit/>
          </a:bodyPr>
          <a:lstStyle/>
          <a:p>
            <a:pPr algn="l"/>
            <a:r>
              <a:rPr b="0" sz="975" i="0" u="none">
                <a:solidFill>
                  <a:srgbClr val="9CA3AF"/>
                </a:solidFill>
                <a:latin typeface="JetBrains Mono"/>
              </a:rPr>
              <a:t>ADVANCED UNIX UTILITY SUITE</a:t>
            </a:r>
          </a:p>
        </p:txBody>
      </p:sp>
      <p:sp>
        <p:nvSpPr>
          <p:cNvPr id="10" name="TextBox 9"/>
          <p:cNvSpPr txBox="1"/>
          <p:nvPr/>
        </p:nvSpPr>
        <p:spPr>
          <a:xfrm>
            <a:off x="11125200" y="6257925"/>
            <a:ext cx="533400" cy="161925"/>
          </a:xfrm>
          <a:prstGeom prst="rect">
            <a:avLst/>
          </a:prstGeom>
          <a:noFill/>
        </p:spPr>
        <p:txBody>
          <a:bodyPr wrap="square" lIns="0" rIns="0" tIns="0" bIns="0" anchor="t">
            <a:spAutoFit/>
          </a:bodyPr>
          <a:lstStyle/>
          <a:p>
            <a:pPr algn="l"/>
            <a:r>
              <a:rPr b="0" sz="975" i="0" u="none">
                <a:solidFill>
                  <a:srgbClr val="38BDF8"/>
                </a:solidFill>
                <a:latin typeface="JetBrains Mono SemiBold"/>
              </a:rPr>
              <a:t>09 / 09</a:t>
            </a:r>
          </a:p>
        </p:txBody>
      </p:sp>
      <p:sp>
        <p:nvSpPr>
          <p:cNvPr id="11" name="TextBox 10"/>
          <p:cNvSpPr txBox="1"/>
          <p:nvPr/>
        </p:nvSpPr>
        <p:spPr>
          <a:xfrm>
            <a:off x="533400" y="638175"/>
            <a:ext cx="5610701" cy="381000"/>
          </a:xfrm>
          <a:prstGeom prst="rect">
            <a:avLst/>
          </a:prstGeom>
          <a:noFill/>
        </p:spPr>
        <p:txBody>
          <a:bodyPr wrap="square" lIns="0" rIns="0" tIns="0" bIns="0" anchor="t">
            <a:spAutoFit/>
          </a:bodyPr>
          <a:lstStyle/>
          <a:p>
            <a:pPr algn="l"/>
            <a:r>
              <a:rPr b="1" sz="2400" i="0" u="none">
                <a:solidFill>
                  <a:srgbClr val="F9FAFB"/>
                </a:solidFill>
                <a:latin typeface="Plus Jakarta Sans"/>
              </a:rPr>
              <a:t>Future Enhancements &amp; Bibliography</a:t>
            </a:r>
          </a:p>
        </p:txBody>
      </p:sp>
      <p:sp>
        <p:nvSpPr>
          <p:cNvPr id="12" name="TextBox 11"/>
          <p:cNvSpPr txBox="1"/>
          <p:nvPr/>
        </p:nvSpPr>
        <p:spPr>
          <a:xfrm>
            <a:off x="1009650" y="1533525"/>
            <a:ext cx="4786312" cy="219075"/>
          </a:xfrm>
          <a:prstGeom prst="rect">
            <a:avLst/>
          </a:prstGeom>
          <a:noFill/>
        </p:spPr>
        <p:txBody>
          <a:bodyPr wrap="square" lIns="0" rIns="0" tIns="0" bIns="0" anchor="ctr">
            <a:spAutoFit/>
          </a:bodyPr>
          <a:lstStyle/>
          <a:p>
            <a:pPr algn="l"/>
            <a:r>
              <a:rPr b="1" sz="1350" i="0" u="none">
                <a:solidFill>
                  <a:srgbClr val="10B981"/>
                </a:solidFill>
                <a:latin typeface="Plus Jakarta Sans"/>
              </a:rPr>
              <a:t>Future Enhancements</a:t>
            </a:r>
          </a:p>
        </p:txBody>
      </p:sp>
      <p:pic>
        <p:nvPicPr>
          <p:cNvPr id="13" name="Picture 12" descr="image.png"/>
          <p:cNvPicPr>
            <a:picLocks noChangeAspect="1"/>
          </p:cNvPicPr>
          <p:nvPr/>
        </p:nvPicPr>
        <p:blipFill>
          <a:blip r:embed="rId8"/>
          <a:stretch>
            <a:fillRect/>
          </a:stretch>
        </p:blipFill>
        <p:spPr>
          <a:xfrm>
            <a:off x="742950" y="1557337"/>
            <a:ext cx="171450" cy="171450"/>
          </a:xfrm>
          <a:prstGeom prst="rect">
            <a:avLst/>
          </a:prstGeom>
        </p:spPr>
      </p:pic>
      <p:sp>
        <p:nvSpPr>
          <p:cNvPr id="14" name="TextBox 13"/>
          <p:cNvSpPr txBox="1"/>
          <p:nvPr/>
        </p:nvSpPr>
        <p:spPr>
          <a:xfrm>
            <a:off x="990600" y="1866900"/>
            <a:ext cx="4805362" cy="200025"/>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Advanced Process Monitoring:</a:t>
            </a:r>
            <a:r>
              <a:rPr b="0" sz="1050" i="0" u="none">
                <a:solidFill>
                  <a:srgbClr val="D1D5DB"/>
                </a:solidFill>
                <a:latin typeface="Plus Jakarta Sans"/>
              </a:rPr>
              <a:t> Live CPU &amp; thread sampling</a:t>
            </a:r>
          </a:p>
        </p:txBody>
      </p:sp>
      <p:sp>
        <p:nvSpPr>
          <p:cNvPr id="15" name="TextBox 14"/>
          <p:cNvSpPr txBox="1"/>
          <p:nvPr/>
        </p:nvSpPr>
        <p:spPr>
          <a:xfrm>
            <a:off x="990600" y="2143125"/>
            <a:ext cx="4805362" cy="200025"/>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Interactive Process Tree:</a:t>
            </a:r>
            <a:r>
              <a:rPr b="0" sz="1050" i="0" u="none">
                <a:solidFill>
                  <a:srgbClr val="D1D5DB"/>
                </a:solidFill>
                <a:latin typeface="Plus Jakarta Sans"/>
              </a:rPr>
              <a:t> Graphical parent-child visualization</a:t>
            </a:r>
          </a:p>
        </p:txBody>
      </p:sp>
      <p:sp>
        <p:nvSpPr>
          <p:cNvPr id="16" name="TextBox 15"/>
          <p:cNvSpPr txBox="1"/>
          <p:nvPr/>
        </p:nvSpPr>
        <p:spPr>
          <a:xfrm>
            <a:off x="990600" y="2419350"/>
            <a:ext cx="4805362" cy="209550"/>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Memory Map Analysis:</a:t>
            </a:r>
            <a:r>
              <a:rPr b="0" sz="1050" i="0" u="none">
                <a:solidFill>
                  <a:srgbClr val="D1D5DB"/>
                </a:solidFill>
                <a:latin typeface="Plus Jakarta Sans"/>
              </a:rPr>
              <a:t> Detailed </a:t>
            </a:r>
            <a:r>
              <a:rPr b="0" sz="1050" i="0" u="none">
                <a:solidFill>
                  <a:srgbClr val="D1D5DB"/>
                </a:solidFill>
                <a:latin typeface="Plus Jakarta Sans"/>
              </a:rPr>
              <a:t>/proc/self/maps</a:t>
            </a:r>
            <a:r>
              <a:rPr b="0" sz="1050" i="0" u="none">
                <a:solidFill>
                  <a:srgbClr val="D1D5DB"/>
                </a:solidFill>
                <a:latin typeface="Plus Jakarta Sans"/>
              </a:rPr>
              <a:t> parser</a:t>
            </a:r>
          </a:p>
        </p:txBody>
      </p:sp>
      <p:sp>
        <p:nvSpPr>
          <p:cNvPr id="17" name="TextBox 16"/>
          <p:cNvSpPr txBox="1"/>
          <p:nvPr/>
        </p:nvSpPr>
        <p:spPr>
          <a:xfrm>
            <a:off x="990600" y="2705100"/>
            <a:ext cx="4805362" cy="200025"/>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Advanced IPC Monitoring:</a:t>
            </a:r>
            <a:r>
              <a:rPr b="0" sz="1050" i="0" u="none">
                <a:solidFill>
                  <a:srgbClr val="D1D5DB"/>
                </a:solidFill>
                <a:latin typeface="Plus Jakarta Sans"/>
              </a:rPr>
              <a:t> Shared memory &amp; message queues</a:t>
            </a:r>
          </a:p>
        </p:txBody>
      </p:sp>
      <p:sp>
        <p:nvSpPr>
          <p:cNvPr id="18" name="TextBox 17"/>
          <p:cNvSpPr txBox="1"/>
          <p:nvPr/>
        </p:nvSpPr>
        <p:spPr>
          <a:xfrm>
            <a:off x="990600" y="2981325"/>
            <a:ext cx="4805362" cy="200025"/>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File System Analysis:</a:t>
            </a:r>
            <a:r>
              <a:rPr b="0" sz="1050" i="0" u="none">
                <a:solidFill>
                  <a:srgbClr val="D1D5DB"/>
                </a:solidFill>
                <a:latin typeface="Plus Jakarta Sans"/>
              </a:rPr>
              <a:t> Disk inode &amp; block allocation view</a:t>
            </a:r>
          </a:p>
        </p:txBody>
      </p:sp>
      <p:sp>
        <p:nvSpPr>
          <p:cNvPr id="19" name="TextBox 18"/>
          <p:cNvSpPr txBox="1"/>
          <p:nvPr/>
        </p:nvSpPr>
        <p:spPr>
          <a:xfrm>
            <a:off x="990600" y="3257550"/>
            <a:ext cx="4805362" cy="200025"/>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Concurrency Visualizer:</a:t>
            </a:r>
            <a:r>
              <a:rPr b="0" sz="1050" i="0" u="none">
                <a:solidFill>
                  <a:srgbClr val="D1D5DB"/>
                </a:solidFill>
                <a:latin typeface="Plus Jakarta Sans"/>
              </a:rPr>
              <a:t> Live mutex lock contention tracker</a:t>
            </a:r>
          </a:p>
        </p:txBody>
      </p:sp>
      <p:sp>
        <p:nvSpPr>
          <p:cNvPr id="20" name="TextBox 19"/>
          <p:cNvSpPr txBox="1"/>
          <p:nvPr/>
        </p:nvSpPr>
        <p:spPr>
          <a:xfrm>
            <a:off x="990600" y="3533775"/>
            <a:ext cx="4805362" cy="209550"/>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Utility Reimplementations:</a:t>
            </a:r>
            <a:r>
              <a:rPr b="0" sz="1050" i="0" u="none">
                <a:solidFill>
                  <a:srgbClr val="D1D5DB"/>
                </a:solidFill>
                <a:latin typeface="Plus Jakarta Sans"/>
              </a:rPr>
              <a:t> Custom </a:t>
            </a:r>
            <a:r>
              <a:rPr b="0" sz="1050" i="0" u="none">
                <a:solidFill>
                  <a:srgbClr val="D1D5DB"/>
                </a:solidFill>
                <a:latin typeface="Plus Jakarta Sans"/>
              </a:rPr>
              <a:t>grep</a:t>
            </a:r>
            <a:r>
              <a:rPr b="0" sz="1050" i="0" u="none">
                <a:solidFill>
                  <a:srgbClr val="D1D5DB"/>
                </a:solidFill>
                <a:latin typeface="Plus Jakarta Sans"/>
              </a:rPr>
              <a:t> / </a:t>
            </a:r>
            <a:r>
              <a:rPr b="0" sz="1050" i="0" u="none">
                <a:solidFill>
                  <a:srgbClr val="D1D5DB"/>
                </a:solidFill>
                <a:latin typeface="Plus Jakarta Sans"/>
              </a:rPr>
              <a:t>find</a:t>
            </a:r>
            <a:r>
              <a:rPr b="0" sz="1050" i="0" u="none">
                <a:solidFill>
                  <a:srgbClr val="D1D5DB"/>
                </a:solidFill>
                <a:latin typeface="Plus Jakarta Sans"/>
              </a:rPr>
              <a:t> modules</a:t>
            </a:r>
          </a:p>
        </p:txBody>
      </p:sp>
      <p:sp>
        <p:nvSpPr>
          <p:cNvPr id="21" name="TextBox 20"/>
          <p:cNvSpPr txBox="1"/>
          <p:nvPr/>
        </p:nvSpPr>
        <p:spPr>
          <a:xfrm>
            <a:off x="990600" y="3819525"/>
            <a:ext cx="4805362" cy="200025"/>
          </a:xfrm>
          <a:prstGeom prst="rect">
            <a:avLst/>
          </a:prstGeom>
          <a:noFill/>
        </p:spPr>
        <p:txBody>
          <a:bodyPr wrap="square" lIns="0" rIns="0" tIns="0" bIns="0" anchor="t">
            <a:spAutoFit/>
          </a:bodyPr>
          <a:lstStyle/>
          <a:p>
            <a:pPr algn="l">
              <a:lnSpc>
                <a:spcPts val="1575"/>
              </a:lnSpc>
            </a:pPr>
            <a:r>
              <a:rPr b="1" sz="1050" i="0" u="none">
                <a:solidFill>
                  <a:srgbClr val="D1D5DB"/>
                </a:solidFill>
                <a:latin typeface="Plus Jakarta Sans"/>
              </a:rPr>
              <a:t>Exportable System Reports:</a:t>
            </a:r>
            <a:r>
              <a:rPr b="0" sz="1050" i="0" u="none">
                <a:solidFill>
                  <a:srgbClr val="D1D5DB"/>
                </a:solidFill>
                <a:latin typeface="Plus Jakarta Sans"/>
              </a:rPr>
              <a:t> Save system state as JSON/PDF</a:t>
            </a:r>
          </a:p>
        </p:txBody>
      </p:sp>
      <p:sp>
        <p:nvSpPr>
          <p:cNvPr id="22" name="TextBox 21"/>
          <p:cNvSpPr txBox="1"/>
          <p:nvPr/>
        </p:nvSpPr>
        <p:spPr>
          <a:xfrm>
            <a:off x="6672262" y="1533525"/>
            <a:ext cx="4805362" cy="219075"/>
          </a:xfrm>
          <a:prstGeom prst="rect">
            <a:avLst/>
          </a:prstGeom>
          <a:noFill/>
        </p:spPr>
        <p:txBody>
          <a:bodyPr wrap="square" lIns="0" rIns="0" tIns="0" bIns="0" anchor="ctr">
            <a:spAutoFit/>
          </a:bodyPr>
          <a:lstStyle/>
          <a:p>
            <a:pPr algn="l"/>
            <a:r>
              <a:rPr b="1" sz="1350" i="0" u="none">
                <a:solidFill>
                  <a:srgbClr val="38BDF8"/>
                </a:solidFill>
                <a:latin typeface="Plus Jakarta Sans"/>
              </a:rPr>
              <a:t>Bibliography &amp; References</a:t>
            </a:r>
          </a:p>
        </p:txBody>
      </p:sp>
      <p:sp>
        <p:nvSpPr>
          <p:cNvPr id="23" name="TextBox 22"/>
          <p:cNvSpPr txBox="1"/>
          <p:nvPr/>
        </p:nvSpPr>
        <p:spPr>
          <a:xfrm>
            <a:off x="6458307" y="5310187"/>
            <a:ext cx="4985623" cy="266700"/>
          </a:xfrm>
          <a:prstGeom prst="rect">
            <a:avLst/>
          </a:prstGeom>
          <a:noFill/>
        </p:spPr>
        <p:txBody>
          <a:bodyPr wrap="square" lIns="0" rIns="0" tIns="0" bIns="0" anchor="t">
            <a:spAutoFit/>
          </a:bodyPr>
          <a:lstStyle/>
          <a:p>
            <a:pPr algn="ctr"/>
            <a:r>
              <a:rPr b="0" sz="1650" i="0" u="none">
                <a:solidFill>
                  <a:srgbClr val="34D399"/>
                </a:solidFill>
                <a:latin typeface="Plus Jakarta Sans ExtraBold"/>
              </a:rPr>
              <a:t>THANK YOU</a:t>
            </a:r>
          </a:p>
        </p:txBody>
      </p:sp>
      <p:sp>
        <p:nvSpPr>
          <p:cNvPr id="24" name="TextBox 23"/>
          <p:cNvSpPr txBox="1"/>
          <p:nvPr/>
        </p:nvSpPr>
        <p:spPr>
          <a:xfrm>
            <a:off x="6577012" y="5595937"/>
            <a:ext cx="4748212" cy="185737"/>
          </a:xfrm>
          <a:prstGeom prst="rect">
            <a:avLst/>
          </a:prstGeom>
          <a:noFill/>
        </p:spPr>
        <p:txBody>
          <a:bodyPr wrap="square" lIns="0" rIns="0" tIns="0" bIns="0" anchor="t">
            <a:spAutoFit/>
          </a:bodyPr>
          <a:lstStyle/>
          <a:p>
            <a:pPr algn="ctr">
              <a:lnSpc>
                <a:spcPts val="1462"/>
              </a:lnSpc>
            </a:pPr>
            <a:r>
              <a:rPr b="0" sz="975" i="0" u="none">
                <a:solidFill>
                  <a:srgbClr val="9CA3AF"/>
                </a:solidFill>
                <a:latin typeface="Plus Jakarta Sans"/>
              </a:rPr>
              <a:t>Questions &amp; Discussion | OSSP Review 1</a:t>
            </a:r>
          </a:p>
        </p:txBody>
      </p:sp>
      <p:sp>
        <p:nvSpPr>
          <p:cNvPr id="25" name="TextBox 24"/>
          <p:cNvSpPr txBox="1"/>
          <p:nvPr/>
        </p:nvSpPr>
        <p:spPr>
          <a:xfrm>
            <a:off x="742950" y="186690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26" name="TextBox 25"/>
          <p:cNvSpPr txBox="1"/>
          <p:nvPr/>
        </p:nvSpPr>
        <p:spPr>
          <a:xfrm>
            <a:off x="742950" y="214312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27" name="TextBox 26"/>
          <p:cNvSpPr txBox="1"/>
          <p:nvPr/>
        </p:nvSpPr>
        <p:spPr>
          <a:xfrm>
            <a:off x="742950" y="241935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28" name="TextBox 27"/>
          <p:cNvSpPr txBox="1"/>
          <p:nvPr/>
        </p:nvSpPr>
        <p:spPr>
          <a:xfrm>
            <a:off x="742950" y="270510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29" name="TextBox 28"/>
          <p:cNvSpPr txBox="1"/>
          <p:nvPr/>
        </p:nvSpPr>
        <p:spPr>
          <a:xfrm>
            <a:off x="742950" y="298132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0" name="TextBox 29"/>
          <p:cNvSpPr txBox="1"/>
          <p:nvPr/>
        </p:nvSpPr>
        <p:spPr>
          <a:xfrm>
            <a:off x="742950" y="325755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1" name="TextBox 30"/>
          <p:cNvSpPr txBox="1"/>
          <p:nvPr/>
        </p:nvSpPr>
        <p:spPr>
          <a:xfrm>
            <a:off x="742950" y="353377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32" name="TextBox 31"/>
          <p:cNvSpPr txBox="1"/>
          <p:nvPr/>
        </p:nvSpPr>
        <p:spPr>
          <a:xfrm>
            <a:off x="742950" y="381952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pic>
        <p:nvPicPr>
          <p:cNvPr id="33" name="Picture 32" descr="image.png"/>
          <p:cNvPicPr>
            <a:picLocks noChangeAspect="1"/>
          </p:cNvPicPr>
          <p:nvPr/>
        </p:nvPicPr>
        <p:blipFill>
          <a:blip r:embed="rId9"/>
          <a:stretch>
            <a:fillRect/>
          </a:stretch>
        </p:blipFill>
        <p:spPr>
          <a:xfrm>
            <a:off x="6424612" y="1557337"/>
            <a:ext cx="152400" cy="171450"/>
          </a:xfrm>
          <a:prstGeom prst="rect">
            <a:avLst/>
          </a:prstGeom>
        </p:spPr>
      </p:pic>
      <p:sp>
        <p:nvSpPr>
          <p:cNvPr id="34" name="TextBox 33"/>
          <p:cNvSpPr txBox="1"/>
          <p:nvPr/>
        </p:nvSpPr>
        <p:spPr>
          <a:xfrm>
            <a:off x="6672262" y="1866900"/>
            <a:ext cx="4805362" cy="371475"/>
          </a:xfrm>
          <a:prstGeom prst="rect">
            <a:avLst/>
          </a:prstGeom>
          <a:noFill/>
        </p:spPr>
        <p:txBody>
          <a:bodyPr wrap="square" lIns="0" rIns="0" tIns="0" bIns="0" anchor="t">
            <a:spAutoFit/>
          </a:bodyPr>
          <a:lstStyle/>
          <a:p>
            <a:pPr algn="l">
              <a:lnSpc>
                <a:spcPts val="1462"/>
              </a:lnSpc>
            </a:pPr>
            <a:r>
              <a:rPr b="0" sz="975" i="0" u="none">
                <a:solidFill>
                  <a:srgbClr val="D1D5DB"/>
                </a:solidFill>
                <a:latin typeface="Plus Jakarta Sans"/>
              </a:rPr>
              <a:t>Abraham Silberschatz, Peter B. Galvin &amp; Greg Gagne — </a:t>
            </a:r>
            <a:r>
              <a:rPr b="0" sz="975" i="1" u="none">
                <a:solidFill>
                  <a:srgbClr val="D1D5DB"/>
                </a:solidFill>
                <a:latin typeface="Plus Jakarta Sans"/>
              </a:rPr>
              <a:t>Operating System Concepts (10th Ed.)</a:t>
            </a:r>
          </a:p>
        </p:txBody>
      </p:sp>
      <p:sp>
        <p:nvSpPr>
          <p:cNvPr id="35" name="TextBox 34"/>
          <p:cNvSpPr txBox="1"/>
          <p:nvPr/>
        </p:nvSpPr>
        <p:spPr>
          <a:xfrm>
            <a:off x="6672262" y="2333625"/>
            <a:ext cx="4805362" cy="371475"/>
          </a:xfrm>
          <a:prstGeom prst="rect">
            <a:avLst/>
          </a:prstGeom>
          <a:noFill/>
        </p:spPr>
        <p:txBody>
          <a:bodyPr wrap="square" lIns="0" rIns="0" tIns="0" bIns="0" anchor="t">
            <a:spAutoFit/>
          </a:bodyPr>
          <a:lstStyle/>
          <a:p>
            <a:pPr algn="l">
              <a:lnSpc>
                <a:spcPts val="1462"/>
              </a:lnSpc>
            </a:pPr>
            <a:r>
              <a:rPr b="0" sz="975" i="0" u="none">
                <a:solidFill>
                  <a:srgbClr val="D1D5DB"/>
                </a:solidFill>
                <a:latin typeface="Plus Jakarta Sans"/>
              </a:rPr>
              <a:t>W. Richard Stevens &amp; Stephen A. Rago — </a:t>
            </a:r>
            <a:r>
              <a:rPr b="0" sz="975" i="1" u="none">
                <a:solidFill>
                  <a:srgbClr val="D1D5DB"/>
                </a:solidFill>
                <a:latin typeface="Plus Jakarta Sans"/>
              </a:rPr>
              <a:t>Advanced Programming in the UNIX Environment (3rd Ed.)</a:t>
            </a:r>
          </a:p>
        </p:txBody>
      </p:sp>
      <p:sp>
        <p:nvSpPr>
          <p:cNvPr id="36" name="TextBox 35"/>
          <p:cNvSpPr txBox="1"/>
          <p:nvPr/>
        </p:nvSpPr>
        <p:spPr>
          <a:xfrm>
            <a:off x="6672262" y="2800350"/>
            <a:ext cx="4805362" cy="185737"/>
          </a:xfrm>
          <a:prstGeom prst="rect">
            <a:avLst/>
          </a:prstGeom>
          <a:noFill/>
        </p:spPr>
        <p:txBody>
          <a:bodyPr wrap="square" lIns="0" rIns="0" tIns="0" bIns="0" anchor="t">
            <a:spAutoFit/>
          </a:bodyPr>
          <a:lstStyle/>
          <a:p>
            <a:pPr algn="l">
              <a:lnSpc>
                <a:spcPts val="1462"/>
              </a:lnSpc>
            </a:pPr>
            <a:r>
              <a:rPr b="0" sz="975" i="0" u="none">
                <a:solidFill>
                  <a:srgbClr val="D1D5DB"/>
                </a:solidFill>
                <a:latin typeface="Plus Jakarta Sans"/>
              </a:rPr>
              <a:t>Michael Kerrisk — </a:t>
            </a:r>
            <a:r>
              <a:rPr b="0" sz="975" i="1" u="none">
                <a:solidFill>
                  <a:srgbClr val="D1D5DB"/>
                </a:solidFill>
                <a:latin typeface="Plus Jakarta Sans"/>
              </a:rPr>
              <a:t>The Linux Programming Interface</a:t>
            </a:r>
          </a:p>
        </p:txBody>
      </p:sp>
      <p:sp>
        <p:nvSpPr>
          <p:cNvPr id="37" name="TextBox 36"/>
          <p:cNvSpPr txBox="1"/>
          <p:nvPr/>
        </p:nvSpPr>
        <p:spPr>
          <a:xfrm>
            <a:off x="6672262" y="3081337"/>
            <a:ext cx="4805362" cy="185737"/>
          </a:xfrm>
          <a:prstGeom prst="rect">
            <a:avLst/>
          </a:prstGeom>
          <a:noFill/>
        </p:spPr>
        <p:txBody>
          <a:bodyPr wrap="square" lIns="0" rIns="0" tIns="0" bIns="0" anchor="t">
            <a:spAutoFit/>
          </a:bodyPr>
          <a:lstStyle/>
          <a:p>
            <a:pPr algn="l">
              <a:lnSpc>
                <a:spcPts val="1462"/>
              </a:lnSpc>
            </a:pPr>
            <a:r>
              <a:rPr b="0" sz="975" i="0" u="none">
                <a:solidFill>
                  <a:srgbClr val="D1D5DB"/>
                </a:solidFill>
                <a:latin typeface="Plus Jakarta Sans"/>
              </a:rPr>
              <a:t>Robert Love — </a:t>
            </a:r>
            <a:r>
              <a:rPr b="0" sz="975" i="1" u="none">
                <a:solidFill>
                  <a:srgbClr val="D1D5DB"/>
                </a:solidFill>
                <a:latin typeface="Plus Jakarta Sans"/>
              </a:rPr>
              <a:t>Linux System Programming (2nd Ed.)</a:t>
            </a:r>
          </a:p>
        </p:txBody>
      </p:sp>
      <p:sp>
        <p:nvSpPr>
          <p:cNvPr id="38" name="TextBox 37"/>
          <p:cNvSpPr txBox="1"/>
          <p:nvPr/>
        </p:nvSpPr>
        <p:spPr>
          <a:xfrm>
            <a:off x="6672262" y="3362325"/>
            <a:ext cx="4805362" cy="185737"/>
          </a:xfrm>
          <a:prstGeom prst="rect">
            <a:avLst/>
          </a:prstGeom>
          <a:noFill/>
        </p:spPr>
        <p:txBody>
          <a:bodyPr wrap="square" lIns="0" rIns="0" tIns="0" bIns="0" anchor="t">
            <a:spAutoFit/>
          </a:bodyPr>
          <a:lstStyle/>
          <a:p>
            <a:pPr algn="l">
              <a:lnSpc>
                <a:spcPts val="1462"/>
              </a:lnSpc>
            </a:pPr>
            <a:r>
              <a:rPr b="0" sz="975" i="0" u="none">
                <a:solidFill>
                  <a:srgbClr val="D1D5DB"/>
                </a:solidFill>
                <a:latin typeface="Plus Jakarta Sans"/>
              </a:rPr>
              <a:t>Linux Programmer's Manual (POSIX System Call Specifications)</a:t>
            </a:r>
          </a:p>
        </p:txBody>
      </p:sp>
      <p:sp>
        <p:nvSpPr>
          <p:cNvPr id="39" name="TextBox 38"/>
          <p:cNvSpPr txBox="1"/>
          <p:nvPr/>
        </p:nvSpPr>
        <p:spPr>
          <a:xfrm>
            <a:off x="6424612" y="186690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40" name="TextBox 39"/>
          <p:cNvSpPr txBox="1"/>
          <p:nvPr/>
        </p:nvSpPr>
        <p:spPr>
          <a:xfrm>
            <a:off x="6424612" y="233362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41" name="TextBox 40"/>
          <p:cNvSpPr txBox="1"/>
          <p:nvPr/>
        </p:nvSpPr>
        <p:spPr>
          <a:xfrm>
            <a:off x="6424612" y="2800350"/>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42" name="TextBox 41"/>
          <p:cNvSpPr txBox="1"/>
          <p:nvPr/>
        </p:nvSpPr>
        <p:spPr>
          <a:xfrm>
            <a:off x="6424612" y="3081337"/>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
        <p:nvSpPr>
          <p:cNvPr id="43" name="TextBox 42"/>
          <p:cNvSpPr txBox="1"/>
          <p:nvPr/>
        </p:nvSpPr>
        <p:spPr>
          <a:xfrm>
            <a:off x="6424612" y="3362325"/>
            <a:ext cx="123825" cy="200025"/>
          </a:xfrm>
          <a:prstGeom prst="rect">
            <a:avLst/>
          </a:prstGeom>
          <a:noFill/>
        </p:spPr>
        <p:txBody>
          <a:bodyPr wrap="square" lIns="0" rIns="0" tIns="0" bIns="0" anchor="t">
            <a:spAutoFit/>
          </a:bodyPr>
          <a:lstStyle/>
          <a:p>
            <a:pPr algn="l">
              <a:lnSpc>
                <a:spcPts val="1575"/>
              </a:lnSpc>
            </a:pPr>
            <a:r>
              <a:rPr b="0" sz="1050" i="0" u="none">
                <a:solidFill>
                  <a:srgbClr val="10B981"/>
                </a:solidFill>
                <a:latin typeface="Plus Jakarta Sans"/>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