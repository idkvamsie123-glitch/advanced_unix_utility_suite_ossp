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tha Sai srinath" userId="0b1a24ea3b073403" providerId="LiveId" clId="{A60CC14B-0989-47CC-8348-D64F060EF496}"/>
    <pc:docChg chg="modSld">
      <pc:chgData name="Kotha Sai srinath" userId="0b1a24ea3b073403" providerId="LiveId" clId="{A60CC14B-0989-47CC-8348-D64F060EF496}" dt="2026-08-21T08:24:12.132" v="15" actId="20577"/>
      <pc:docMkLst>
        <pc:docMk/>
      </pc:docMkLst>
      <pc:sldChg chg="modSp mod">
        <pc:chgData name="Kotha Sai srinath" userId="0b1a24ea3b073403" providerId="LiveId" clId="{A60CC14B-0989-47CC-8348-D64F060EF496}" dt="2026-08-21T08:24:12.132" v="15" actId="20577"/>
        <pc:sldMkLst>
          <pc:docMk/>
          <pc:sldMk cId="0" sldId="256"/>
        </pc:sldMkLst>
        <pc:spChg chg="mod">
          <ac:chgData name="Kotha Sai srinath" userId="0b1a24ea3b073403" providerId="LiveId" clId="{A60CC14B-0989-47CC-8348-D64F060EF496}" dt="2026-08-21T08:24:12.132" v="15" actId="20577"/>
          <ac:spMkLst>
            <pc:docMk/>
            <pc:sldMk cId="0" sldId="256"/>
            <ac:spMk id="1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7.png"/><Relationship Id="rId2" Type="http://schemas.openxmlformats.org/officeDocument/2006/relationships/image" Target="../media/image8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6.png"/><Relationship Id="rId3" Type="http://schemas.openxmlformats.org/officeDocument/2006/relationships/image" Target="../media/image22.png"/><Relationship Id="rId21" Type="http://schemas.openxmlformats.org/officeDocument/2006/relationships/image" Target="../media/image39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5.png"/><Relationship Id="rId2" Type="http://schemas.openxmlformats.org/officeDocument/2006/relationships/image" Target="../media/image1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24" Type="http://schemas.openxmlformats.org/officeDocument/2006/relationships/image" Target="../media/image42.png"/><Relationship Id="rId5" Type="http://schemas.openxmlformats.org/officeDocument/2006/relationships/image" Target="../media/image24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10" Type="http://schemas.openxmlformats.org/officeDocument/2006/relationships/image" Target="../media/image29.png"/><Relationship Id="rId19" Type="http://schemas.openxmlformats.org/officeDocument/2006/relationships/image" Target="../media/image37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5.png"/><Relationship Id="rId22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image" Target="../media/image58.png"/><Relationship Id="rId26" Type="http://schemas.openxmlformats.org/officeDocument/2006/relationships/image" Target="../media/image66.png"/><Relationship Id="rId3" Type="http://schemas.openxmlformats.org/officeDocument/2006/relationships/image" Target="../media/image44.png"/><Relationship Id="rId21" Type="http://schemas.openxmlformats.org/officeDocument/2006/relationships/image" Target="../media/image61.png"/><Relationship Id="rId34" Type="http://schemas.openxmlformats.org/officeDocument/2006/relationships/image" Target="../media/image7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7.png"/><Relationship Id="rId25" Type="http://schemas.openxmlformats.org/officeDocument/2006/relationships/image" Target="../media/image65.png"/><Relationship Id="rId33" Type="http://schemas.openxmlformats.org/officeDocument/2006/relationships/image" Target="../media/image73.png"/><Relationship Id="rId2" Type="http://schemas.openxmlformats.org/officeDocument/2006/relationships/image" Target="../media/image43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29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24" Type="http://schemas.openxmlformats.org/officeDocument/2006/relationships/image" Target="../media/image64.png"/><Relationship Id="rId32" Type="http://schemas.openxmlformats.org/officeDocument/2006/relationships/image" Target="../media/image72.png"/><Relationship Id="rId5" Type="http://schemas.openxmlformats.org/officeDocument/2006/relationships/image" Target="../media/image46.png"/><Relationship Id="rId15" Type="http://schemas.openxmlformats.org/officeDocument/2006/relationships/image" Target="../media/image55.png"/><Relationship Id="rId23" Type="http://schemas.openxmlformats.org/officeDocument/2006/relationships/image" Target="../media/image63.png"/><Relationship Id="rId28" Type="http://schemas.openxmlformats.org/officeDocument/2006/relationships/image" Target="../media/image68.png"/><Relationship Id="rId10" Type="http://schemas.openxmlformats.org/officeDocument/2006/relationships/image" Target="../media/image51.png"/><Relationship Id="rId19" Type="http://schemas.openxmlformats.org/officeDocument/2006/relationships/image" Target="../media/image59.png"/><Relationship Id="rId31" Type="http://schemas.openxmlformats.org/officeDocument/2006/relationships/image" Target="../media/image7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4.png"/><Relationship Id="rId22" Type="http://schemas.openxmlformats.org/officeDocument/2006/relationships/image" Target="../media/image62.png"/><Relationship Id="rId27" Type="http://schemas.openxmlformats.org/officeDocument/2006/relationships/image" Target="../media/image67.png"/><Relationship Id="rId30" Type="http://schemas.openxmlformats.org/officeDocument/2006/relationships/image" Target="../media/image70.png"/><Relationship Id="rId8" Type="http://schemas.openxmlformats.org/officeDocument/2006/relationships/image" Target="../media/image4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4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3.png"/><Relationship Id="rId2" Type="http://schemas.openxmlformats.org/officeDocument/2006/relationships/image" Target="../media/image8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5.png"/><Relationship Id="rId5" Type="http://schemas.openxmlformats.org/officeDocument/2006/relationships/image" Target="../media/image77.png"/><Relationship Id="rId15" Type="http://schemas.openxmlformats.org/officeDocument/2006/relationships/image" Target="../media/image86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9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5.png"/><Relationship Id="rId4" Type="http://schemas.openxmlformats.org/officeDocument/2006/relationships/image" Target="../media/image8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1.png"/><Relationship Id="rId18" Type="http://schemas.openxmlformats.org/officeDocument/2006/relationships/image" Target="../media/image106.png"/><Relationship Id="rId26" Type="http://schemas.openxmlformats.org/officeDocument/2006/relationships/image" Target="../media/image114.png"/><Relationship Id="rId3" Type="http://schemas.openxmlformats.org/officeDocument/2006/relationships/image" Target="../media/image92.png"/><Relationship Id="rId21" Type="http://schemas.openxmlformats.org/officeDocument/2006/relationships/image" Target="../media/image109.png"/><Relationship Id="rId7" Type="http://schemas.openxmlformats.org/officeDocument/2006/relationships/image" Target="../media/image96.png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5" Type="http://schemas.openxmlformats.org/officeDocument/2006/relationships/image" Target="../media/image113.png"/><Relationship Id="rId2" Type="http://schemas.openxmlformats.org/officeDocument/2006/relationships/image" Target="../media/image1.png"/><Relationship Id="rId16" Type="http://schemas.openxmlformats.org/officeDocument/2006/relationships/image" Target="../media/image104.png"/><Relationship Id="rId20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11" Type="http://schemas.openxmlformats.org/officeDocument/2006/relationships/image" Target="../media/image5.png"/><Relationship Id="rId24" Type="http://schemas.openxmlformats.org/officeDocument/2006/relationships/image" Target="../media/image112.png"/><Relationship Id="rId5" Type="http://schemas.openxmlformats.org/officeDocument/2006/relationships/image" Target="../media/image94.png"/><Relationship Id="rId15" Type="http://schemas.openxmlformats.org/officeDocument/2006/relationships/image" Target="../media/image103.png"/><Relationship Id="rId23" Type="http://schemas.openxmlformats.org/officeDocument/2006/relationships/image" Target="../media/image111.png"/><Relationship Id="rId10" Type="http://schemas.openxmlformats.org/officeDocument/2006/relationships/image" Target="../media/image99.png"/><Relationship Id="rId19" Type="http://schemas.openxmlformats.org/officeDocument/2006/relationships/image" Target="../media/image107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02.png"/><Relationship Id="rId22" Type="http://schemas.openxmlformats.org/officeDocument/2006/relationships/image" Target="../media/image110.png"/><Relationship Id="rId27" Type="http://schemas.openxmlformats.org/officeDocument/2006/relationships/image" Target="../media/image1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29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12" Type="http://schemas.openxmlformats.org/officeDocument/2006/relationships/image" Target="../media/image1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png"/><Relationship Id="rId11" Type="http://schemas.openxmlformats.org/officeDocument/2006/relationships/image" Target="../media/image127.png"/><Relationship Id="rId5" Type="http://schemas.openxmlformats.org/officeDocument/2006/relationships/image" Target="../media/image122.png"/><Relationship Id="rId15" Type="http://schemas.openxmlformats.org/officeDocument/2006/relationships/image" Target="../media/image131.png"/><Relationship Id="rId10" Type="http://schemas.openxmlformats.org/officeDocument/2006/relationships/image" Target="../media/image5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Relationship Id="rId14" Type="http://schemas.openxmlformats.org/officeDocument/2006/relationships/image" Target="../media/image1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2.png"/><Relationship Id="rId3" Type="http://schemas.openxmlformats.org/officeDocument/2006/relationships/image" Target="../media/image133.png"/><Relationship Id="rId7" Type="http://schemas.openxmlformats.org/officeDocument/2006/relationships/image" Target="../media/image137.png"/><Relationship Id="rId12" Type="http://schemas.openxmlformats.org/officeDocument/2006/relationships/image" Target="../media/image5.png"/><Relationship Id="rId2" Type="http://schemas.openxmlformats.org/officeDocument/2006/relationships/image" Target="../media/image132.png"/><Relationship Id="rId16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5" Type="http://schemas.openxmlformats.org/officeDocument/2006/relationships/image" Target="../media/image135.png"/><Relationship Id="rId15" Type="http://schemas.openxmlformats.org/officeDocument/2006/relationships/image" Target="../media/image144.png"/><Relationship Id="rId10" Type="http://schemas.openxmlformats.org/officeDocument/2006/relationships/image" Target="../media/image140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Relationship Id="rId14" Type="http://schemas.openxmlformats.org/officeDocument/2006/relationships/image" Target="../media/image1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0"/>
            <a:ext cx="4762500" cy="4762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33375"/>
            <a:ext cx="3672929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850" y="352425"/>
            <a:ext cx="3057525" cy="285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6210300"/>
            <a:ext cx="11334750" cy="3143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625" y="6362700"/>
            <a:ext cx="44386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Fira Code"/>
              </a:rPr>
              <a:t>Operating Systems / OSSP  Review 2 Progress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29975" y="6362700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Fira Code SemiBold"/>
              </a:rPr>
              <a:t>01</a:t>
            </a:r>
            <a:r>
              <a:rPr sz="975" b="0" i="0" u="none">
                <a:solidFill>
                  <a:srgbClr val="64748B"/>
                </a:solidFill>
                <a:latin typeface="Fira Code"/>
              </a:rPr>
              <a:t> / 10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00050"/>
            <a:ext cx="148679" cy="114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8725" y="447675"/>
            <a:ext cx="95250" cy="95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8625" y="1465411"/>
            <a:ext cx="6325790" cy="963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95"/>
              </a:lnSpc>
            </a:pPr>
            <a:r>
              <a:rPr sz="3450" b="0" i="0" u="none" dirty="0">
                <a:solidFill>
                  <a:srgbClr val="F8FAFC"/>
                </a:solidFill>
                <a:latin typeface="Inter ExtraBold"/>
              </a:rPr>
              <a:t>ADVANCED UNIX</a:t>
            </a:r>
            <a:r>
              <a:rPr dirty="0"/>
              <a:t>
</a:t>
            </a:r>
            <a:r>
              <a:rPr sz="3450" b="0" i="0" u="none" dirty="0">
                <a:solidFill>
                  <a:srgbClr val="38BDF8"/>
                </a:solidFill>
                <a:latin typeface="Inter ExtraBold"/>
              </a:rPr>
              <a:t>UTILITY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960" y="2478796"/>
            <a:ext cx="602456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94A3B8"/>
                </a:solidFill>
                <a:latin typeface="Inter Medium"/>
              </a:rPr>
              <a:t>Integrated Linux System Programming &amp; OS Utility Toolkit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5730" y="2831477"/>
            <a:ext cx="5760720" cy="2908923"/>
          </a:xfrm>
          <a:prstGeom prst="roundRect">
            <a:avLst/>
          </a:prstGeom>
          <a:solidFill>
            <a:srgbClr val="0D1B2E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>
              <a:spcAft>
                <a:spcPts val="1000"/>
              </a:spcAft>
              <a:defRPr sz="1300" b="1">
                <a:solidFill>
                  <a:srgbClr val="00E5FF"/>
                </a:solidFill>
                <a:latin typeface="Segoe UI"/>
              </a:defRPr>
            </a:pPr>
            <a:r>
              <a:rPr dirty="0"/>
              <a:t>TEAM MEMBERS</a:t>
            </a:r>
            <a:endParaRPr lang="en-US" dirty="0"/>
          </a:p>
          <a:p>
            <a:pPr>
              <a:spcAft>
                <a:spcPts val="1000"/>
              </a:spcAft>
              <a:defRPr sz="1300" b="1">
                <a:solidFill>
                  <a:srgbClr val="00E5FF"/>
                </a:solidFill>
                <a:latin typeface="Segoe UI"/>
              </a:defRPr>
            </a:pPr>
            <a:r>
              <a:rPr lang="en-IN" sz="1200" dirty="0">
                <a:solidFill>
                  <a:schemeClr val="accent1"/>
                </a:solidFill>
                <a:latin typeface="Consolas" panose="020B0609020204030204" pitchFamily="49" charset="0"/>
              </a:rPr>
              <a:t>2610030236</a:t>
            </a:r>
            <a:r>
              <a:rPr lang="en-IN" dirty="0"/>
              <a:t>         </a:t>
            </a:r>
            <a:r>
              <a:rPr lang="en-IN" sz="1200" dirty="0">
                <a:solidFill>
                  <a:schemeClr val="bg1"/>
                </a:solidFill>
              </a:rPr>
              <a:t>IDK VAMSIE</a:t>
            </a:r>
            <a:endParaRPr sz="1200" dirty="0">
              <a:solidFill>
                <a:schemeClr val="bg1"/>
              </a:solidFill>
            </a:endParaRP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chemeClr val="accent1"/>
                </a:solidFill>
                <a:latin typeface="Consolas"/>
              </a:rPr>
              <a:t>2510030261</a:t>
            </a:r>
            <a:r>
              <a:rPr sz="1200" b="1" dirty="0">
                <a:solidFill>
                  <a:srgbClr val="38BDF8"/>
                </a:solidFill>
                <a:latin typeface="Consolas"/>
              </a:rPr>
              <a:t>     </a:t>
            </a:r>
            <a:r>
              <a:rPr sz="1200" b="1" dirty="0">
                <a:solidFill>
                  <a:srgbClr val="FFFFFF"/>
                </a:solidFill>
                <a:latin typeface="Segoe UI"/>
              </a:rPr>
              <a:t>K Sai Srinath</a:t>
            </a:r>
            <a:endParaRPr lang="en-US" sz="1200" b="1" dirty="0">
              <a:solidFill>
                <a:srgbClr val="FFFFFF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lang="en-US" sz="1200" b="1" dirty="0">
              <a:solidFill>
                <a:srgbClr val="FFFFFF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lang="en-US" sz="1200" b="1" dirty="0">
                <a:solidFill>
                  <a:schemeClr val="accent1"/>
                </a:solidFill>
                <a:latin typeface="Consolas" panose="020B0609020204030204" pitchFamily="49" charset="0"/>
              </a:rPr>
              <a:t>2510030041</a:t>
            </a:r>
            <a:r>
              <a:rPr lang="en-US" sz="1200" b="1" dirty="0">
                <a:solidFill>
                  <a:srgbClr val="FFFFFF"/>
                </a:solidFill>
                <a:latin typeface="Segoe UI"/>
              </a:rPr>
              <a:t>          KEERTHANA V</a:t>
            </a:r>
          </a:p>
          <a:p>
            <a:pPr>
              <a:spcAft>
                <a:spcPts val="400"/>
              </a:spcAft>
            </a:pPr>
            <a:br>
              <a:rPr lang="en-US" sz="1200" b="1" dirty="0">
                <a:solidFill>
                  <a:srgbClr val="FFFFFF"/>
                </a:solidFill>
                <a:latin typeface="Segoe UI"/>
              </a:rPr>
            </a:br>
            <a:r>
              <a:rPr lang="en-US" sz="1200" b="1" dirty="0">
                <a:solidFill>
                  <a:schemeClr val="accent1"/>
                </a:solidFill>
                <a:latin typeface="Consolas" panose="020B0609020204030204" pitchFamily="49" charset="0"/>
              </a:rPr>
              <a:t>2510030228</a:t>
            </a:r>
            <a:r>
              <a:rPr lang="en-US" sz="1200" b="1" dirty="0">
                <a:solidFill>
                  <a:srgbClr val="FFFFFF"/>
                </a:solidFill>
                <a:latin typeface="Segoe UI"/>
              </a:rPr>
              <a:t>          KATKAM AKHILA</a:t>
            </a:r>
            <a:endParaRPr sz="1200" b="1" dirty="0">
              <a:solidFill>
                <a:srgbClr val="FFFFFF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800" dirty="0">
                <a:solidFill>
                  <a:srgbClr val="1E3A5F"/>
                </a:solidFill>
                <a:latin typeface="Consolas"/>
              </a:rPr>
              <a:t>──────────────────────────────────────────</a:t>
            </a:r>
          </a:p>
          <a:p>
            <a:pPr>
              <a:spcAft>
                <a:spcPts val="300"/>
              </a:spcAft>
            </a:pPr>
            <a:r>
              <a:rPr sz="1100" dirty="0">
                <a:solidFill>
                  <a:srgbClr val="94A3B8"/>
                </a:solidFill>
                <a:latin typeface="Segoe UI"/>
              </a:rPr>
              <a:t>Department      </a:t>
            </a:r>
            <a:r>
              <a:rPr sz="1100" b="1" dirty="0">
                <a:solidFill>
                  <a:srgbClr val="FFFFFF"/>
                </a:solidFill>
                <a:latin typeface="Segoe UI"/>
              </a:rPr>
              <a:t>Computer Science &amp; Engineering</a:t>
            </a:r>
          </a:p>
          <a:p>
            <a:pPr>
              <a:spcAft>
                <a:spcPts val="300"/>
              </a:spcAft>
            </a:pPr>
            <a:r>
              <a:rPr sz="1100" dirty="0">
                <a:solidFill>
                  <a:srgbClr val="94A3B8"/>
                </a:solidFill>
                <a:latin typeface="Segoe UI"/>
              </a:rPr>
              <a:t>Review          </a:t>
            </a:r>
            <a:r>
              <a:rPr sz="1100" b="1" dirty="0">
                <a:solidFill>
                  <a:srgbClr val="FFFFFF"/>
                </a:solidFill>
                <a:latin typeface="Segoe UI"/>
              </a:rPr>
              <a:t>OSSP — Review 2</a:t>
            </a:r>
          </a:p>
          <a:p>
            <a:pPr>
              <a:spcAft>
                <a:spcPts val="300"/>
              </a:spcAft>
            </a:pPr>
            <a:r>
              <a:rPr sz="1100" dirty="0">
                <a:solidFill>
                  <a:srgbClr val="94A3B8"/>
                </a:solidFill>
                <a:latin typeface="Segoe UI"/>
              </a:rPr>
              <a:t>Academic </a:t>
            </a:r>
            <a:r>
              <a:rPr sz="1100">
                <a:solidFill>
                  <a:srgbClr val="94A3B8"/>
                </a:solidFill>
                <a:latin typeface="Segoe UI"/>
              </a:rPr>
              <a:t>Year   </a:t>
            </a:r>
            <a:r>
              <a:rPr sz="1100" b="1">
                <a:solidFill>
                  <a:srgbClr val="FFFFFF"/>
                </a:solidFill>
                <a:latin typeface="Segoe UI"/>
              </a:rPr>
              <a:t>202</a:t>
            </a:r>
            <a:r>
              <a:rPr lang="en-US" sz="1100" b="1">
                <a:solidFill>
                  <a:srgbClr val="FFFFFF"/>
                </a:solidFill>
                <a:latin typeface="Segoe UI"/>
              </a:rPr>
              <a:t>6 - 2027</a:t>
            </a:r>
            <a:endParaRPr sz="11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0" y="1737360"/>
            <a:ext cx="5349240" cy="4343400"/>
          </a:xfrm>
          <a:prstGeom prst="roundRect">
            <a:avLst/>
          </a:prstGeom>
          <a:solidFill>
            <a:srgbClr val="0D1B2E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ctr"/>
          <a:lstStyle/>
          <a:p>
            <a:pPr>
              <a:spcAft>
                <a:spcPts val="1200"/>
              </a:spcAft>
              <a:defRPr sz="1300" b="1">
                <a:solidFill>
                  <a:srgbClr val="00E5FF"/>
                </a:solidFill>
                <a:latin typeface="Segoe UI"/>
              </a:defRPr>
            </a:pPr>
            <a:r>
              <a:t>⚡ SYSTEM CAPABILITIES &amp; SUITE ARCHITECTURE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🖥️  SYSTEM INFORMATION MODULE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  Kernel metadata &amp; CPU diagnostics via uname() &amp; sysconf()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⚙️  PROCESS MANAGEMENT MODULE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  Process spawning, binary replacement &amp; wait lifecycle via fork() &amp; exec()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📁  FILE SYSTEM UTILITY MODULE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  File descriptor metadata inspection &amp; safe file read via stat() &amp; open()</a:t>
            </a:r>
          </a:p>
          <a:p>
            <a:pPr>
              <a:spcAft>
                <a:spcPts val="800"/>
              </a:spcAft>
            </a:pPr>
            <a:r>
              <a:rPr sz="800">
                <a:solidFill>
                  <a:srgbClr val="1E3A5F"/>
                </a:solidFill>
                <a:latin typeface="Consolas"/>
              </a:rPr>
              <a:t>─────────────────────────────────────────────</a:t>
            </a:r>
          </a:p>
          <a:p>
            <a:r>
              <a:rPr sz="1050" b="1">
                <a:solidFill>
                  <a:srgbClr val="4ADE80"/>
                </a:solidFill>
                <a:latin typeface="Segoe UI"/>
              </a:rPr>
              <a:t>✔ Core C Engine   •   POSIX API Standard   •   Modular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0" y="333375"/>
            <a:ext cx="19907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33375"/>
            <a:ext cx="1969889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441995"/>
            <a:ext cx="2152650" cy="2952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4150" y="1441995"/>
            <a:ext cx="2152650" cy="2952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9675" y="1441995"/>
            <a:ext cx="2152650" cy="2952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441995"/>
            <a:ext cx="2152650" cy="2952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0725" y="1441995"/>
            <a:ext cx="2152650" cy="2952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625" y="6210300"/>
            <a:ext cx="11334750" cy="3143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8625" y="6362700"/>
            <a:ext cx="38290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Fira Code"/>
              </a:rPr>
              <a:t>Advanced Unix Utility Suite  Literature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29975" y="6362700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Fira Code SemiBold"/>
              </a:rPr>
              <a:t>02</a:t>
            </a:r>
            <a:r>
              <a:rPr sz="975" b="0" i="0" u="none">
                <a:solidFill>
                  <a:srgbClr val="64748B"/>
                </a:solidFill>
                <a:latin typeface="Fira Code"/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625" y="657225"/>
            <a:ext cx="692086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0" i="0" u="none">
                <a:solidFill>
                  <a:srgbClr val="F8FAFC"/>
                </a:solidFill>
                <a:latin typeface="Inter ExtraBold"/>
              </a:rPr>
              <a:t>Literature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25" y="1060995"/>
            <a:ext cx="65913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Academic references &amp; system programming resources studied for concept implementation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15525" y="428625"/>
            <a:ext cx="95250" cy="95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5829300"/>
            <a:ext cx="133350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5350" y="5734050"/>
            <a:ext cx="106775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Inter"/>
              </a:rPr>
              <a:t>Key Research Insight: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Literature study helped us connect core Operating System theory directly with practical Linux system calls and C-language implementations, moving from abstract models to executed code.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400050"/>
            <a:ext cx="110579" cy="114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0550" y="1937295"/>
            <a:ext cx="18288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75" b="1" i="0" u="none">
                <a:solidFill>
                  <a:srgbClr val="F8FAFC"/>
                </a:solidFill>
                <a:latin typeface="Inter"/>
              </a:rPr>
              <a:t>Operating System Concepts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550" y="2318295"/>
            <a:ext cx="1828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Silberschatz, Galvin &amp; Gagne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550" y="2565945"/>
            <a:ext cx="1828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Inter"/>
              </a:rPr>
              <a:t>CONCEPTS STUDIED: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6075" y="1937295"/>
            <a:ext cx="18288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75" b="1" i="0" u="none">
                <a:solidFill>
                  <a:srgbClr val="F8FAFC"/>
                </a:solidFill>
                <a:latin typeface="Inter"/>
              </a:rPr>
              <a:t>Advanced Prog. in UNIX Env. (APUE)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6075" y="2318295"/>
            <a:ext cx="1828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W. R. Stevens &amp; S. A. Rago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6075" y="2565945"/>
            <a:ext cx="1828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Inter"/>
              </a:rPr>
              <a:t>CONCEPTS STUDIED: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1600" y="1937295"/>
            <a:ext cx="18288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75" b="1" i="0" u="none">
                <a:solidFill>
                  <a:srgbClr val="F8FAFC"/>
                </a:solidFill>
                <a:latin typeface="Inter"/>
              </a:rPr>
              <a:t>The Linux Programming Interface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1600" y="2318295"/>
            <a:ext cx="1828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Michael Kerrisk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1600" y="2565945"/>
            <a:ext cx="1828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Inter"/>
              </a:rPr>
              <a:t>CONCEPTS STUDIED: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7125" y="1937295"/>
            <a:ext cx="18288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75" b="1" i="0" u="none">
                <a:solidFill>
                  <a:srgbClr val="F8FAFC"/>
                </a:solidFill>
                <a:latin typeface="Inter"/>
              </a:rPr>
              <a:t>Linux System Programming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7125" y="2318295"/>
            <a:ext cx="1828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Robert Love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7125" y="2565945"/>
            <a:ext cx="1828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Inter"/>
              </a:rPr>
              <a:t>CONCEPTS STUDIED: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2650" y="1937295"/>
            <a:ext cx="18288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75" b="1" i="0" u="none">
                <a:solidFill>
                  <a:srgbClr val="F8FAFC"/>
                </a:solidFill>
                <a:latin typeface="Inter"/>
              </a:rPr>
              <a:t>Linux / POSIX Manual Pages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72650" y="2318295"/>
            <a:ext cx="1828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Inter"/>
              </a:rPr>
              <a:t>man-pages Section 2 &amp;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72650" y="2565945"/>
            <a:ext cx="1828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2D3EE"/>
                </a:solidFill>
                <a:latin typeface="Inter"/>
              </a:rPr>
              <a:t>APIS IMPLEMENTED: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72650" y="2756445"/>
            <a:ext cx="18288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25" b="0" i="0" u="none">
                <a:solidFill>
                  <a:srgbClr val="CBD5E1"/>
                </a:solidFill>
                <a:latin typeface="Fira Code"/>
              </a:rPr>
              <a:t>• uname(), sysconf()</a:t>
            </a:r>
            <a:r>
              <a:t>
</a:t>
            </a:r>
            <a:r>
              <a:rPr sz="825" b="0" i="0" u="none">
                <a:solidFill>
                  <a:srgbClr val="CBD5E1"/>
                </a:solidFill>
                <a:latin typeface="Fira Code"/>
              </a:rPr>
              <a:t> • fork(), exec()</a:t>
            </a:r>
            <a:r>
              <a:t>
</a:t>
            </a:r>
            <a:r>
              <a:rPr sz="825" b="0" i="0" u="none">
                <a:solidFill>
                  <a:srgbClr val="CBD5E1"/>
                </a:solidFill>
                <a:latin typeface="Fira Code"/>
              </a:rPr>
              <a:t> • wait(), stat()</a:t>
            </a:r>
            <a:r>
              <a:t>
</a:t>
            </a:r>
            <a:r>
              <a:rPr sz="825" b="0" i="0" u="none">
                <a:solidFill>
                  <a:srgbClr val="CBD5E1"/>
                </a:solidFill>
                <a:latin typeface="Fira Code"/>
              </a:rPr>
              <a:t> • open(), read(), close()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0550" y="1632495"/>
            <a:ext cx="219075" cy="190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00100" y="2756445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Process Lifecycle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" y="3051720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Memory Spaces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" y="3346995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IPC Mechanisms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" y="3642270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Synchronization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" y="3937545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File Systems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86075" y="1632495"/>
            <a:ext cx="238125" cy="1905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095625" y="2756445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UNIX Sys Programming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5625" y="3051720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Process Control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95625" y="3346995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Signal Handling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95625" y="3642270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Unbuffered I/O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95625" y="3937545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System Call Errors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81600" y="1632495"/>
            <a:ext cx="171450" cy="1905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391150" y="2756445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Linux System Calls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1150" y="3051720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Virtual Memory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1150" y="3346995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File Descriptors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1150" y="3642270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Process Attributes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1150" y="3937545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POSIX Standards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77125" y="1632495"/>
            <a:ext cx="219075" cy="1905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686675" y="2756445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Kernel Interfaces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6675" y="3051720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Low-level File I/O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86675" y="3346995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Process Scheduler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86675" y="3642270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System Configuration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86675" y="3937545"/>
            <a:ext cx="1619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C Memory Management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72650" y="1632495"/>
            <a:ext cx="142875" cy="1905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90550" y="2756445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0550" y="3051720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0550" y="3346995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550" y="3642270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550" y="3937545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86075" y="2756445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86075" y="3051720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86075" y="3346995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86075" y="3642270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86075" y="3937545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81600" y="2756445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81600" y="3051720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81600" y="3346995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81600" y="3642270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81600" y="3937545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77125" y="2756445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77125" y="3051720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77125" y="3346995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77125" y="3642270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77125" y="3937545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0" y="333375"/>
            <a:ext cx="18002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33375"/>
            <a:ext cx="2288083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882973"/>
            <a:ext cx="5548312" cy="185692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3882776"/>
            <a:ext cx="5548312" cy="1076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5062" y="1882973"/>
            <a:ext cx="5548312" cy="2133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5062" y="4159448"/>
            <a:ext cx="5548312" cy="1419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4378075"/>
            <a:ext cx="5167312" cy="51732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6987" y="4978598"/>
            <a:ext cx="5224462" cy="4381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6037" y="3521273"/>
            <a:ext cx="1665237" cy="3143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6525" y="3521273"/>
            <a:ext cx="1665237" cy="3143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17013" y="3521273"/>
            <a:ext cx="1665237" cy="3143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8625" y="6210300"/>
            <a:ext cx="11334750" cy="3143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8625" y="6362700"/>
            <a:ext cx="36766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Fira Code"/>
              </a:rPr>
              <a:t>Advanced Unix Utility Suite  About the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29975" y="6362700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Fira Code SemiBold"/>
              </a:rPr>
              <a:t>03</a:t>
            </a:r>
            <a:r>
              <a:rPr sz="975" b="0" i="0" u="none">
                <a:solidFill>
                  <a:srgbClr val="64748B"/>
                </a:solidFill>
                <a:latin typeface="Fira Code"/>
              </a:rPr>
              <a:t>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625" y="657225"/>
            <a:ext cx="6630828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0" i="0" u="none">
                <a:solidFill>
                  <a:srgbClr val="F8FAFC"/>
                </a:solidFill>
                <a:latin typeface="Inter ExtraBold"/>
              </a:rPr>
              <a:t>About the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625" y="1060995"/>
            <a:ext cx="63150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Integrated C-based interactive Linux toolkit demonstrating Operating System mechanics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06025" y="428625"/>
            <a:ext cx="104775" cy="95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400050"/>
            <a:ext cx="139154" cy="114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57250" y="2063948"/>
            <a:ext cx="4938712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Inter"/>
              </a:rPr>
              <a:t>Project 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2378273"/>
            <a:ext cx="5186362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Advanced Unix Utility Suite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is a C-based interactive Linux toolkit that integrates multiple core Operating System concepts into a single interactive user shell.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2919114"/>
            <a:ext cx="5186362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The application provides dedicated custom utilities for inspecting kernel/hardware metrics, demonstrating process management, and conducting low-level file system operations.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4063751"/>
            <a:ext cx="4900612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Inter"/>
              </a:rPr>
              <a:t>Architectural Core Concept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3687" y="2063948"/>
            <a:ext cx="4938712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Inter"/>
              </a:rPr>
              <a:t>Functional Modules 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6037" y="2378273"/>
            <a:ext cx="518636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ADE80"/>
                </a:solidFill>
                <a:latin typeface="Inter"/>
              </a:rPr>
              <a:t>CURRENT IMPLEMENTED MODULES (50%)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6037" y="3302198"/>
            <a:ext cx="518636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DE047"/>
                </a:solidFill>
                <a:latin typeface="Inter"/>
              </a:rPr>
              <a:t>REMAINING PLANNED MODULES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9191" y="4323442"/>
            <a:ext cx="505301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 dirty="0">
                <a:solidFill>
                  <a:srgbClr val="38BDF8"/>
                </a:solidFill>
                <a:latin typeface="Inter"/>
              </a:rPr>
              <a:t> Educational Feature: Internal Working Display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6987" y="4616648"/>
            <a:ext cx="522446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Inter"/>
              </a:rPr>
              <a:t>UnixSuite not only presents command execution results, but also explicitly reveals the exact underlying kernel steps to the user: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2087760"/>
            <a:ext cx="15240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650" y="4087564"/>
            <a:ext cx="171450" cy="152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" y="4501901"/>
            <a:ext cx="11334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F8FAFC"/>
                </a:solidFill>
                <a:latin typeface="Fira Code"/>
              </a:rPr>
              <a:t>Interactive Shell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9569" y="4501901"/>
            <a:ext cx="114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38BDF8"/>
                </a:solidFill>
                <a:latin typeface="Fira Code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9388" y="4501901"/>
            <a:ext cx="7334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22D3EE"/>
                </a:solidFill>
                <a:latin typeface="Fira Code"/>
              </a:rPr>
              <a:t>OS Concepts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8332" y="4501901"/>
            <a:ext cx="114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38BDF8"/>
                </a:solidFill>
                <a:latin typeface="Fira Code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08151" y="4501901"/>
            <a:ext cx="933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4ADE80"/>
                </a:solidFill>
                <a:latin typeface="Fira Code"/>
              </a:rPr>
              <a:t>POSIX </a:t>
            </a:r>
            <a:r>
              <a:rPr sz="900" b="0" i="0" u="none" dirty="0" err="1">
                <a:solidFill>
                  <a:srgbClr val="4ADE80"/>
                </a:solidFill>
                <a:latin typeface="Fira Code"/>
              </a:rPr>
              <a:t>Syscalls</a:t>
            </a:r>
            <a:endParaRPr sz="900" b="0" i="0" u="none" dirty="0">
              <a:solidFill>
                <a:srgbClr val="4ADE80"/>
              </a:solidFill>
              <a:latin typeface="Fira Code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47120" y="4501901"/>
            <a:ext cx="114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38BDF8"/>
                </a:solidFill>
                <a:latin typeface="Fira Code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6939" y="4501901"/>
            <a:ext cx="1066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FDE047"/>
                </a:solidFill>
                <a:latin typeface="Fira Code"/>
              </a:rPr>
              <a:t>Internal Working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96037" y="2087760"/>
            <a:ext cx="152400" cy="1524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744200" y="4321373"/>
            <a:ext cx="857250" cy="2190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42857" y="2721173"/>
            <a:ext cx="171450" cy="152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500812" y="2911673"/>
            <a:ext cx="14556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F8FAFC"/>
                </a:solidFill>
                <a:latin typeface="Inter SemiBold"/>
              </a:rPr>
              <a:t>System Info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93819" y="2721173"/>
            <a:ext cx="190500" cy="1524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261300" y="2911673"/>
            <a:ext cx="14556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F8FAFC"/>
                </a:solidFill>
                <a:latin typeface="Inter SemiBold"/>
              </a:rPr>
              <a:t>Process Mgmt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63832" y="2721173"/>
            <a:ext cx="171450" cy="1524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021788" y="2911673"/>
            <a:ext cx="14556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F8FAFC"/>
                </a:solidFill>
                <a:latin typeface="Inter SemiBold"/>
              </a:rPr>
              <a:t>File System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81762" y="3606998"/>
            <a:ext cx="14937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IPC Utilities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2250" y="3606998"/>
            <a:ext cx="14937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Memory Analysis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02738" y="3606998"/>
            <a:ext cx="14937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Concurrency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76987" y="4373760"/>
            <a:ext cx="1524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67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0" y="333375"/>
            <a:ext cx="18573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441995"/>
            <a:ext cx="11334750" cy="866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333375"/>
            <a:ext cx="1211758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499270"/>
            <a:ext cx="5548312" cy="3162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5062" y="2499270"/>
            <a:ext cx="5548312" cy="264199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625" y="6214020"/>
            <a:ext cx="11334750" cy="314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8625" y="6366420"/>
            <a:ext cx="39052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Fira Code"/>
              </a:rPr>
              <a:t>Advanced Unix Utility Suite  Learning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29975" y="6366420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Fira Code SemiBold"/>
              </a:rPr>
              <a:t>04</a:t>
            </a:r>
            <a:r>
              <a:rPr sz="975" b="0" i="0" u="none">
                <a:solidFill>
                  <a:srgbClr val="64748B"/>
                </a:solidFill>
                <a:latin typeface="Fira Code"/>
              </a:rPr>
              <a:t>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625" y="657225"/>
            <a:ext cx="5750718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0" i="0" u="none">
                <a:solidFill>
                  <a:srgbClr val="F8FAFC"/>
                </a:solidFill>
                <a:latin typeface="Inter ExtraBold"/>
              </a:rPr>
              <a:t>How We Learned the Concepts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625" y="1060995"/>
            <a:ext cx="54768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Structured pipeline from Operating System theory to C code implementation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48875" y="428625"/>
            <a:ext cx="95250" cy="95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6212" y="1808708"/>
            <a:ext cx="85725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84749" y="1808708"/>
            <a:ext cx="85725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3286" y="1808708"/>
            <a:ext cx="85725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1823" y="1808708"/>
            <a:ext cx="85725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90360" y="1808708"/>
            <a:ext cx="85725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5923508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3450" y="5918745"/>
            <a:ext cx="102965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CBD5E1"/>
                </a:solidFill>
                <a:latin typeface="Inter"/>
              </a:rPr>
              <a:t>Instead of treating system calls as isolated textbook functions, we learned how they orchestrate real operating system tasks inside a unified application.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400" y="400050"/>
            <a:ext cx="148679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53281" y="1594395"/>
            <a:ext cx="342900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75878" y="2013495"/>
            <a:ext cx="69770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E2E8F0"/>
                </a:solidFill>
                <a:latin typeface="Inter SemiBold"/>
              </a:rPr>
              <a:t>OS THEORY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21818" y="1594395"/>
            <a:ext cx="342900" cy="3429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794694" y="2013495"/>
            <a:ext cx="997148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E2E8F0"/>
                </a:solidFill>
                <a:latin typeface="Inter SemiBold"/>
              </a:rPr>
              <a:t>UNIX CONCEPTS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90355" y="1594395"/>
            <a:ext cx="342900" cy="3429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37782" y="2013495"/>
            <a:ext cx="104819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E2E8F0"/>
                </a:solidFill>
                <a:latin typeface="Inter SemiBold"/>
              </a:rPr>
              <a:t>POSIX SYSCALLS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892" y="1594395"/>
            <a:ext cx="342900" cy="3429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98121" y="2013495"/>
            <a:ext cx="126459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E2E8F0"/>
                </a:solidFill>
                <a:latin typeface="Inter SemiBold"/>
              </a:rPr>
              <a:t>SMALL C PROGRAMS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27430" y="1594395"/>
            <a:ext cx="342900" cy="3429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344495" y="2013495"/>
            <a:ext cx="110876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E2E8F0"/>
                </a:solidFill>
                <a:latin typeface="Inter SemiBold"/>
              </a:rPr>
              <a:t>WSL/LINUX TESTS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95967" y="1594395"/>
            <a:ext cx="342900" cy="3429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021788" y="2013495"/>
            <a:ext cx="149125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4ADE80"/>
                </a:solidFill>
                <a:latin typeface="Inter SemiBold"/>
              </a:rPr>
              <a:t>UNIXSUITE INTEGRATION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8150" y="2508795"/>
            <a:ext cx="5529262" cy="390525"/>
          </a:xfrm>
          <a:prstGeom prst="rect">
            <a:avLst/>
          </a:prstGeom>
        </p:spPr>
      </p:pic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024955"/>
              </p:ext>
            </p:extLst>
          </p:nvPr>
        </p:nvGraphicFramePr>
        <p:xfrm>
          <a:off x="438150" y="2899320"/>
          <a:ext cx="5529261" cy="275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4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246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Fira Code"/>
                        </a:rPr>
                        <a:t>OS Concept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Fira Code"/>
                        </a:rPr>
                        <a:t>POSIX / Linux System Call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246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System Information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246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Process Creation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246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Program Execution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246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Process Synchronization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246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File Metadata &amp; Attributes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249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File Access &amp; Reading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6643687" y="2680245"/>
            <a:ext cx="4938712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Inter"/>
              </a:rPr>
              <a:t>6-Step Learning &amp; Integration Methodology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67581" y="1699170"/>
            <a:ext cx="114300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36118" y="1699170"/>
            <a:ext cx="114300" cy="1333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85605" y="1699170"/>
            <a:ext cx="152400" cy="1333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44617" y="1699170"/>
            <a:ext cx="171450" cy="1333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32205" y="1699170"/>
            <a:ext cx="133350" cy="1333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00742" y="1699170"/>
            <a:ext cx="133350" cy="13335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438150" y="3289845"/>
            <a:ext cx="2494061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932211" y="3289845"/>
            <a:ext cx="3035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96037" y="2704058"/>
            <a:ext cx="152400" cy="1524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500812" y="2993618"/>
            <a:ext cx="857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"/>
              </a:rPr>
              <a:t>1.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6537" y="2994570"/>
            <a:ext cx="4995862" cy="19809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1" i="0" u="none">
                <a:solidFill>
                  <a:srgbClr val="CBD5E1"/>
                </a:solidFill>
                <a:latin typeface="Inter"/>
              </a:rPr>
              <a:t>Understand OS Theory: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Studied concepts from Silberschatz &amp; APUE textbooks.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2237" y="3267908"/>
            <a:ext cx="1143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"/>
              </a:rPr>
              <a:t>2.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6537" y="3268860"/>
            <a:ext cx="4995862" cy="39618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1" i="0" u="none">
                <a:solidFill>
                  <a:srgbClr val="CBD5E1"/>
                </a:solidFill>
                <a:latin typeface="Inter"/>
              </a:rPr>
              <a:t>Study Linux/POSIX APIs: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Examined manual pages for exact arguments &amp; error flags.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2237" y="3740288"/>
            <a:ext cx="1143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"/>
              </a:rPr>
              <a:t>3.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6537" y="3741241"/>
            <a:ext cx="4995862" cy="19809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1" i="0" u="none">
                <a:solidFill>
                  <a:srgbClr val="CBD5E1"/>
                </a:solidFill>
                <a:latin typeface="Inter"/>
              </a:rPr>
              <a:t>Standalone C Prototyping: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Isolated each call in standalone test programs.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2237" y="4014579"/>
            <a:ext cx="1143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"/>
              </a:rPr>
              <a:t>4.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6537" y="4015531"/>
            <a:ext cx="4995862" cy="19809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1" i="0" u="none">
                <a:solidFill>
                  <a:srgbClr val="CBD5E1"/>
                </a:solidFill>
                <a:latin typeface="Inter"/>
              </a:rPr>
              <a:t>Validation in WSL2: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Executed programs under Ubuntu/Linux kernel environment.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2237" y="4288869"/>
            <a:ext cx="1143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"/>
              </a:rPr>
              <a:t>5.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6537" y="4289821"/>
            <a:ext cx="4995862" cy="39618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1" i="0" u="none">
                <a:solidFill>
                  <a:srgbClr val="CBD5E1"/>
                </a:solidFill>
                <a:latin typeface="Inter"/>
              </a:rPr>
              <a:t>UnixSuite Modular Integration: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Encapsulated functionality into clean `.c/.h` modules.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72237" y="4761249"/>
            <a:ext cx="1143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"/>
              </a:rPr>
              <a:t>6.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6537" y="4762202"/>
            <a:ext cx="4995862" cy="19809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1" i="0" u="none">
                <a:solidFill>
                  <a:srgbClr val="CBD5E1"/>
                </a:solidFill>
                <a:latin typeface="Inter"/>
              </a:rPr>
              <a:t>Internal Working Display: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Added educational step-by-step console outputs.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0550" y="2642145"/>
            <a:ext cx="152400" cy="123825"/>
          </a:xfrm>
          <a:prstGeom prst="rect">
            <a:avLst/>
          </a:prstGeom>
        </p:spPr>
      </p:pic>
      <p:sp>
        <p:nvSpPr>
          <p:cNvPr id="59" name="Rectangle 58"/>
          <p:cNvSpPr/>
          <p:nvPr/>
        </p:nvSpPr>
        <p:spPr>
          <a:xfrm>
            <a:off x="438150" y="3689895"/>
            <a:ext cx="249406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2932211" y="3689895"/>
            <a:ext cx="3035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38150" y="4080420"/>
            <a:ext cx="249406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932211" y="4080420"/>
            <a:ext cx="3035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38150" y="4470945"/>
            <a:ext cx="249406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2932211" y="4470945"/>
            <a:ext cx="3035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38150" y="4861470"/>
            <a:ext cx="249406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2932211" y="4861470"/>
            <a:ext cx="3035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38150" y="5251995"/>
            <a:ext cx="249406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2932211" y="5251995"/>
            <a:ext cx="3035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8150" y="5642520"/>
            <a:ext cx="249406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932211" y="5642520"/>
            <a:ext cx="3035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84471" y="3408193"/>
            <a:ext cx="704850" cy="219075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103661" y="3394612"/>
            <a:ext cx="857250" cy="219075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103661" y="3790253"/>
            <a:ext cx="628650" cy="219075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121818" y="4161037"/>
            <a:ext cx="1466850" cy="219075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103661" y="4556670"/>
            <a:ext cx="628650" cy="219075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103661" y="4949118"/>
            <a:ext cx="628650" cy="219075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121818" y="5306515"/>
            <a:ext cx="628650" cy="219075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770146" y="5318669"/>
            <a:ext cx="628650" cy="219075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425617" y="5318669"/>
            <a:ext cx="70485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333375"/>
            <a:ext cx="19335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33375"/>
            <a:ext cx="1863179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441995"/>
            <a:ext cx="5548312" cy="3305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062" y="1441995"/>
            <a:ext cx="5548312" cy="3305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5087" y="1937295"/>
            <a:ext cx="5167312" cy="666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5087" y="2746920"/>
            <a:ext cx="5167312" cy="1085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937295"/>
            <a:ext cx="2545556" cy="504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50406" y="1937295"/>
            <a:ext cx="2545556" cy="504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537370"/>
            <a:ext cx="2545556" cy="504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50406" y="2537370"/>
            <a:ext cx="2545556" cy="504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8625" y="6210300"/>
            <a:ext cx="11334750" cy="3143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8625" y="6362700"/>
            <a:ext cx="44386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Fira Code"/>
              </a:rPr>
              <a:t>Advanced Unix Utility Suite  Existing vs Proposed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29975" y="6362700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Fira Code SemiBold"/>
              </a:rPr>
              <a:t>05</a:t>
            </a:r>
            <a:r>
              <a:rPr sz="975" b="0" i="0" u="none">
                <a:solidFill>
                  <a:srgbClr val="64748B"/>
                </a:solidFill>
                <a:latin typeface="Fira Code"/>
              </a:rPr>
              <a:t> /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" y="657225"/>
            <a:ext cx="576072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0" i="0" u="none">
                <a:solidFill>
                  <a:srgbClr val="F8FAFC"/>
                </a:solidFill>
                <a:latin typeface="Inter ExtraBold"/>
              </a:rPr>
              <a:t>Existing Systems &amp; Current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625" y="1060995"/>
            <a:ext cx="54864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Bridging standalone Linux utilities with an educational, integrated framework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72675" y="428625"/>
            <a:ext cx="104775" cy="95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5829300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3450" y="5734050"/>
            <a:ext cx="106394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Inter"/>
              </a:rPr>
              <a:t>Scope Clarification: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Standard Linux utilities remain essential production tools. Our project focuses on structural integration and educational transparency for OS learning.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400050"/>
            <a:ext cx="148679" cy="1143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8200" y="1622970"/>
            <a:ext cx="4957762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CBD5E1"/>
                </a:solidFill>
                <a:latin typeface="Inter"/>
              </a:rPr>
              <a:t> Standard Linux Utilities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3185070"/>
            <a:ext cx="518636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F4444"/>
                </a:solidFill>
                <a:latin typeface="Inter"/>
              </a:rPr>
              <a:t>LEARNING LIMITATIONS FOR BEGINNERS: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1787" y="1622970"/>
            <a:ext cx="4900612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Inter"/>
              </a:rPr>
              <a:t>Structural Comparison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1646783"/>
            <a:ext cx="13335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19150" y="3385095"/>
            <a:ext cx="49768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Utilities use disparate interfaces and command-line options.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50" y="3680370"/>
            <a:ext cx="49768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OS concepts are experienced in isolation across different tools.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50" y="3975645"/>
            <a:ext cx="49768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Kernel system call mechanisms remain hidden behind utility outputs.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150" y="4270920"/>
            <a:ext cx="49768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No single interactive interface demonstrates combined system behavior.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15087" y="1646783"/>
            <a:ext cx="171450" cy="152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567487" y="2089695"/>
            <a:ext cx="4862512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Inter"/>
              </a:rPr>
              <a:t>EXISTING APPROACH (FRAGMENTED)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7487" y="2299245"/>
            <a:ext cx="4862512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Fira Code"/>
              </a:rPr>
              <a:t>[ps] [top] [ls] [free] → </a:t>
            </a:r>
            <a:r>
              <a:rPr sz="900" b="0" i="0" u="none">
                <a:solidFill>
                  <a:srgbClr val="F8FAFC"/>
                </a:solidFill>
                <a:latin typeface="Fira Code"/>
              </a:rPr>
              <a:t>Isolated Operations (No Internal Working Shown)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7487" y="2899320"/>
            <a:ext cx="4862512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Inter"/>
              </a:rPr>
              <a:t>OUR INTEGRATED APPROACH (UNIXSUITE)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4375" y="2042070"/>
            <a:ext cx="233600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PROCESS 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375" y="2175420"/>
            <a:ext cx="2336006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Fira Code"/>
              </a:rPr>
              <a:t>ps / top / htop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5181" y="2042070"/>
            <a:ext cx="233600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FILE INFO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181" y="2175420"/>
            <a:ext cx="2336006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Fira Code"/>
              </a:rPr>
              <a:t>ls / stat / cat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4375" y="2642145"/>
            <a:ext cx="233600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MEMORY INFO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4375" y="2775495"/>
            <a:ext cx="2336006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Fira Code"/>
              </a:rPr>
              <a:t>free / vmstat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55181" y="2642145"/>
            <a:ext cx="233600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SYSTEM INFO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55181" y="2775495"/>
            <a:ext cx="2336006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Fira Code"/>
              </a:rPr>
              <a:t>uname / lscpu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3385095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3680370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" y="3975645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4270920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67487" y="3108870"/>
            <a:ext cx="48625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8BDF8"/>
                </a:solidFill>
                <a:latin typeface="Fira Code"/>
              </a:rPr>
              <a:t>UnixSuite Shell Interface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67487" y="3318420"/>
            <a:ext cx="48625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22D3EE"/>
                </a:solidFill>
                <a:latin typeface="Fira Code"/>
              </a:rPr>
              <a:t>↓ Integrated Modules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67487" y="3527970"/>
            <a:ext cx="48625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4ADE80"/>
                </a:solidFill>
                <a:latin typeface="Fira Code"/>
              </a:rPr>
              <a:t>System Calls + Step-by-Step Internal Explanations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5525" y="333375"/>
            <a:ext cx="18478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33375"/>
            <a:ext cx="1347043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6210300"/>
            <a:ext cx="11334750" cy="3143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8625" y="6362700"/>
            <a:ext cx="39052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Fira Code"/>
              </a:rPr>
              <a:t>Advanced Unix Utility Suite  Program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29975" y="6362700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Fira Code SemiBold"/>
              </a:rPr>
              <a:t>06</a:t>
            </a:r>
            <a:r>
              <a:rPr sz="975" b="0" i="0" u="none">
                <a:solidFill>
                  <a:srgbClr val="64748B"/>
                </a:solidFill>
                <a:latin typeface="Fira Code"/>
              </a:rPr>
              <a:t> 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625" y="657225"/>
            <a:ext cx="6277659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0" i="0" u="none">
                <a:solidFill>
                  <a:srgbClr val="F8FAFC"/>
                </a:solidFill>
                <a:latin typeface="Inter ExtraBold"/>
              </a:rPr>
              <a:t>Proposed System &amp; Program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625" y="1060995"/>
            <a:ext cx="5978723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Modular C source structure and system call dispatch hierarchy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428625"/>
            <a:ext cx="85725" cy="95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00050"/>
            <a:ext cx="139154" cy="1143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29768" y="1591056"/>
            <a:ext cx="3840480" cy="4480560"/>
          </a:xfrm>
          <a:prstGeom prst="roundRect">
            <a:avLst/>
          </a:prstGeom>
          <a:solidFill>
            <a:srgbClr val="0D1B2E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>
              <a:spcAft>
                <a:spcPts val="1400"/>
              </a:spcAft>
              <a:defRPr sz="1200" b="1">
                <a:solidFill>
                  <a:srgbClr val="00E5FF"/>
                </a:solidFill>
                <a:latin typeface="Segoe UI"/>
              </a:defRPr>
            </a:pPr>
            <a:r>
              <a:t>📐 System Call Architecture Hierarchy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" y="2084831"/>
            <a:ext cx="3474720" cy="438912"/>
          </a:xfrm>
          <a:prstGeom prst="roundRect">
            <a:avLst/>
          </a:prstGeom>
          <a:solidFill>
            <a:srgbClr val="050B1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USER INTERACTION LAYER (Interactive Shell)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2542032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8BDF8"/>
                </a:solidFill>
                <a:latin typeface="Segoe UI"/>
              </a:defRPr>
            </a:pPr>
            <a:r>
              <a:t>↓ Command Input &amp; Dispatch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" y="2816352"/>
            <a:ext cx="3474720" cy="438912"/>
          </a:xfrm>
          <a:prstGeom prst="roundRect">
            <a:avLst/>
          </a:prstGeom>
          <a:solidFill>
            <a:srgbClr val="050B1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Command Parser &amp; Help Dispatcher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3273552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8BDF8"/>
                </a:solidFill>
                <a:latin typeface="Segoe UI"/>
              </a:defRPr>
            </a:pPr>
            <a:r>
              <a:t>↓ Call Specific Module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520440"/>
            <a:ext cx="3602736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12648" y="3547872"/>
            <a:ext cx="1097280" cy="777240"/>
          </a:xfrm>
          <a:prstGeom prst="roundRect">
            <a:avLst/>
          </a:prstGeom>
          <a:solidFill>
            <a:srgbClr val="050B1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09728" rIns="36576" rtlCol="0" anchor="ctr"/>
          <a:lstStyle/>
          <a:p>
            <a:pPr algn="ctr">
              <a:defRPr sz="900" b="1">
                <a:solidFill>
                  <a:srgbClr val="4ADE80"/>
                </a:solidFill>
                <a:latin typeface="Segoe UI"/>
              </a:defRPr>
            </a:pPr>
            <a:r>
              <a:t>System Info</a:t>
            </a:r>
          </a:p>
          <a:p>
            <a:pPr algn="ctr">
              <a:defRPr sz="750">
                <a:solidFill>
                  <a:srgbClr val="94A3B8"/>
                </a:solidFill>
                <a:latin typeface="Segoe UI"/>
              </a:defRPr>
            </a:pPr>
            <a:r>
              <a:t>uname, sysconf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01368" y="3547872"/>
            <a:ext cx="1097280" cy="777240"/>
          </a:xfrm>
          <a:prstGeom prst="roundRect">
            <a:avLst/>
          </a:prstGeom>
          <a:solidFill>
            <a:srgbClr val="050B1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09728" rIns="36576" rtlCol="0" anchor="ctr"/>
          <a:lstStyle/>
          <a:p>
            <a:pPr algn="ctr">
              <a:defRPr sz="900" b="1">
                <a:solidFill>
                  <a:srgbClr val="4ADE80"/>
                </a:solidFill>
                <a:latin typeface="Segoe UI"/>
              </a:defRPr>
            </a:pPr>
            <a:r>
              <a:t>Process Mgr</a:t>
            </a:r>
          </a:p>
          <a:p>
            <a:pPr algn="ctr">
              <a:defRPr sz="750">
                <a:solidFill>
                  <a:srgbClr val="94A3B8"/>
                </a:solidFill>
                <a:latin typeface="Segoe UI"/>
              </a:defRPr>
            </a:pPr>
            <a:r>
              <a:t>fork, exec, wait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90088" y="3547872"/>
            <a:ext cx="1097280" cy="777240"/>
          </a:xfrm>
          <a:prstGeom prst="roundRect">
            <a:avLst/>
          </a:prstGeom>
          <a:solidFill>
            <a:srgbClr val="050B1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09728" rIns="36576" rtlCol="0" anchor="ctr"/>
          <a:lstStyle/>
          <a:p>
            <a:pPr algn="ctr">
              <a:defRPr sz="900" b="1">
                <a:solidFill>
                  <a:srgbClr val="4ADE80"/>
                </a:solidFill>
                <a:latin typeface="Segoe UI"/>
              </a:defRPr>
            </a:pPr>
            <a:r>
              <a:t>File System</a:t>
            </a:r>
          </a:p>
          <a:p>
            <a:pPr algn="ctr">
              <a:defRPr sz="750">
                <a:solidFill>
                  <a:srgbClr val="94A3B8"/>
                </a:solidFill>
                <a:latin typeface="Segoe UI"/>
              </a:defRPr>
            </a:pPr>
            <a:r>
              <a:t>stat, open, read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4370832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8BDF8"/>
                </a:solidFill>
                <a:latin typeface="Segoe UI"/>
              </a:defRPr>
            </a:pPr>
            <a:r>
              <a:t>↓ System Call Interface (int 0x80 / syscall)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" y="4645152"/>
            <a:ext cx="3474720" cy="457200"/>
          </a:xfrm>
          <a:prstGeom prst="roundRect">
            <a:avLst/>
          </a:prstGeom>
          <a:solidFill>
            <a:srgbClr val="0284C7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Linux Kernel / POSIX System APIs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1591056"/>
            <a:ext cx="7269480" cy="4480560"/>
          </a:xfrm>
          <a:prstGeom prst="roundRect">
            <a:avLst/>
          </a:prstGeom>
          <a:solidFill>
            <a:srgbClr val="0D1B2E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>
              <a:spcAft>
                <a:spcPts val="1000"/>
              </a:spcAft>
              <a:defRPr sz="1200" b="1">
                <a:solidFill>
                  <a:srgbClr val="00E5FF"/>
                </a:solidFill>
                <a:latin typeface="Segoe UI"/>
              </a:defRPr>
            </a:pPr>
            <a:r>
              <a:t>🗂️ Source Code Structure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00016" y="2249424"/>
            <a:ext cx="6858000" cy="3017520"/>
          </a:xfrm>
          <a:prstGeom prst="roundRect">
            <a:avLst/>
          </a:prstGeom>
          <a:solidFill>
            <a:srgbClr val="050B1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>
              <a:spcAft>
                <a:spcPts val="250"/>
              </a:spcAft>
            </a:pPr>
            <a:r>
              <a:rPr sz="1050" b="1" dirty="0" err="1">
                <a:solidFill>
                  <a:srgbClr val="38BDF8"/>
                </a:solidFill>
                <a:latin typeface="Consolas"/>
              </a:rPr>
              <a:t>unixsuite</a:t>
            </a:r>
            <a:r>
              <a:rPr sz="1050" b="1" dirty="0">
                <a:solidFill>
                  <a:srgbClr val="38BDF8"/>
                </a:solidFill>
                <a:latin typeface="Consolas"/>
              </a:rPr>
              <a:t>/</a:t>
            </a:r>
          </a:p>
          <a:p>
            <a:pPr>
              <a:spcAft>
                <a:spcPts val="250"/>
              </a:spcAft>
            </a:pPr>
            <a:r>
              <a:rPr sz="1000" dirty="0">
                <a:solidFill>
                  <a:srgbClr val="64748B"/>
                </a:solidFill>
                <a:latin typeface="Consolas"/>
              </a:rPr>
              <a:t>├── </a:t>
            </a:r>
            <a:r>
              <a:rPr sz="1000" b="1" dirty="0" err="1">
                <a:solidFill>
                  <a:srgbClr val="FFFFFF"/>
                </a:solidFill>
                <a:latin typeface="Consolas"/>
              </a:rPr>
              <a:t>main.c</a:t>
            </a:r>
            <a:r>
              <a:rPr sz="1000" dirty="0">
                <a:solidFill>
                  <a:srgbClr val="64748B"/>
                </a:solidFill>
                <a:latin typeface="Consolas"/>
              </a:rPr>
              <a:t>              # Shell loop, prompt, parser</a:t>
            </a:r>
          </a:p>
          <a:p>
            <a:pPr>
              <a:spcAft>
                <a:spcPts val="250"/>
              </a:spcAft>
            </a:pPr>
            <a:r>
              <a:rPr sz="1000" dirty="0">
                <a:solidFill>
                  <a:srgbClr val="64748B"/>
                </a:solidFill>
                <a:latin typeface="Consolas"/>
              </a:rPr>
              <a:t>├── </a:t>
            </a:r>
            <a:r>
              <a:rPr sz="1000" b="1" dirty="0" err="1">
                <a:solidFill>
                  <a:srgbClr val="FFFFFF"/>
                </a:solidFill>
                <a:latin typeface="Consolas"/>
              </a:rPr>
              <a:t>system_info.c</a:t>
            </a:r>
            <a:r>
              <a:rPr sz="1000" dirty="0">
                <a:solidFill>
                  <a:srgbClr val="64748B"/>
                </a:solidFill>
                <a:latin typeface="Consolas"/>
              </a:rPr>
              <a:t>       # </a:t>
            </a:r>
            <a:r>
              <a:rPr sz="1000" dirty="0" err="1">
                <a:solidFill>
                  <a:srgbClr val="64748B"/>
                </a:solidFill>
                <a:latin typeface="Consolas"/>
              </a:rPr>
              <a:t>uname</a:t>
            </a:r>
            <a:r>
              <a:rPr sz="1000" dirty="0">
                <a:solidFill>
                  <a:srgbClr val="64748B"/>
                </a:solidFill>
                <a:latin typeface="Consolas"/>
              </a:rPr>
              <a:t>(), </a:t>
            </a:r>
            <a:r>
              <a:rPr sz="1000" dirty="0" err="1">
                <a:solidFill>
                  <a:srgbClr val="64748B"/>
                </a:solidFill>
                <a:latin typeface="Consolas"/>
              </a:rPr>
              <a:t>sysconf</a:t>
            </a:r>
            <a:r>
              <a:rPr sz="1000" dirty="0">
                <a:solidFill>
                  <a:srgbClr val="64748B"/>
                </a:solidFill>
                <a:latin typeface="Consolas"/>
              </a:rPr>
              <a:t>() calls</a:t>
            </a:r>
          </a:p>
          <a:p>
            <a:pPr>
              <a:spcAft>
                <a:spcPts val="250"/>
              </a:spcAft>
            </a:pPr>
            <a:r>
              <a:rPr sz="1000" dirty="0">
                <a:solidFill>
                  <a:srgbClr val="64748B"/>
                </a:solidFill>
                <a:latin typeface="Consolas"/>
              </a:rPr>
              <a:t>├── </a:t>
            </a:r>
            <a:r>
              <a:rPr sz="1000" b="1" dirty="0" err="1">
                <a:solidFill>
                  <a:srgbClr val="FFFFFF"/>
                </a:solidFill>
                <a:latin typeface="Consolas"/>
              </a:rPr>
              <a:t>system_info.h</a:t>
            </a:r>
            <a:r>
              <a:rPr sz="1000" dirty="0">
                <a:solidFill>
                  <a:srgbClr val="64748B"/>
                </a:solidFill>
                <a:latin typeface="Consolas"/>
              </a:rPr>
              <a:t>       # Module header &amp; prototypes</a:t>
            </a:r>
          </a:p>
          <a:p>
            <a:pPr>
              <a:spcAft>
                <a:spcPts val="250"/>
              </a:spcAft>
            </a:pPr>
            <a:r>
              <a:rPr sz="1000" dirty="0">
                <a:solidFill>
                  <a:srgbClr val="64748B"/>
                </a:solidFill>
                <a:latin typeface="Consolas"/>
              </a:rPr>
              <a:t>├── </a:t>
            </a:r>
            <a:r>
              <a:rPr sz="1000" b="1" dirty="0" err="1">
                <a:solidFill>
                  <a:srgbClr val="FFFFFF"/>
                </a:solidFill>
                <a:latin typeface="Consolas"/>
              </a:rPr>
              <a:t>process_manager.c</a:t>
            </a:r>
            <a:r>
              <a:rPr sz="1000" dirty="0">
                <a:solidFill>
                  <a:srgbClr val="64748B"/>
                </a:solidFill>
                <a:latin typeface="Consolas"/>
              </a:rPr>
              <a:t>  # fork(), exec(), wait() calls</a:t>
            </a:r>
          </a:p>
          <a:p>
            <a:pPr>
              <a:spcAft>
                <a:spcPts val="250"/>
              </a:spcAft>
            </a:pPr>
            <a:r>
              <a:rPr sz="1000" dirty="0">
                <a:solidFill>
                  <a:srgbClr val="64748B"/>
                </a:solidFill>
                <a:latin typeface="Consolas"/>
              </a:rPr>
              <a:t>├── </a:t>
            </a:r>
            <a:r>
              <a:rPr sz="1000" b="1" dirty="0" err="1">
                <a:solidFill>
                  <a:srgbClr val="FFFFFF"/>
                </a:solidFill>
                <a:latin typeface="Consolas"/>
              </a:rPr>
              <a:t>process_manager.h</a:t>
            </a:r>
            <a:r>
              <a:rPr sz="1000" dirty="0">
                <a:solidFill>
                  <a:srgbClr val="64748B"/>
                </a:solidFill>
                <a:latin typeface="Consolas"/>
              </a:rPr>
              <a:t>  # Module header &amp; prototypes</a:t>
            </a:r>
          </a:p>
          <a:p>
            <a:pPr>
              <a:spcAft>
                <a:spcPts val="250"/>
              </a:spcAft>
            </a:pPr>
            <a:r>
              <a:rPr sz="1000" dirty="0">
                <a:solidFill>
                  <a:srgbClr val="64748B"/>
                </a:solidFill>
                <a:latin typeface="Consolas"/>
              </a:rPr>
              <a:t>├── </a:t>
            </a:r>
            <a:r>
              <a:rPr sz="1000" b="1" dirty="0" err="1">
                <a:solidFill>
                  <a:srgbClr val="FFFFFF"/>
                </a:solidFill>
                <a:latin typeface="Consolas"/>
              </a:rPr>
              <a:t>file_system.c</a:t>
            </a:r>
            <a:r>
              <a:rPr sz="1000" dirty="0">
                <a:solidFill>
                  <a:srgbClr val="64748B"/>
                </a:solidFill>
                <a:latin typeface="Consolas"/>
              </a:rPr>
              <a:t>      # stat(), open(), read(), close()</a:t>
            </a:r>
          </a:p>
          <a:p>
            <a:pPr>
              <a:spcAft>
                <a:spcPts val="250"/>
              </a:spcAft>
            </a:pPr>
            <a:r>
              <a:rPr sz="1000" dirty="0">
                <a:solidFill>
                  <a:srgbClr val="64748B"/>
                </a:solidFill>
                <a:latin typeface="Consolas"/>
              </a:rPr>
              <a:t>├── </a:t>
            </a:r>
            <a:r>
              <a:rPr sz="1000" b="1" dirty="0" err="1">
                <a:solidFill>
                  <a:srgbClr val="FFFFFF"/>
                </a:solidFill>
                <a:latin typeface="Consolas"/>
              </a:rPr>
              <a:t>file_system.h</a:t>
            </a:r>
            <a:r>
              <a:rPr sz="1000" dirty="0">
                <a:solidFill>
                  <a:srgbClr val="64748B"/>
                </a:solidFill>
                <a:latin typeface="Consolas"/>
              </a:rPr>
              <a:t>      # Module header &amp; prototypes</a:t>
            </a:r>
          </a:p>
          <a:p>
            <a:pPr>
              <a:spcAft>
                <a:spcPts val="250"/>
              </a:spcAft>
            </a:pPr>
            <a:r>
              <a:rPr sz="1000" dirty="0">
                <a:solidFill>
                  <a:srgbClr val="64748B"/>
                </a:solidFill>
                <a:latin typeface="Consolas"/>
              </a:rPr>
              <a:t>└── </a:t>
            </a:r>
            <a:r>
              <a:rPr sz="1000" b="1" dirty="0" err="1">
                <a:solidFill>
                  <a:srgbClr val="FFFFFF"/>
                </a:solidFill>
                <a:latin typeface="Consolas"/>
              </a:rPr>
              <a:t>Makefile</a:t>
            </a:r>
            <a:r>
              <a:rPr sz="1000" dirty="0">
                <a:solidFill>
                  <a:srgbClr val="64748B"/>
                </a:solidFill>
                <a:latin typeface="Consolas"/>
              </a:rPr>
              <a:t>           # Compilation build script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3175" y="333375"/>
            <a:ext cx="16002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487810"/>
            <a:ext cx="11334750" cy="733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333375"/>
            <a:ext cx="1428898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3411735"/>
            <a:ext cx="3682900" cy="1466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400" y="3411735"/>
            <a:ext cx="3683049" cy="1466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0325" y="3411735"/>
            <a:ext cx="3682900" cy="1466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4288035"/>
            <a:ext cx="3378100" cy="4381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6800" y="4288035"/>
            <a:ext cx="3378249" cy="4381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2725" y="4288035"/>
            <a:ext cx="3378100" cy="4381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8625" y="6210300"/>
            <a:ext cx="11334750" cy="3143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8625" y="5021460"/>
            <a:ext cx="11334750" cy="14287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The interactive shell remains active after command completion, allowing continuous testing in a single session.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25" y="6362700"/>
            <a:ext cx="44386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Fira Code"/>
              </a:rPr>
              <a:t>Advanced Unix Utility Suite  Program Execution Mechanics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29975" y="6362700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Fira Code SemiBold"/>
              </a:rPr>
              <a:t>07</a:t>
            </a:r>
            <a:r>
              <a:rPr sz="975" b="0" i="0" u="none">
                <a:solidFill>
                  <a:srgbClr val="64748B"/>
                </a:solidFill>
                <a:latin typeface="Fira Code"/>
              </a:rPr>
              <a:t> /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" y="657225"/>
            <a:ext cx="5390673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0" i="0" u="none">
                <a:solidFill>
                  <a:srgbClr val="F8FAFC"/>
                </a:solidFill>
                <a:latin typeface="Inter ExtraBold"/>
              </a:rPr>
              <a:t>How the Program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625" y="106099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Interactive shell command processing cycle and internal execution flow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6050" y="428625"/>
            <a:ext cx="104775" cy="95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52450" y="2611635"/>
            <a:ext cx="11087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38BDF8"/>
                </a:solidFill>
                <a:latin typeface="Inter"/>
              </a:rPr>
              <a:t>COMMAND PROCESSING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450" y="2821185"/>
            <a:ext cx="1108710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25" b="0" i="0" u="none">
                <a:solidFill>
                  <a:srgbClr val="E2E8F0"/>
                </a:solidFill>
                <a:latin typeface="Fira Code"/>
              </a:rPr>
              <a:t>→ → → →</a:t>
            </a:r>
            <a:endParaRPr sz="825" b="0" i="0" u="none" dirty="0">
              <a:solidFill>
                <a:srgbClr val="E2E8F0"/>
              </a:solidFill>
              <a:latin typeface="Fira Code"/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52762" y="5040510"/>
            <a:ext cx="114300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400050"/>
            <a:ext cx="148679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2450" y="2821185"/>
            <a:ext cx="1409700" cy="2762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88456" y="2821185"/>
            <a:ext cx="1009650" cy="2762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83025" y="2830710"/>
            <a:ext cx="1076325" cy="2762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27043" y="2821185"/>
            <a:ext cx="1476375" cy="2762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29725" y="2821185"/>
            <a:ext cx="2409825" cy="2762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81025" y="3564135"/>
            <a:ext cx="33781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Fira Code"/>
              </a:rPr>
              <a:t>UnixSuite &gt; system-info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025" y="3792735"/>
            <a:ext cx="3378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System Calls Invoked: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6800" y="3564135"/>
            <a:ext cx="337824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Fira Code"/>
              </a:rPr>
              <a:t>UnixSuite &gt; processes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6800" y="3792735"/>
            <a:ext cx="337824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System Calls Invoked: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725" y="3564135"/>
            <a:ext cx="33781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Fira Code"/>
              </a:rPr>
              <a:t>UnixSuite &gt; file-info main.c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2725" y="3792735"/>
            <a:ext cx="3378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System Calls Invoked: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1025" y="4002285"/>
            <a:ext cx="704850" cy="2190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33500" y="4002285"/>
            <a:ext cx="857250" cy="2190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06800" y="4002285"/>
            <a:ext cx="628650" cy="2190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083075" y="4002285"/>
            <a:ext cx="628650" cy="2190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59350" y="4002285"/>
            <a:ext cx="628650" cy="2190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32725" y="4002285"/>
            <a:ext cx="628650" cy="2190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909000" y="4002285"/>
            <a:ext cx="628650" cy="2190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585275" y="4002285"/>
            <a:ext cx="628650" cy="21907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B9E088C3-9649-E5CB-F6C8-160B2035710F}"/>
              </a:ext>
            </a:extLst>
          </p:cNvPr>
          <p:cNvSpPr txBox="1"/>
          <p:nvPr/>
        </p:nvSpPr>
        <p:spPr>
          <a:xfrm>
            <a:off x="1742181" y="2847725"/>
            <a:ext cx="14763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 dirty="0">
                <a:solidFill>
                  <a:srgbClr val="E2E8F0"/>
                </a:solidFill>
                <a:latin typeface="Fira Code"/>
              </a:rPr>
              <a:t>→ → → →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7240B6-8B42-A0DD-0404-1710D94C2764}"/>
              </a:ext>
            </a:extLst>
          </p:cNvPr>
          <p:cNvSpPr txBox="1"/>
          <p:nvPr/>
        </p:nvSpPr>
        <p:spPr>
          <a:xfrm>
            <a:off x="3517469" y="2855937"/>
            <a:ext cx="14763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 dirty="0">
                <a:solidFill>
                  <a:srgbClr val="E2E8F0"/>
                </a:solidFill>
                <a:latin typeface="Fira Code"/>
              </a:rPr>
              <a:t>→ → → →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E6B17D3-C4FC-3543-B621-D6A606FCB833}"/>
              </a:ext>
            </a:extLst>
          </p:cNvPr>
          <p:cNvSpPr txBox="1"/>
          <p:nvPr/>
        </p:nvSpPr>
        <p:spPr>
          <a:xfrm>
            <a:off x="8061275" y="2840904"/>
            <a:ext cx="14763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 dirty="0">
                <a:solidFill>
                  <a:srgbClr val="E2E8F0"/>
                </a:solidFill>
                <a:latin typeface="Fira Code"/>
              </a:rPr>
              <a:t>→ → →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5525" y="333375"/>
            <a:ext cx="18478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33375"/>
            <a:ext cx="2007989" cy="247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8625" y="6362700"/>
            <a:ext cx="38290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Fira Code"/>
              </a:rPr>
              <a:t>Advanced Unix Utility Suite  Code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29975" y="6362700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Fira Code SemiBold"/>
              </a:rPr>
              <a:t>08</a:t>
            </a:r>
            <a:r>
              <a:rPr sz="975" b="0" i="0" u="none">
                <a:solidFill>
                  <a:srgbClr val="64748B"/>
                </a:solidFill>
                <a:latin typeface="Fira Code"/>
              </a:rPr>
              <a:t> 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625" y="657225"/>
            <a:ext cx="4053319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0" i="0" u="none">
                <a:solidFill>
                  <a:srgbClr val="F8FAFC"/>
                </a:solidFill>
                <a:latin typeface="Inter ExtraBold"/>
              </a:rPr>
              <a:t>50% Code 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625" y="1060995"/>
            <a:ext cx="3860303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C code snippets and actual internal execution outputs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428625"/>
            <a:ext cx="85725" cy="952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8375" y="4788098"/>
            <a:ext cx="1743075" cy="200025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29768" y="1591056"/>
            <a:ext cx="3593592" cy="3657600"/>
          </a:xfrm>
          <a:prstGeom prst="roundRect">
            <a:avLst/>
          </a:prstGeom>
          <a:solidFill>
            <a:srgbClr val="0D1B2E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ctr"/>
          <a:lstStyle/>
          <a:p>
            <a:pPr>
              <a:spcAft>
                <a:spcPts val="8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1. System Information Module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2029968"/>
            <a:ext cx="3319272" cy="1554480"/>
          </a:xfrm>
          <a:prstGeom prst="roundRect">
            <a:avLst/>
          </a:prstGeom>
          <a:solidFill>
            <a:srgbClr val="050B1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>
              <a:spcAft>
                <a:spcPts val="150"/>
              </a:spcAft>
            </a:pPr>
            <a:r>
              <a:rPr sz="900">
                <a:solidFill>
                  <a:srgbClr val="64748B"/>
                </a:solidFill>
                <a:latin typeface="Consolas"/>
              </a:rPr>
              <a:t>// Obtain kernel info</a:t>
            </a:r>
          </a:p>
          <a:p>
            <a:pPr>
              <a:spcAft>
                <a:spcPts val="150"/>
              </a:spcAft>
            </a:pPr>
            <a:r>
              <a:rPr sz="900">
                <a:solidFill>
                  <a:srgbClr val="38BDF8"/>
                </a:solidFill>
                <a:latin typeface="Consolas"/>
              </a:rPr>
              <a:t>struct utsname info;</a:t>
            </a:r>
          </a:p>
          <a:p>
            <a:pPr>
              <a:spcAft>
                <a:spcPts val="150"/>
              </a:spcAft>
            </a:pPr>
            <a:r>
              <a:rPr sz="900">
                <a:solidFill>
                  <a:srgbClr val="38BDF8"/>
                </a:solidFill>
                <a:latin typeface="Consolas"/>
              </a:rPr>
              <a:t>uname(&amp;info);</a:t>
            </a:r>
          </a:p>
          <a:p>
            <a:pPr>
              <a:spcAft>
                <a:spcPts val="150"/>
              </a:spcAft>
            </a:pPr>
            <a:endParaRPr sz="900">
              <a:solidFill>
                <a:srgbClr val="38BDF8"/>
              </a:solidFill>
              <a:latin typeface="Consolas"/>
            </a:endParaRPr>
          </a:p>
          <a:p>
            <a:pPr>
              <a:spcAft>
                <a:spcPts val="150"/>
              </a:spcAft>
            </a:pPr>
            <a:r>
              <a:rPr sz="900">
                <a:solidFill>
                  <a:srgbClr val="64748B"/>
                </a:solidFill>
                <a:latin typeface="Consolas"/>
              </a:rPr>
              <a:t>// Obtain CPU core count</a:t>
            </a:r>
          </a:p>
          <a:p>
            <a:pPr>
              <a:spcAft>
                <a:spcPts val="150"/>
              </a:spcAft>
            </a:pPr>
            <a:r>
              <a:rPr sz="900">
                <a:solidFill>
                  <a:srgbClr val="38BDF8"/>
                </a:solidFill>
                <a:latin typeface="Consolas"/>
              </a:rPr>
              <a:t>long cores = sysconf(_SC_NPROCESSORS_ONLN);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675887"/>
            <a:ext cx="3319272" cy="1417320"/>
          </a:xfrm>
          <a:prstGeom prst="roundRect">
            <a:avLst/>
          </a:prstGeom>
          <a:solidFill>
            <a:srgbClr val="091E36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>
              <a:spcAft>
                <a:spcPts val="400"/>
              </a:spcAft>
              <a:defRPr sz="950" b="1">
                <a:solidFill>
                  <a:srgbClr val="00E5FF"/>
                </a:solidFill>
                <a:latin typeface="Consolas"/>
              </a:defRPr>
            </a:pPr>
            <a:r>
              <a:t>[INTERNAL WORKING]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ADE80"/>
                </a:solidFill>
                <a:latin typeface="Consolas"/>
              </a:rPr>
              <a:t>uname() fetched kernel name &amp; release.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ADE80"/>
                </a:solidFill>
                <a:latin typeface="Consolas"/>
              </a:rPr>
              <a:t>CPU Cores Online: 20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ADE80"/>
                </a:solidFill>
                <a:latin typeface="Consolas"/>
              </a:rPr>
              <a:t>sysconf(_SC_NPROCESSORS_ONLN) verified.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1591056"/>
            <a:ext cx="3593592" cy="3657600"/>
          </a:xfrm>
          <a:prstGeom prst="roundRect">
            <a:avLst/>
          </a:prstGeom>
          <a:solidFill>
            <a:srgbClr val="0D1B2E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ctr"/>
          <a:lstStyle/>
          <a:p>
            <a:pPr>
              <a:spcAft>
                <a:spcPts val="8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2. Process Management Module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2029968"/>
            <a:ext cx="3319272" cy="1554480"/>
          </a:xfrm>
          <a:prstGeom prst="roundRect">
            <a:avLst/>
          </a:prstGeom>
          <a:solidFill>
            <a:srgbClr val="050B1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>
              <a:spcAft>
                <a:spcPts val="150"/>
              </a:spcAft>
            </a:pPr>
            <a:r>
              <a:rPr sz="900">
                <a:solidFill>
                  <a:srgbClr val="38BDF8"/>
                </a:solidFill>
                <a:latin typeface="Consolas"/>
              </a:rPr>
              <a:t>pid = fork();</a:t>
            </a:r>
          </a:p>
          <a:p>
            <a:pPr>
              <a:spcAft>
                <a:spcPts val="150"/>
              </a:spcAft>
            </a:pPr>
            <a:r>
              <a:rPr sz="900">
                <a:solidFill>
                  <a:srgbClr val="38BDF8"/>
                </a:solidFill>
                <a:latin typeface="Consolas"/>
              </a:rPr>
              <a:t>if (pid == 0) {</a:t>
            </a:r>
          </a:p>
          <a:p>
            <a:pPr>
              <a:spcAft>
                <a:spcPts val="150"/>
              </a:spcAft>
            </a:pPr>
            <a:r>
              <a:rPr sz="900">
                <a:solidFill>
                  <a:srgbClr val="38BDF8"/>
                </a:solidFill>
                <a:latin typeface="Consolas"/>
              </a:rPr>
              <a:t>    execlp("echo", "echo", ... );</a:t>
            </a:r>
          </a:p>
          <a:p>
            <a:pPr>
              <a:spcAft>
                <a:spcPts val="150"/>
              </a:spcAft>
            </a:pPr>
            <a:r>
              <a:rPr sz="900">
                <a:solidFill>
                  <a:srgbClr val="38BDF8"/>
                </a:solidFill>
                <a:latin typeface="Consolas"/>
              </a:rPr>
              <a:t>} else {</a:t>
            </a:r>
          </a:p>
          <a:p>
            <a:pPr>
              <a:spcAft>
                <a:spcPts val="150"/>
              </a:spcAft>
            </a:pPr>
            <a:r>
              <a:rPr sz="900">
                <a:solidFill>
                  <a:srgbClr val="38BDF8"/>
                </a:solidFill>
                <a:latin typeface="Consolas"/>
              </a:rPr>
              <a:t>    wait(&amp;status);</a:t>
            </a:r>
          </a:p>
          <a:p>
            <a:pPr>
              <a:spcAft>
                <a:spcPts val="150"/>
              </a:spcAft>
            </a:pPr>
            <a:r>
              <a:rPr sz="9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675887"/>
            <a:ext cx="3319272" cy="1417320"/>
          </a:xfrm>
          <a:prstGeom prst="roundRect">
            <a:avLst/>
          </a:prstGeom>
          <a:solidFill>
            <a:srgbClr val="091E36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>
              <a:spcAft>
                <a:spcPts val="400"/>
              </a:spcAft>
              <a:defRPr sz="950" b="1">
                <a:solidFill>
                  <a:srgbClr val="00E5FF"/>
                </a:solidFill>
                <a:latin typeface="Consolas"/>
              </a:defRPr>
            </a:pPr>
            <a:r>
              <a:t>[INTERNAL WORKING]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ADE80"/>
                </a:solidFill>
                <a:latin typeface="Consolas"/>
              </a:rPr>
              <a:t>STEP 1: fork() → Parent PID: 1185, Child PID: 1186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ADE80"/>
                </a:solidFill>
                <a:latin typeface="Consolas"/>
              </a:rPr>
              <a:t>STEP 2: exec() → Replaced process image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ADE80"/>
                </a:solidFill>
                <a:latin typeface="Consolas"/>
              </a:rPr>
              <a:t>STEP 3: wait() → Child exit status: 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65592" y="1591056"/>
            <a:ext cx="3593592" cy="3657600"/>
          </a:xfrm>
          <a:prstGeom prst="roundRect">
            <a:avLst/>
          </a:prstGeom>
          <a:solidFill>
            <a:srgbClr val="0D1B2E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ctr"/>
          <a:lstStyle/>
          <a:p>
            <a:pPr>
              <a:spcAft>
                <a:spcPts val="8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3. File System Module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02752" y="2029968"/>
            <a:ext cx="3319272" cy="1554480"/>
          </a:xfrm>
          <a:prstGeom prst="roundRect">
            <a:avLst/>
          </a:prstGeom>
          <a:solidFill>
            <a:srgbClr val="050B1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>
              <a:spcAft>
                <a:spcPts val="150"/>
              </a:spcAft>
            </a:pPr>
            <a:r>
              <a:rPr sz="900">
                <a:solidFill>
                  <a:srgbClr val="38BDF8"/>
                </a:solidFill>
                <a:latin typeface="Consolas"/>
              </a:rPr>
              <a:t>struct stat st;</a:t>
            </a:r>
          </a:p>
          <a:p>
            <a:pPr>
              <a:spcAft>
                <a:spcPts val="150"/>
              </a:spcAft>
            </a:pPr>
            <a:r>
              <a:rPr sz="900">
                <a:solidFill>
                  <a:srgbClr val="38BDF8"/>
                </a:solidFill>
                <a:latin typeface="Consolas"/>
              </a:rPr>
              <a:t>stat(filename, &amp;st);</a:t>
            </a:r>
          </a:p>
          <a:p>
            <a:pPr>
              <a:spcAft>
                <a:spcPts val="150"/>
              </a:spcAft>
            </a:pPr>
            <a:r>
              <a:rPr sz="900">
                <a:solidFill>
                  <a:srgbClr val="38BDF8"/>
                </a:solidFill>
                <a:latin typeface="Consolas"/>
              </a:rPr>
              <a:t>fd = open(filename, O_RDONLY);</a:t>
            </a:r>
          </a:p>
          <a:p>
            <a:pPr>
              <a:spcAft>
                <a:spcPts val="150"/>
              </a:spcAft>
            </a:pPr>
            <a:r>
              <a:rPr sz="900">
                <a:solidFill>
                  <a:srgbClr val="38BDF8"/>
                </a:solidFill>
                <a:latin typeface="Consolas"/>
              </a:rPr>
              <a:t>read(fd, buffer, sizeof(buffer));</a:t>
            </a:r>
          </a:p>
          <a:p>
            <a:pPr>
              <a:spcAft>
                <a:spcPts val="150"/>
              </a:spcAft>
            </a:pPr>
            <a:r>
              <a:rPr sz="900">
                <a:solidFill>
                  <a:srgbClr val="38BDF8"/>
                </a:solidFill>
                <a:latin typeface="Consolas"/>
              </a:rPr>
              <a:t>close(fd);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02752" y="3675887"/>
            <a:ext cx="3319272" cy="1417320"/>
          </a:xfrm>
          <a:prstGeom prst="roundRect">
            <a:avLst/>
          </a:prstGeom>
          <a:solidFill>
            <a:srgbClr val="091E36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>
              <a:spcAft>
                <a:spcPts val="400"/>
              </a:spcAft>
              <a:defRPr sz="950" b="1">
                <a:solidFill>
                  <a:srgbClr val="00E5FF"/>
                </a:solidFill>
                <a:latin typeface="Consolas"/>
              </a:defRPr>
            </a:pPr>
            <a:r>
              <a:t>[INTERNAL WORKING]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ADE80"/>
                </a:solidFill>
                <a:latin typeface="Consolas"/>
              </a:rPr>
              <a:t>1. stat() retrieved file metadata.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ADE80"/>
                </a:solidFill>
                <a:latin typeface="Consolas"/>
              </a:rPr>
              <a:t>2. open() assigned File Descriptor (fd): 3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ADE80"/>
                </a:solidFill>
                <a:latin typeface="Consolas"/>
              </a:rPr>
              <a:t>3. read() fetched bytes, close(3) released descriptor.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" y="5376672"/>
            <a:ext cx="11338560" cy="502920"/>
          </a:xfrm>
          <a:prstGeom prst="roundRect">
            <a:avLst/>
          </a:prstGeom>
          <a:solidFill>
            <a:srgbClr val="0D1B2E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r>
              <a:rPr sz="1100" b="1">
                <a:solidFill>
                  <a:srgbClr val="FFFFFF"/>
                </a:solidFill>
                <a:latin typeface="Segoe UI"/>
              </a:rPr>
              <a:t>⚙- Implementation Status: Core 3 Modules Implemented &amp; Validated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5468112"/>
            <a:ext cx="2011680" cy="320040"/>
          </a:xfrm>
          <a:prstGeom prst="roundRect">
            <a:avLst/>
          </a:prstGeom>
          <a:solidFill>
            <a:srgbClr val="065F46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DE80"/>
                </a:solidFill>
                <a:latin typeface="Segoe UI"/>
              </a:defRPr>
            </a:pPr>
            <a:r>
              <a:t>✓ 50% CODEBASE COMPLETE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467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6475" y="333375"/>
            <a:ext cx="18669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33375"/>
            <a:ext cx="1255514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087909"/>
            <a:ext cx="5572125" cy="347632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" y="2097434"/>
            <a:ext cx="5553075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2087909"/>
            <a:ext cx="5572125" cy="132367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3525887"/>
            <a:ext cx="5572125" cy="15811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0" y="5221337"/>
            <a:ext cx="5572125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625" y="6210300"/>
            <a:ext cx="11334750" cy="3143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8625" y="6362700"/>
            <a:ext cx="36766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Fira Code"/>
              </a:rPr>
              <a:t>Advanced Unix Utility Suite  Execution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29975" y="6362700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Fira Code SemiBold"/>
              </a:rPr>
              <a:t>09</a:t>
            </a:r>
            <a:r>
              <a:rPr sz="975" b="0" i="0" u="none">
                <a:solidFill>
                  <a:srgbClr val="64748B"/>
                </a:solidFill>
                <a:latin typeface="Fira Code"/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625" y="657225"/>
            <a:ext cx="5500687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0" i="0" u="none">
                <a:solidFill>
                  <a:srgbClr val="F8FAFC"/>
                </a:solidFill>
                <a:latin typeface="Inter ExtraBold"/>
              </a:rPr>
              <a:t>Actual Execution &amp; Testing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25" y="1060995"/>
            <a:ext cx="52387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Live output evidence compiled and executed in WSL2 Linux environment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39350" y="428625"/>
            <a:ext cx="104775" cy="95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400050"/>
            <a:ext cx="120104" cy="114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772346" y="2173634"/>
            <a:ext cx="2085528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Fira Code"/>
              </a:rPr>
              <a:t>WSL2 Terminal — Execution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535584"/>
            <a:ext cx="528637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22D3EE"/>
                </a:solidFill>
                <a:latin typeface="Fira Code"/>
              </a:rPr>
              <a:t>$ make clean &amp;&amp; make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2692747"/>
            <a:ext cx="528637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64748B"/>
                </a:solidFill>
                <a:latin typeface="Fira Code"/>
              </a:rPr>
              <a:t>rm -f *.o unixsuite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2849909"/>
            <a:ext cx="528637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64748B"/>
                </a:solidFill>
                <a:latin typeface="Fira Code"/>
              </a:rPr>
              <a:t>gcc -Wall -c main.c system_info.c process_manager.c file_system.c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3007072"/>
            <a:ext cx="528637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64748B"/>
                </a:solidFill>
                <a:latin typeface="Fira Code"/>
              </a:rPr>
              <a:t>gcc main.o system_info.o process_manager.o file_system.o -o unixsuite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3164234"/>
            <a:ext cx="528637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4ADE80"/>
                </a:solidFill>
                <a:latin typeface="Fira Code"/>
              </a:rPr>
              <a:t>Compilation completed successfully.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3478559"/>
            <a:ext cx="528637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22D3EE"/>
                </a:solidFill>
                <a:latin typeface="Fira Code"/>
              </a:rPr>
              <a:t>$ ./unixsuite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3635722"/>
            <a:ext cx="528637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4ADE80"/>
                </a:solidFill>
                <a:latin typeface="Fira Code"/>
              </a:rPr>
              <a:t>UnixSuite &gt;</a:t>
            </a:r>
            <a:r>
              <a:rPr sz="825" b="0" i="0" u="none">
                <a:solidFill>
                  <a:srgbClr val="CBD5E1"/>
                </a:solidFill>
                <a:latin typeface="Fira Code"/>
              </a:rPr>
              <a:t> </a:t>
            </a:r>
            <a:r>
              <a:rPr sz="825" b="0" i="0" u="none">
                <a:solidFill>
                  <a:srgbClr val="F8FAFC"/>
                </a:solidFill>
                <a:latin typeface="Fira Code SemiBold"/>
              </a:rPr>
              <a:t>system-info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3792884"/>
            <a:ext cx="528637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64748B"/>
                </a:solidFill>
                <a:latin typeface="Fira Code"/>
              </a:rPr>
              <a:t>System : Linux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3950047"/>
            <a:ext cx="528637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64748B"/>
                </a:solidFill>
                <a:latin typeface="Fira Code"/>
              </a:rPr>
              <a:t>Kernel : 6.18.33.2-microsoft-standard-WSL2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4107209"/>
            <a:ext cx="528637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64748B"/>
                </a:solidFill>
                <a:latin typeface="Fira Code"/>
              </a:rPr>
              <a:t>Architecture: x86_64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4264372"/>
            <a:ext cx="528637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64748B"/>
                </a:solidFill>
                <a:latin typeface="Fira Code"/>
              </a:rPr>
              <a:t>Available CPU Cores :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4421534"/>
            <a:ext cx="528637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64748B"/>
                </a:solidFill>
                <a:latin typeface="Fira Code"/>
              </a:rPr>
              <a:t>Approx. RAM : 7.61 GB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4735859"/>
            <a:ext cx="528637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4ADE80"/>
                </a:solidFill>
                <a:latin typeface="Fira Code"/>
              </a:rPr>
              <a:t>UnixSuite &gt;</a:t>
            </a:r>
            <a:r>
              <a:rPr sz="825" b="0" i="0" u="none">
                <a:solidFill>
                  <a:srgbClr val="CBD5E1"/>
                </a:solidFill>
                <a:latin typeface="Fira Code"/>
              </a:rPr>
              <a:t> </a:t>
            </a:r>
            <a:r>
              <a:rPr sz="825" b="0" i="0" u="none">
                <a:solidFill>
                  <a:srgbClr val="F8FAFC"/>
                </a:solidFill>
                <a:latin typeface="Fira Code SemiBold"/>
              </a:rPr>
              <a:t>processes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" y="4893022"/>
            <a:ext cx="528637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64748B"/>
                </a:solidFill>
                <a:latin typeface="Fira Code"/>
              </a:rPr>
              <a:t>Parent PID : 1185 | Child PID : 1186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" y="5050184"/>
            <a:ext cx="528637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64748B"/>
                </a:solidFill>
                <a:latin typeface="Fira Code"/>
              </a:rPr>
              <a:t>[Child] exec() successfully executed a new program!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" y="5207347"/>
            <a:ext cx="528637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64748B"/>
                </a:solidFill>
                <a:latin typeface="Fira Code"/>
              </a:rPr>
              <a:t>[Parent] Child completed normally. Exit status: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4125" y="2230784"/>
            <a:ext cx="5286375" cy="14287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Inter"/>
              </a:rPr>
              <a:t>Test Run: file-info main.c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4125" y="2430809"/>
            <a:ext cx="5286375" cy="837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25" b="0" i="0" u="none">
                <a:solidFill>
                  <a:srgbClr val="CBD5E1"/>
                </a:solidFill>
                <a:latin typeface="Fira Code"/>
              </a:rPr>
              <a:t>File : main.c</a:t>
            </a:r>
            <a:r>
              <a:t>
</a:t>
            </a:r>
            <a:r>
              <a:rPr sz="825" b="0" i="0" u="none">
                <a:solidFill>
                  <a:srgbClr val="CBD5E1"/>
                </a:solidFill>
                <a:latin typeface="Fira Code"/>
              </a:rPr>
              <a:t> Size : 3778 bytes</a:t>
            </a:r>
            <a:r>
              <a:t>
</a:t>
            </a:r>
            <a:r>
              <a:rPr sz="825" b="0" i="0" u="none">
                <a:solidFill>
                  <a:srgbClr val="CBD5E1"/>
                </a:solidFill>
                <a:latin typeface="Fira Code"/>
              </a:rPr>
              <a:t> Permissions : 777 (rwxrwxrwx)</a:t>
            </a:r>
            <a:r>
              <a:t>
</a:t>
            </a:r>
            <a:r>
              <a:rPr sz="825" b="0" i="0" u="none">
                <a:solidFill>
                  <a:srgbClr val="CBD5E1"/>
                </a:solidFill>
                <a:latin typeface="Fira Code"/>
              </a:rPr>
              <a:t> Owner UID : 1000 | Group GID : 1000</a:t>
            </a:r>
            <a:r>
              <a:t>
</a:t>
            </a:r>
            <a:r>
              <a:rPr sz="825" b="0" i="0" u="none">
                <a:solidFill>
                  <a:srgbClr val="CBD5E1"/>
                </a:solidFill>
                <a:latin typeface="Fira Code"/>
              </a:rPr>
              <a:t> Links :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4125" y="3668762"/>
            <a:ext cx="5286375" cy="142875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ADE80"/>
                </a:solidFill>
                <a:latin typeface="Inter"/>
              </a:rPr>
              <a:t>Verification Metrics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5087" y="5345162"/>
            <a:ext cx="104775" cy="104775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571500" y="219744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23900" y="2197447"/>
            <a:ext cx="95250" cy="95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76300" y="2197447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34125" y="2249834"/>
            <a:ext cx="85725" cy="1143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34125" y="3687812"/>
            <a:ext cx="104775" cy="1143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543675" y="3868787"/>
            <a:ext cx="50768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No Compilation Errors: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Zero warnings with -Wall flag.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43675" y="4173587"/>
            <a:ext cx="50768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Real Kernel Data: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Fetched actual host processor metrics (20 cores, 7.61 GB RAM).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43675" y="4668887"/>
            <a:ext cx="50768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Process Synchronization: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Correct PID tracking and exit status capture.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4125" y="3868787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4125" y="4173587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4125" y="4668887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Fira Code"/>
              </a:rPr>
              <a:t>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5525" y="333375"/>
            <a:ext cx="18478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33375"/>
            <a:ext cx="1472654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441995"/>
            <a:ext cx="5548312" cy="1695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062" y="1441995"/>
            <a:ext cx="5548312" cy="1695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937295"/>
            <a:ext cx="5186362" cy="114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1946820"/>
            <a:ext cx="2583656" cy="95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6037" y="1927770"/>
            <a:ext cx="1677888" cy="4381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0125" y="1927770"/>
            <a:ext cx="1678037" cy="4381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4362" y="1927770"/>
            <a:ext cx="1678037" cy="4381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8625" y="6210300"/>
            <a:ext cx="11334750" cy="3143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8625" y="6362700"/>
            <a:ext cx="39814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Fira Code"/>
              </a:rPr>
              <a:t>Advanced Unix Utility Suite  Progress &amp; 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9975" y="6362700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Fira Code SemiBold"/>
              </a:rPr>
              <a:t>10</a:t>
            </a:r>
            <a:r>
              <a:rPr sz="975" b="0" i="0" u="none">
                <a:solidFill>
                  <a:srgbClr val="64748B"/>
                </a:solidFill>
                <a:latin typeface="Fira Code"/>
              </a:rPr>
              <a:t>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625" y="657225"/>
            <a:ext cx="608076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0" i="0" u="none">
                <a:solidFill>
                  <a:srgbClr val="F8FAFC"/>
                </a:solidFill>
                <a:latin typeface="Inter ExtraBold"/>
              </a:rPr>
              <a:t>Current Progress &amp; 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" y="1060995"/>
            <a:ext cx="5791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Review 2 status summary and implementation roadmap for Review 3 completion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8400" y="428625"/>
            <a:ext cx="85725" cy="95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" y="5829300"/>
            <a:ext cx="17145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3450" y="5734050"/>
            <a:ext cx="106394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Inter"/>
              </a:rPr>
              <a:t>Final Project Goal: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Deliver one unified, C-based Linux toolkit that seamlessly combines practical operating system utilities with transparent step-by-step explanations of the system call mechanisms behind them.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" y="400050"/>
            <a:ext cx="120104" cy="114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9600" y="1622970"/>
            <a:ext cx="5186362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Review 2 Implementation Level</a:t>
            </a:r>
            <a:r>
              <a:rPr sz="1200" b="0" i="0" u="none">
                <a:solidFill>
                  <a:srgbClr val="E2E8F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4ADE80"/>
                </a:solidFill>
                <a:latin typeface="Inter ExtraBold"/>
              </a:rPr>
              <a:t>50% COMPLETE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2194470"/>
            <a:ext cx="518636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ADE80"/>
                </a:solidFill>
                <a:latin typeface="Inter"/>
              </a:rPr>
              <a:t>COMPLETED MODULES &amp; APIS: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037" y="1632495"/>
            <a:ext cx="518636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Remaining Development (50%)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6037" y="2508795"/>
            <a:ext cx="518636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CBD5E1"/>
                </a:solidFill>
                <a:latin typeface="Inter"/>
              </a:rPr>
              <a:t>Immediate Next Step:</a:t>
            </a:r>
            <a:r>
              <a:rPr sz="825" b="0" i="0" u="none">
                <a:solidFill>
                  <a:srgbClr val="CBD5E1"/>
                </a:solidFill>
                <a:latin typeface="Inter"/>
              </a:rPr>
              <a:t> Implement the IPC module using POSIX anonymous pipes and named FIFOs, then integrate memory analysis routines.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2413545"/>
            <a:ext cx="256460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✓ Interactive Shell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1356" y="2413545"/>
            <a:ext cx="256460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✓ uname(), sysconf()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2613570"/>
            <a:ext cx="256460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✓ Command Parser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1356" y="2613570"/>
            <a:ext cx="256460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✓ fork(), exec(), wait()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2813595"/>
            <a:ext cx="256460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✓ Internal Display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31356" y="2813595"/>
            <a:ext cx="256460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✓ stat(), open(), read()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77450" y="1632495"/>
            <a:ext cx="1504950" cy="20002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81762" y="2013495"/>
            <a:ext cx="7048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DE047"/>
                </a:solidFill>
                <a:latin typeface="Inter"/>
              </a:rPr>
              <a:t>1. IPC Module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1762" y="2156370"/>
            <a:ext cx="90487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94A3B8"/>
                </a:solidFill>
                <a:latin typeface="Inter"/>
              </a:rPr>
              <a:t>pipe(), FIFO, signals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5850" y="2013495"/>
            <a:ext cx="9810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DE047"/>
                </a:solidFill>
                <a:latin typeface="Inter"/>
              </a:rPr>
              <a:t>2. Memory Module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5850" y="2156370"/>
            <a:ext cx="9334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94A3B8"/>
                </a:solidFill>
                <a:latin typeface="Inter"/>
              </a:rPr>
              <a:t>sbrk(), memory 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90087" y="2013495"/>
            <a:ext cx="800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DE047"/>
                </a:solidFill>
                <a:latin typeface="Inter"/>
              </a:rPr>
              <a:t>3. Concurrency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90087" y="2156370"/>
            <a:ext cx="8382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94A3B8"/>
                </a:solidFill>
                <a:latin typeface="Inter"/>
              </a:rPr>
              <a:t>pthreads, mutexes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1725</Words>
  <Application>Microsoft Office PowerPoint</Application>
  <PresentationFormat>Widescreen</PresentationFormat>
  <Paragraphs>304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Calibri</vt:lpstr>
      <vt:lpstr>Consolas</vt:lpstr>
      <vt:lpstr>Fira Code</vt:lpstr>
      <vt:lpstr>Fira Code SemiBold</vt:lpstr>
      <vt:lpstr>Inter</vt:lpstr>
      <vt:lpstr>Inter ExtraBold</vt:lpstr>
      <vt:lpstr>Inter Medium</vt:lpstr>
      <vt:lpstr>Inter SemiBold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Kotha Sai srinath</cp:lastModifiedBy>
  <cp:revision>2</cp:revision>
  <dcterms:created xsi:type="dcterms:W3CDTF">2013-01-27T09:14:16Z</dcterms:created>
  <dcterms:modified xsi:type="dcterms:W3CDTF">2026-08-21T08:24:14Z</dcterms:modified>
  <cp:category/>
</cp:coreProperties>
</file>