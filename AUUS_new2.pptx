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3336E3-C895-2FCE-22ED-9512101F74EF}">
          <p14:sldIdLst>
            <p14:sldId id="256"/>
            <p14:sldId id="257"/>
            <p14:sldId id="258"/>
            <p14:sldId id="259"/>
          </p14:sldIdLst>
        </p14:section>
        <p14:section name="Design" id="{EFF50DA4-D1C5-1FF6-114D-375A3CA31465}">
          <p14:sldIdLst>
            <p14:sldId id="260"/>
            <p14:sldId id="261"/>
            <p14:sldId id="262"/>
          </p14:sldIdLst>
        </p14:section>
        <p14:section name="Modules" id="{ABD27B6D-F1AF-8A7A-90EE-70F0D02B275A}">
          <p14:sldIdLst>
            <p14:sldId id="263"/>
            <p14:sldId id="264"/>
            <p14:sldId id="265"/>
            <p14:sldId id="266"/>
            <p14:sldId id="267"/>
            <p14:sldId id="268"/>
          </p14:sldIdLst>
        </p14:section>
        <p14:section name="Results" id="{BBE86E87-AA40-AF7F-2EB5-52F897E43909}">
          <p14:sldIdLst>
            <p14:sldId id="269"/>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3500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faculty members. Today we are presenting our project titled 'Advanced UNIX Utility Suite (UnixSuite)'. It is a modular, high-performance system programming toolkit implemented in C that demonstrates fundamental Linux and POSIX kernel abstractions through observable, real-time command execution.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UnixSuite provides a structured command-line environment designed to explore six key pillars of operating systems. Rather than treating system calls as black boxes, each module executes real POSIX operations and returns both standard output and detailed internal working messages for clear educational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systems courses often focus heavily on textbook theory without providing students with an observable way to witness kernel behaviors. UnixSuite resolves this by mapping theoretical concepts directly to C system calls and rendering observable outputs, bridging the gap between theory and practical engineering.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targeted eight explicit learning objectives covering everything from hardware telemetry and process control to IPC, memory analysis, and multithreading synchronization, all built according to rigorous modular C programming principles.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implemented strictly in C99 using native POSIX and Linux kernel APIs, compiled with GCC and GNU Make. We avoided external frameworks to ensure direct, unmediated communication with the Linux kernel interfaces.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block diagram shows the clean separation of concerns in our architecture. main.c acts as the command dispatcher, routing user input to individual modular C subsystems. Each .c file contains the implementation while .h header files declare clean interfaces.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terminal interface operates as an interactive REPL loop. Users enter commands such as system-info, processes, or thread-demo, and the dispatcher invokes the corresponding C function, formatting both results and internal working telemetry.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contrast system information with file management. uname() and sysconf() query live kernel parameters, while stat() extracts physical inode metadata and open()/read() demonstrate low-level file descriptor stream 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crucial to distinguish process creation from program execution. fork() creates a new process by cloning the parent, while exec() replaces the memory image of that process with a new program. The parent uses waitpid() to avoid leaving zombie processes.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Anonymous pipes provide unidirectional byte streaming between related processes. The child writes into pipefd[1], and the parent reads from pipefd[0]. Unused file descriptors are closed to ensure proper end-of-file signaling.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Signals allow processes to handle asynchronous events. We use sigaction() rather than the legacy signal() API for portable, reliable handler registration, and declare our handler flag as volatile sig_atomic_t so reads and writes remain atomic and safe when a signal interrupts the program.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memory module inspects /proc/self/status and /proc/self/maps. Crucially, we emphasize that virtual memory (VmSize) and physical resident memory (VmRSS) are not interchangeable. VmRSS represents the exact physical memory pages currently mapped in hardware RAM.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multithreading, multiple threads share a single process's memory. When two threads concurrently increment a counter without synchronization, a race condition occurs and increments are lost, typically leaving the counter around 140,000 to 170,000 instead of 200,000. Enclosing the increment inside a mutex lock guarantees mutual exclusion and 100% data integrity.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our live demonstration plan. Every feature has been compiled and verified on Linux. In our demonstration, we will show command execution in the terminal alongside our companion visual dashboard.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UnixSuite is a C-based Linux utility toolkit that brings six core operating-system utilities into one interactive command-line application. We launch it once with ./unixsuite and reach every module through commands such as system-info, processes, memory-info and ipc-demo, with internal-working traces explaining what happens behind each command. All six of six modules are implemented, and our mutex-synchronized threading demo reaches the expected counter value of 200,000.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UUS">
    <p:bg>
      <p:bgPr>
        <a:solidFill>
          <a:srgbClr val="0B111D"/>
        </a:solidFill>
        <a:effectLst/>
      </p:bgPr>
    </p:bg>
    <p:spTree>
      <p:nvGrpSpPr>
        <p:cNvPr id="1" name=""/>
        <p:cNvGrpSpPr/>
        <p:nvPr/>
      </p:nvGrpSpPr>
      <p:grpSpPr>
        <a:xfrm>
          <a:off x="0" y="0"/>
          <a:ext cx="0" cy="0"/>
          <a:chOff x="0" y="0"/>
          <a:chExt cx="0" cy="0"/>
        </a:xfrm>
      </p:grpSpPr>
      <p:sp>
        <p:nvSpPr>
          <p:cNvPr id="2" name="Shape 0"/>
          <p:cNvSpPr/>
          <p:nvPr/>
        </p:nvSpPr>
        <p:spPr>
          <a:xfrm>
            <a:off x="0" y="0"/>
            <a:ext cx="12191695" cy="36576"/>
          </a:xfrm>
          <a:prstGeom prst="rect">
            <a:avLst/>
          </a:prstGeom>
          <a:solidFill>
            <a:srgbClr val="00E5FF"/>
          </a:solidFill>
          <a:ln/>
        </p:spPr>
      </p:sp>
      <p:sp>
        <p:nvSpPr>
          <p:cNvPr id="3" name="Shape 1"/>
          <p:cNvSpPr/>
          <p:nvPr/>
        </p:nvSpPr>
        <p:spPr>
          <a:xfrm>
            <a:off x="457200" y="6355080"/>
            <a:ext cx="11277295" cy="0"/>
          </a:xfrm>
          <a:prstGeom prst="line">
            <a:avLst/>
          </a:prstGeom>
          <a:noFill/>
          <a:ln w="9525">
            <a:solidFill>
              <a:srgbClr val="1E3A5F"/>
            </a:solidFill>
            <a:prstDash val="solid"/>
          </a:ln>
        </p:spPr>
      </p:sp>
      <p:sp>
        <p:nvSpPr>
          <p:cNvPr id="4" name="Text 2"/>
          <p:cNvSpPr/>
          <p:nvPr/>
        </p:nvSpPr>
        <p:spPr>
          <a:xfrm>
            <a:off x="457200" y="6428232"/>
            <a:ext cx="7315200" cy="2743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Advanced Unix Utility Suite (UnixSuite)  |  OSSP — Review 2</a:t>
            </a:r>
            <a:endParaRPr lang="en-US" sz="1100" dirty="0"/>
          </a:p>
        </p:txBody>
      </p:sp>
      <p:sp>
        <p:nvSpPr>
          <p:cNvPr id="5" name="Text 3"/>
          <p:cNvSpPr/>
          <p:nvPr/>
        </p:nvSpPr>
        <p:spPr>
          <a:xfrm>
            <a:off x="11320272" y="6428232"/>
            <a:ext cx="411480" cy="274320"/>
          </a:xfrm>
          <a:prstGeom prst="rect">
            <a:avLst/>
          </a:prstGeom>
          <a:noFill/>
          <a:ln/>
        </p:spPr>
        <p:txBody>
          <a:bodyPr wrap="square" lIns="0" tIns="0" rIns="0" bIns="0" rtlCol="0" anchor="ctr"/>
          <a:lstStyle/>
          <a:p>
            <a:pPr marL="0" indent="0" algn="l">
              <a:buNone/>
            </a:pPr>
            <a:r>
              <a:rPr lang="en-US" sz="1100" dirty="0">
                <a:solidFill>
                  <a:srgbClr val="64748B"/>
                </a:solidFill>
                <a:latin typeface="Calibri" pitchFamily="34" charset="0"/>
                <a:ea typeface="Calibri" pitchFamily="34" charset="-122"/>
                <a:cs typeface="Calibri" pitchFamily="34" charset="-120"/>
              </a:rPr>
              <a:t>/ 15</a:t>
            </a:r>
            <a:endParaRPr lang="en-US" sz="1100" dirty="0"/>
          </a:p>
        </p:txBody>
      </p:sp>
      <p:sp>
        <p:nvSpPr>
          <p:cNvPr id="25"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ill"/>
          <p:cNvSpPr/>
          <p:nvPr/>
        </p:nvSpPr>
        <p:spPr>
          <a:xfrm>
            <a:off x="457200" y="274320"/>
            <a:ext cx="5212080"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OPERATING SYSTEMS / SYSTEM PROGRAMMING (OSSP)</a:t>
            </a:r>
            <a:endParaRPr lang="en-US" sz="1100" dirty="0"/>
          </a:p>
        </p:txBody>
      </p:sp>
      <p:sp>
        <p:nvSpPr>
          <p:cNvPr id="3" name="Pill"/>
          <p:cNvSpPr/>
          <p:nvPr/>
        </p:nvSpPr>
        <p:spPr>
          <a:xfrm>
            <a:off x="9262872" y="274320"/>
            <a:ext cx="2468880"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Review 2 — Evaluation</a:t>
            </a:r>
            <a:endParaRPr lang="en-US" sz="1100" dirty="0"/>
          </a:p>
        </p:txBody>
      </p:sp>
      <p:sp>
        <p:nvSpPr>
          <p:cNvPr id="4" name="Text 2"/>
          <p:cNvSpPr txBox="1"/>
          <p:nvPr/>
        </p:nvSpPr>
        <p:spPr>
          <a:xfrm>
            <a:off x="457200" y="1097280"/>
            <a:ext cx="5760720" cy="777240"/>
          </a:xfrm>
          <a:prstGeom prst="rect">
            <a:avLst/>
          </a:prstGeom>
          <a:noFill/>
          <a:ln/>
        </p:spPr>
        <p:txBody>
          <a:bodyPr wrap="square" lIns="0" tIns="0" rIns="0" bIns="0" rtlCol="0" anchor="ctr"/>
          <a:lstStyle/>
          <a:p>
            <a:pPr marL="0" indent="0">
              <a:buNone/>
            </a:pPr>
            <a:r>
              <a:rPr lang="en-US" sz="4400" dirty="0">
                <a:solidFill>
                  <a:srgbClr val="F8FAFC"/>
                </a:solidFill>
                <a:latin typeface="Calibri" pitchFamily="34" charset="0"/>
                <a:ea typeface="Calibri" pitchFamily="34" charset="-122"/>
                <a:cs typeface="Calibri" pitchFamily="34" charset="-120"/>
              </a:rPr>
              <a:t>ADVANCED UNIX</a:t>
            </a:r>
            <a:endParaRPr lang="en-US" sz="4400" dirty="0"/>
          </a:p>
        </p:txBody>
      </p:sp>
      <p:sp>
        <p:nvSpPr>
          <p:cNvPr id="5" name="Text 3"/>
          <p:cNvSpPr txBox="1"/>
          <p:nvPr/>
        </p:nvSpPr>
        <p:spPr>
          <a:xfrm>
            <a:off x="457200" y="1828800"/>
            <a:ext cx="5760720" cy="777240"/>
          </a:xfrm>
          <a:prstGeom prst="rect">
            <a:avLst/>
          </a:prstGeom>
          <a:noFill/>
          <a:ln/>
        </p:spPr>
        <p:txBody>
          <a:bodyPr wrap="square" lIns="0" tIns="0" rIns="0" bIns="0" rtlCol="0" anchor="ctr"/>
          <a:lstStyle/>
          <a:p>
            <a:pPr marL="0" indent="0">
              <a:buNone/>
            </a:pPr>
            <a:r>
              <a:rPr lang="en-US" sz="4400" dirty="0">
                <a:solidFill>
                  <a:srgbClr val="38BDF8"/>
                </a:solidFill>
                <a:latin typeface="Calibri" pitchFamily="34" charset="0"/>
                <a:ea typeface="Calibri" pitchFamily="34" charset="-122"/>
                <a:cs typeface="Calibri" pitchFamily="34" charset="-120"/>
              </a:rPr>
              <a:t>UTILITY SUITE</a:t>
            </a:r>
            <a:endParaRPr lang="en-US" sz="4400" dirty="0"/>
          </a:p>
        </p:txBody>
      </p:sp>
      <p:sp>
        <p:nvSpPr>
          <p:cNvPr id="6" name="Text 4"/>
          <p:cNvSpPr txBox="1"/>
          <p:nvPr/>
        </p:nvSpPr>
        <p:spPr>
          <a:xfrm>
            <a:off x="457200" y="2651760"/>
            <a:ext cx="5760720" cy="320040"/>
          </a:xfrm>
          <a:prstGeom prst="rect">
            <a:avLst/>
          </a:prstGeom>
          <a:noFill/>
          <a:ln/>
        </p:spPr>
        <p:txBody>
          <a:bodyPr wrap="square" lIns="0" tIns="0" rIns="0" bIns="0" rtlCol="0" anchor="t"/>
          <a:lstStyle/>
          <a:p>
            <a:pPr marL="0" indent="0">
              <a:buNone/>
            </a:pPr>
            <a:r>
              <a:rPr lang="en-US" sz="1600" dirty="0">
                <a:solidFill>
                  <a:srgbClr val="94A3B8"/>
                </a:solidFill>
                <a:latin typeface="Calibri" pitchFamily="34" charset="0"/>
                <a:ea typeface="Calibri" pitchFamily="34" charset="-122"/>
                <a:cs typeface="Calibri" pitchFamily="34" charset="-120"/>
              </a:rPr>
              <a:t>A Modular Linux System Programming Toolkit in C</a:t>
            </a:r>
            <a:endParaRPr lang="en-US" sz="1600" dirty="0"/>
          </a:p>
        </p:txBody>
      </p:sp>
      <p:sp>
        <p:nvSpPr>
          <p:cNvPr id="7" name="Team Card"/>
          <p:cNvSpPr/>
          <p:nvPr/>
        </p:nvSpPr>
        <p:spPr>
          <a:xfrm>
            <a:off x="457200" y="3154680"/>
            <a:ext cx="5577840" cy="3017520"/>
          </a:xfrm>
          <a:prstGeom prst="roundRect">
            <a:avLst>
              <a:gd name="adj" fmla="val 6061"/>
            </a:avLst>
          </a:prstGeom>
          <a:solidFill>
            <a:srgbClr val="0D1B2E"/>
          </a:solidFill>
          <a:ln w="12700">
            <a:solidFill>
              <a:srgbClr val="1E3A5F"/>
            </a:solidFill>
            <a:prstDash val="solid"/>
          </a:ln>
        </p:spPr>
      </p:sp>
      <p:sp>
        <p:nvSpPr>
          <p:cNvPr id="8" name="Text 6"/>
          <p:cNvSpPr txBox="1"/>
          <p:nvPr/>
        </p:nvSpPr>
        <p:spPr>
          <a:xfrm>
            <a:off x="731520" y="3291840"/>
            <a:ext cx="3657600" cy="274320"/>
          </a:xfrm>
          <a:prstGeom prst="rect">
            <a:avLst/>
          </a:prstGeom>
          <a:noFill/>
          <a:ln/>
        </p:spPr>
        <p:txBody>
          <a:bodyPr wrap="square" lIns="0" tIns="0" rIns="0" bIns="0" rtlCol="0" anchor="t"/>
          <a:lstStyle/>
          <a:p>
            <a:pPr marL="0" indent="0">
              <a:buNone/>
            </a:pPr>
            <a:r>
              <a:rPr lang="en-US" sz="1400" b="1" dirty="0">
                <a:solidFill>
                  <a:srgbClr val="00E5FF"/>
                </a:solidFill>
                <a:latin typeface="Calibri" pitchFamily="34" charset="0"/>
                <a:ea typeface="Calibri" pitchFamily="34" charset="-122"/>
                <a:cs typeface="Calibri" pitchFamily="34" charset="-120"/>
              </a:rPr>
              <a:t>TEAM MEMBERS</a:t>
            </a:r>
            <a:endParaRPr lang="en-US" sz="1400" dirty="0"/>
          </a:p>
        </p:txBody>
      </p:sp>
      <p:sp>
        <p:nvSpPr>
          <p:cNvPr id="9" name="Text 7"/>
          <p:cNvSpPr txBox="1"/>
          <p:nvPr/>
        </p:nvSpPr>
        <p:spPr>
          <a:xfrm>
            <a:off x="731520" y="3657600"/>
            <a:ext cx="1645920" cy="292608"/>
          </a:xfrm>
          <a:prstGeom prst="rect">
            <a:avLst/>
          </a:prstGeom>
          <a:noFill/>
          <a:ln/>
        </p:spPr>
        <p:txBody>
          <a:bodyPr wrap="square" lIns="0" tIns="0" rIns="0" bIns="0" rtlCol="0" anchor="ctr"/>
          <a:lstStyle/>
          <a:p>
            <a:pPr marL="0" indent="0">
              <a:buNone/>
            </a:pPr>
            <a:r>
              <a:rPr lang="en-US" sz="1400" b="1" dirty="0">
                <a:solidFill>
                  <a:srgbClr val="38BDF8"/>
                </a:solidFill>
                <a:latin typeface="Consolas" pitchFamily="34" charset="0"/>
                <a:ea typeface="Consolas" pitchFamily="34" charset="-122"/>
                <a:cs typeface="Consolas" pitchFamily="34" charset="-120"/>
              </a:rPr>
              <a:t>2610030236</a:t>
            </a:r>
            <a:endParaRPr lang="en-US" sz="1400" dirty="0"/>
          </a:p>
        </p:txBody>
      </p:sp>
      <p:sp>
        <p:nvSpPr>
          <p:cNvPr id="10" name="Text 8"/>
          <p:cNvSpPr txBox="1"/>
          <p:nvPr/>
        </p:nvSpPr>
        <p:spPr>
          <a:xfrm>
            <a:off x="2514600" y="3657600"/>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IDK VAMSIE</a:t>
            </a:r>
            <a:endParaRPr lang="en-US" sz="1500" dirty="0"/>
          </a:p>
        </p:txBody>
      </p:sp>
      <p:sp>
        <p:nvSpPr>
          <p:cNvPr id="11" name="Text 9"/>
          <p:cNvSpPr txBox="1"/>
          <p:nvPr/>
        </p:nvSpPr>
        <p:spPr>
          <a:xfrm>
            <a:off x="731520" y="4023360"/>
            <a:ext cx="1645920" cy="292608"/>
          </a:xfrm>
          <a:prstGeom prst="rect">
            <a:avLst/>
          </a:prstGeom>
          <a:noFill/>
          <a:ln/>
        </p:spPr>
        <p:txBody>
          <a:bodyPr wrap="square" lIns="0" tIns="0" rIns="0" bIns="0" rtlCol="0" anchor="ctr"/>
          <a:lstStyle/>
          <a:p>
            <a:pPr marL="0" indent="0">
              <a:buNone/>
            </a:pPr>
            <a:r>
              <a:rPr lang="en-US" sz="1400" b="1" dirty="0">
                <a:solidFill>
                  <a:srgbClr val="38BDF8"/>
                </a:solidFill>
                <a:latin typeface="Consolas" pitchFamily="34" charset="0"/>
                <a:ea typeface="Consolas" pitchFamily="34" charset="-122"/>
                <a:cs typeface="Consolas" pitchFamily="34" charset="-120"/>
              </a:rPr>
              <a:t>2510030261</a:t>
            </a:r>
            <a:endParaRPr lang="en-US" sz="1400" dirty="0"/>
          </a:p>
        </p:txBody>
      </p:sp>
      <p:sp>
        <p:nvSpPr>
          <p:cNvPr id="12" name="Text 10"/>
          <p:cNvSpPr txBox="1"/>
          <p:nvPr/>
        </p:nvSpPr>
        <p:spPr>
          <a:xfrm>
            <a:off x="2514600" y="4023360"/>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K Sai Srinath</a:t>
            </a:r>
            <a:endParaRPr lang="en-US" sz="1500" dirty="0"/>
          </a:p>
        </p:txBody>
      </p:sp>
      <p:sp>
        <p:nvSpPr>
          <p:cNvPr id="13" name="Text 11"/>
          <p:cNvSpPr txBox="1"/>
          <p:nvPr/>
        </p:nvSpPr>
        <p:spPr>
          <a:xfrm>
            <a:off x="731520" y="4389120"/>
            <a:ext cx="1645920" cy="292608"/>
          </a:xfrm>
          <a:prstGeom prst="rect">
            <a:avLst/>
          </a:prstGeom>
          <a:noFill/>
          <a:ln/>
        </p:spPr>
        <p:txBody>
          <a:bodyPr wrap="square" lIns="0" tIns="0" rIns="0" bIns="0" rtlCol="0" anchor="ctr"/>
          <a:lstStyle/>
          <a:p>
            <a:pPr marL="0" indent="0">
              <a:buNone/>
            </a:pPr>
            <a:r>
              <a:rPr lang="en-US" sz="1400" b="1" dirty="0">
                <a:solidFill>
                  <a:srgbClr val="38BDF8"/>
                </a:solidFill>
                <a:latin typeface="Consolas" pitchFamily="34" charset="0"/>
                <a:ea typeface="Consolas" pitchFamily="34" charset="-122"/>
                <a:cs typeface="Consolas" pitchFamily="34" charset="-120"/>
              </a:rPr>
              <a:t>2510030041</a:t>
            </a:r>
            <a:endParaRPr lang="en-US" sz="1400" dirty="0"/>
          </a:p>
        </p:txBody>
      </p:sp>
      <p:sp>
        <p:nvSpPr>
          <p:cNvPr id="14" name="Text 12"/>
          <p:cNvSpPr txBox="1"/>
          <p:nvPr/>
        </p:nvSpPr>
        <p:spPr>
          <a:xfrm>
            <a:off x="2514600" y="4389120"/>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KEERTHANA V</a:t>
            </a:r>
            <a:endParaRPr lang="en-US" sz="1500" dirty="0"/>
          </a:p>
        </p:txBody>
      </p:sp>
      <p:sp>
        <p:nvSpPr>
          <p:cNvPr id="15" name="Text 13"/>
          <p:cNvSpPr txBox="1"/>
          <p:nvPr/>
        </p:nvSpPr>
        <p:spPr>
          <a:xfrm>
            <a:off x="731520" y="4754880"/>
            <a:ext cx="1645920" cy="292608"/>
          </a:xfrm>
          <a:prstGeom prst="rect">
            <a:avLst/>
          </a:prstGeom>
          <a:noFill/>
          <a:ln/>
        </p:spPr>
        <p:txBody>
          <a:bodyPr wrap="square" lIns="0" tIns="0" rIns="0" bIns="0" rtlCol="0" anchor="ctr"/>
          <a:lstStyle/>
          <a:p>
            <a:pPr marL="0" indent="0">
              <a:buNone/>
            </a:pPr>
            <a:r>
              <a:rPr lang="en-US" sz="1400" b="1" dirty="0">
                <a:solidFill>
                  <a:srgbClr val="38BDF8"/>
                </a:solidFill>
                <a:latin typeface="Consolas" pitchFamily="34" charset="0"/>
                <a:ea typeface="Consolas" pitchFamily="34" charset="-122"/>
                <a:cs typeface="Consolas" pitchFamily="34" charset="-120"/>
              </a:rPr>
              <a:t>2510030228</a:t>
            </a:r>
            <a:endParaRPr lang="en-US" sz="1400" dirty="0"/>
          </a:p>
        </p:txBody>
      </p:sp>
      <p:sp>
        <p:nvSpPr>
          <p:cNvPr id="16" name="Text 14"/>
          <p:cNvSpPr txBox="1"/>
          <p:nvPr/>
        </p:nvSpPr>
        <p:spPr>
          <a:xfrm>
            <a:off x="2514600" y="4754880"/>
            <a:ext cx="3291840" cy="292608"/>
          </a:xfrm>
          <a:prstGeom prst="rect">
            <a:avLst/>
          </a:prstGeom>
          <a:noFill/>
          <a:ln/>
        </p:spPr>
        <p:txBody>
          <a:bodyPr wrap="square" lIns="0" tIns="0" rIns="0" bIns="0" rtlCol="0" anchor="ctr"/>
          <a:lstStyle/>
          <a:p>
            <a:pPr marL="0" indent="0">
              <a:buNone/>
            </a:pPr>
            <a:r>
              <a:rPr lang="en-US" sz="1500" b="1" dirty="0">
                <a:solidFill>
                  <a:srgbClr val="F8FAFC"/>
                </a:solidFill>
                <a:latin typeface="Calibri" pitchFamily="34" charset="0"/>
                <a:ea typeface="Calibri" pitchFamily="34" charset="-122"/>
                <a:cs typeface="Calibri" pitchFamily="34" charset="-120"/>
              </a:rPr>
              <a:t>KATKAM AKHILA</a:t>
            </a:r>
            <a:endParaRPr lang="en-US" sz="1500" dirty="0"/>
          </a:p>
        </p:txBody>
      </p:sp>
      <p:sp>
        <p:nvSpPr>
          <p:cNvPr id="17" name="Shape 15"/>
          <p:cNvSpPr/>
          <p:nvPr/>
        </p:nvSpPr>
        <p:spPr>
          <a:xfrm>
            <a:off x="731520" y="5212080"/>
            <a:ext cx="5029200" cy="0"/>
          </a:xfrm>
          <a:prstGeom prst="line">
            <a:avLst/>
          </a:prstGeom>
          <a:noFill/>
          <a:ln w="9525">
            <a:solidFill>
              <a:srgbClr val="1E3A5F"/>
            </a:solidFill>
            <a:prstDash val="solid"/>
          </a:ln>
        </p:spPr>
      </p:sp>
      <p:sp>
        <p:nvSpPr>
          <p:cNvPr id="18" name="Text 16"/>
          <p:cNvSpPr txBox="1"/>
          <p:nvPr/>
        </p:nvSpPr>
        <p:spPr>
          <a:xfrm>
            <a:off x="731520" y="5321808"/>
            <a:ext cx="137160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Department</a:t>
            </a:r>
            <a:endParaRPr lang="en-US" sz="1200" dirty="0"/>
          </a:p>
        </p:txBody>
      </p:sp>
      <p:sp>
        <p:nvSpPr>
          <p:cNvPr id="19" name="Text 17"/>
          <p:cNvSpPr txBox="1"/>
          <p:nvPr/>
        </p:nvSpPr>
        <p:spPr>
          <a:xfrm>
            <a:off x="2148840" y="5321808"/>
            <a:ext cx="3657600" cy="256032"/>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Computer Science &amp; Engineering</a:t>
            </a:r>
            <a:endParaRPr lang="en-US" sz="1200" dirty="0"/>
          </a:p>
        </p:txBody>
      </p:sp>
      <p:sp>
        <p:nvSpPr>
          <p:cNvPr id="20" name="Text 18"/>
          <p:cNvSpPr txBox="1"/>
          <p:nvPr/>
        </p:nvSpPr>
        <p:spPr>
          <a:xfrm>
            <a:off x="731520" y="5596128"/>
            <a:ext cx="137160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Review</a:t>
            </a:r>
            <a:endParaRPr lang="en-US" sz="1200" dirty="0"/>
          </a:p>
        </p:txBody>
      </p:sp>
      <p:sp>
        <p:nvSpPr>
          <p:cNvPr id="21" name="Text 19"/>
          <p:cNvSpPr txBox="1"/>
          <p:nvPr/>
        </p:nvSpPr>
        <p:spPr>
          <a:xfrm>
            <a:off x="2148840" y="5596128"/>
            <a:ext cx="3657600" cy="256032"/>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OSSP</a:t>
            </a:r>
            <a:endParaRPr lang="en-US" sz="1200" dirty="0"/>
          </a:p>
        </p:txBody>
      </p:sp>
      <p:sp>
        <p:nvSpPr>
          <p:cNvPr id="22" name="Text 20"/>
          <p:cNvSpPr txBox="1"/>
          <p:nvPr/>
        </p:nvSpPr>
        <p:spPr>
          <a:xfrm>
            <a:off x="731520" y="5870448"/>
            <a:ext cx="137160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Academic Year</a:t>
            </a:r>
            <a:endParaRPr lang="en-US" sz="1200" dirty="0"/>
          </a:p>
        </p:txBody>
      </p:sp>
      <p:sp>
        <p:nvSpPr>
          <p:cNvPr id="23" name="Text 21"/>
          <p:cNvSpPr txBox="1"/>
          <p:nvPr/>
        </p:nvSpPr>
        <p:spPr>
          <a:xfrm>
            <a:off x="2148840" y="5870448"/>
            <a:ext cx="3657600" cy="256032"/>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2026 - 2027</a:t>
            </a:r>
            <a:endParaRPr lang="en-US" sz="1200" dirty="0"/>
          </a:p>
        </p:txBody>
      </p:sp>
      <p:sp>
        <p:nvSpPr>
          <p:cNvPr id="24" name="Capabilities Card"/>
          <p:cNvSpPr/>
          <p:nvPr/>
        </p:nvSpPr>
        <p:spPr>
          <a:xfrm>
            <a:off x="6400800" y="1097280"/>
            <a:ext cx="5330952" cy="5074920"/>
          </a:xfrm>
          <a:prstGeom prst="roundRect">
            <a:avLst>
              <a:gd name="adj" fmla="val 4505"/>
            </a:avLst>
          </a:prstGeom>
          <a:solidFill>
            <a:srgbClr val="0D1B2E"/>
          </a:solidFill>
          <a:ln w="12700">
            <a:solidFill>
              <a:srgbClr val="1E3A5F"/>
            </a:solidFill>
            <a:prstDash val="solid"/>
          </a:ln>
        </p:spPr>
      </p:sp>
      <p:sp>
        <p:nvSpPr>
          <p:cNvPr id="25" name="Text 23"/>
          <p:cNvSpPr txBox="1"/>
          <p:nvPr/>
        </p:nvSpPr>
        <p:spPr>
          <a:xfrm>
            <a:off x="6720840" y="1325880"/>
            <a:ext cx="4754880" cy="320040"/>
          </a:xfrm>
          <a:prstGeom prst="rect">
            <a:avLst/>
          </a:prstGeom>
          <a:noFill/>
          <a:ln/>
        </p:spPr>
        <p:txBody>
          <a:bodyPr wrap="square" lIns="0" tIns="0" rIns="0" bIns="0" rtlCol="0" anchor="t"/>
          <a:lstStyle/>
          <a:p>
            <a:pPr marL="0" indent="0">
              <a:buNone/>
            </a:pPr>
            <a:r>
              <a:rPr lang="en-US" sz="1500" b="1" dirty="0">
                <a:solidFill>
                  <a:srgbClr val="00E5FF"/>
                </a:solidFill>
                <a:latin typeface="Calibri" pitchFamily="34" charset="0"/>
                <a:ea typeface="Calibri" pitchFamily="34" charset="-122"/>
                <a:cs typeface="Calibri" pitchFamily="34" charset="-120"/>
              </a:rPr>
              <a:t>SYSTEM CAPABILITIES &amp; SUITE ARCHITECTURE</a:t>
            </a:r>
            <a:endParaRPr lang="en-US" sz="1500" dirty="0"/>
          </a:p>
        </p:txBody>
      </p:sp>
      <p:sp>
        <p:nvSpPr>
          <p:cNvPr id="26" name="IconCircle"/>
          <p:cNvSpPr/>
          <p:nvPr/>
        </p:nvSpPr>
        <p:spPr>
          <a:xfrm>
            <a:off x="6720840" y="1901952"/>
            <a:ext cx="420624" cy="420624"/>
          </a:xfrm>
          <a:prstGeom prst="ellipse">
            <a:avLst/>
          </a:prstGeom>
          <a:solidFill>
            <a:srgbClr val="0F2A44"/>
          </a:solidFill>
          <a:ln w="12700">
            <a:solidFill>
              <a:srgbClr val="1E3A5F"/>
            </a:solidFill>
            <a:prstDash val="solid"/>
          </a:ln>
        </p:spPr>
      </p:sp>
      <p:pic>
        <p:nvPicPr>
          <p:cNvPr id="27" name="Image 0" descr="FaMicrochip"/>
          <p:cNvPicPr>
            <a:picLocks noChangeAspect="1"/>
          </p:cNvPicPr>
          <p:nvPr/>
        </p:nvPicPr>
        <p:blipFill>
          <a:blip r:embed="rId3"/>
          <a:stretch>
            <a:fillRect/>
          </a:stretch>
        </p:blipFill>
        <p:spPr>
          <a:xfrm>
            <a:off x="6834408" y="2015520"/>
            <a:ext cx="193487" cy="193487"/>
          </a:xfrm>
          <a:prstGeom prst="rect">
            <a:avLst/>
          </a:prstGeom>
        </p:spPr>
      </p:pic>
      <p:sp>
        <p:nvSpPr>
          <p:cNvPr id="28" name="Text 25"/>
          <p:cNvSpPr txBox="1"/>
          <p:nvPr/>
        </p:nvSpPr>
        <p:spPr>
          <a:xfrm>
            <a:off x="7315200" y="1874520"/>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SYSTEM INFORMATION</a:t>
            </a:r>
            <a:endParaRPr lang="en-US" sz="1400" dirty="0"/>
          </a:p>
        </p:txBody>
      </p:sp>
      <p:sp>
        <p:nvSpPr>
          <p:cNvPr id="29" name="Text 26"/>
          <p:cNvSpPr txBox="1"/>
          <p:nvPr/>
        </p:nvSpPr>
        <p:spPr>
          <a:xfrm>
            <a:off x="7315200" y="2130552"/>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Kernel metadata &amp; CPU diagnostics via uname() &amp; sysconf()</a:t>
            </a:r>
            <a:endParaRPr lang="en-US" sz="1200" dirty="0"/>
          </a:p>
        </p:txBody>
      </p:sp>
      <p:sp>
        <p:nvSpPr>
          <p:cNvPr id="30" name="IconCircle"/>
          <p:cNvSpPr/>
          <p:nvPr/>
        </p:nvSpPr>
        <p:spPr>
          <a:xfrm>
            <a:off x="6720840" y="2505456"/>
            <a:ext cx="420624" cy="420624"/>
          </a:xfrm>
          <a:prstGeom prst="ellipse">
            <a:avLst/>
          </a:prstGeom>
          <a:solidFill>
            <a:srgbClr val="0F2A44"/>
          </a:solidFill>
          <a:ln w="12700">
            <a:solidFill>
              <a:srgbClr val="1E3A5F"/>
            </a:solidFill>
            <a:prstDash val="solid"/>
          </a:ln>
        </p:spPr>
      </p:sp>
      <p:pic>
        <p:nvPicPr>
          <p:cNvPr id="31" name="Image 1" descr="FaCogs"/>
          <p:cNvPicPr>
            <a:picLocks noChangeAspect="1"/>
          </p:cNvPicPr>
          <p:nvPr/>
        </p:nvPicPr>
        <p:blipFill>
          <a:blip r:embed="rId4"/>
          <a:stretch>
            <a:fillRect/>
          </a:stretch>
        </p:blipFill>
        <p:spPr>
          <a:xfrm>
            <a:off x="6834408" y="2619024"/>
            <a:ext cx="193487" cy="193487"/>
          </a:xfrm>
          <a:prstGeom prst="rect">
            <a:avLst/>
          </a:prstGeom>
        </p:spPr>
      </p:pic>
      <p:sp>
        <p:nvSpPr>
          <p:cNvPr id="32" name="Text 28"/>
          <p:cNvSpPr txBox="1"/>
          <p:nvPr/>
        </p:nvSpPr>
        <p:spPr>
          <a:xfrm>
            <a:off x="7315200" y="2478024"/>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PROCESS MANAGER</a:t>
            </a:r>
            <a:endParaRPr lang="en-US" sz="1400" dirty="0"/>
          </a:p>
        </p:txBody>
      </p:sp>
      <p:sp>
        <p:nvSpPr>
          <p:cNvPr id="33" name="Text 29"/>
          <p:cNvSpPr txBox="1"/>
          <p:nvPr/>
        </p:nvSpPr>
        <p:spPr>
          <a:xfrm>
            <a:off x="7315200" y="2734056"/>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Process creation &amp; lifecycle via fork(), exec(), wait()</a:t>
            </a:r>
            <a:endParaRPr lang="en-US" sz="1200" dirty="0"/>
          </a:p>
        </p:txBody>
      </p:sp>
      <p:sp>
        <p:nvSpPr>
          <p:cNvPr id="34" name="IconCircle"/>
          <p:cNvSpPr/>
          <p:nvPr/>
        </p:nvSpPr>
        <p:spPr>
          <a:xfrm>
            <a:off x="6720840" y="3108960"/>
            <a:ext cx="420624" cy="420624"/>
          </a:xfrm>
          <a:prstGeom prst="ellipse">
            <a:avLst/>
          </a:prstGeom>
          <a:solidFill>
            <a:srgbClr val="0F2A44"/>
          </a:solidFill>
          <a:ln w="12700">
            <a:solidFill>
              <a:srgbClr val="1E3A5F"/>
            </a:solidFill>
            <a:prstDash val="solid"/>
          </a:ln>
        </p:spPr>
      </p:sp>
      <p:pic>
        <p:nvPicPr>
          <p:cNvPr id="35" name="Image 2" descr="FaFolderOpen"/>
          <p:cNvPicPr>
            <a:picLocks noChangeAspect="1"/>
          </p:cNvPicPr>
          <p:nvPr/>
        </p:nvPicPr>
        <p:blipFill>
          <a:blip r:embed="rId5"/>
          <a:stretch>
            <a:fillRect/>
          </a:stretch>
        </p:blipFill>
        <p:spPr>
          <a:xfrm>
            <a:off x="6834408" y="3222528"/>
            <a:ext cx="193487" cy="193487"/>
          </a:xfrm>
          <a:prstGeom prst="rect">
            <a:avLst/>
          </a:prstGeom>
        </p:spPr>
      </p:pic>
      <p:sp>
        <p:nvSpPr>
          <p:cNvPr id="36" name="Text 31"/>
          <p:cNvSpPr txBox="1"/>
          <p:nvPr/>
        </p:nvSpPr>
        <p:spPr>
          <a:xfrm>
            <a:off x="7315200" y="3081528"/>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VIRTUAL FILE SYSTEM</a:t>
            </a:r>
            <a:endParaRPr lang="en-US" sz="1400" dirty="0"/>
          </a:p>
        </p:txBody>
      </p:sp>
      <p:sp>
        <p:nvSpPr>
          <p:cNvPr id="37" name="Text 32"/>
          <p:cNvSpPr txBox="1"/>
          <p:nvPr/>
        </p:nvSpPr>
        <p:spPr>
          <a:xfrm>
            <a:off x="7315200" y="3337560"/>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FD tables, byte streams &amp; inode metadata via stat()</a:t>
            </a:r>
            <a:endParaRPr lang="en-US" sz="1200" dirty="0"/>
          </a:p>
        </p:txBody>
      </p:sp>
      <p:sp>
        <p:nvSpPr>
          <p:cNvPr id="38" name="IconCircle"/>
          <p:cNvSpPr/>
          <p:nvPr/>
        </p:nvSpPr>
        <p:spPr>
          <a:xfrm>
            <a:off x="6720840" y="3712464"/>
            <a:ext cx="420624" cy="420624"/>
          </a:xfrm>
          <a:prstGeom prst="ellipse">
            <a:avLst/>
          </a:prstGeom>
          <a:solidFill>
            <a:srgbClr val="0F2A44"/>
          </a:solidFill>
          <a:ln w="12700">
            <a:solidFill>
              <a:srgbClr val="1E3A5F"/>
            </a:solidFill>
            <a:prstDash val="solid"/>
          </a:ln>
        </p:spPr>
      </p:sp>
      <p:pic>
        <p:nvPicPr>
          <p:cNvPr id="39" name="Image 3" descr="FaExchangeAlt"/>
          <p:cNvPicPr>
            <a:picLocks noChangeAspect="1"/>
          </p:cNvPicPr>
          <p:nvPr/>
        </p:nvPicPr>
        <p:blipFill>
          <a:blip r:embed="rId6"/>
          <a:stretch>
            <a:fillRect/>
          </a:stretch>
        </p:blipFill>
        <p:spPr>
          <a:xfrm>
            <a:off x="6834408" y="3826032"/>
            <a:ext cx="193487" cy="193487"/>
          </a:xfrm>
          <a:prstGeom prst="rect">
            <a:avLst/>
          </a:prstGeom>
        </p:spPr>
      </p:pic>
      <p:sp>
        <p:nvSpPr>
          <p:cNvPr id="40" name="Text 34"/>
          <p:cNvSpPr txBox="1"/>
          <p:nvPr/>
        </p:nvSpPr>
        <p:spPr>
          <a:xfrm>
            <a:off x="7315200" y="3685032"/>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IPC UTILITIES</a:t>
            </a:r>
            <a:endParaRPr lang="en-US" sz="1400" dirty="0"/>
          </a:p>
        </p:txBody>
      </p:sp>
      <p:sp>
        <p:nvSpPr>
          <p:cNvPr id="41" name="Text 35"/>
          <p:cNvSpPr txBox="1"/>
          <p:nvPr/>
        </p:nvSpPr>
        <p:spPr>
          <a:xfrm>
            <a:off x="7315200" y="3941064"/>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Pipe streaming &amp; asynchronous signals via sigaction()</a:t>
            </a:r>
            <a:endParaRPr lang="en-US" sz="1200" dirty="0"/>
          </a:p>
        </p:txBody>
      </p:sp>
      <p:sp>
        <p:nvSpPr>
          <p:cNvPr id="42" name="IconCircle"/>
          <p:cNvSpPr/>
          <p:nvPr/>
        </p:nvSpPr>
        <p:spPr>
          <a:xfrm>
            <a:off x="6720840" y="4315968"/>
            <a:ext cx="420624" cy="420624"/>
          </a:xfrm>
          <a:prstGeom prst="ellipse">
            <a:avLst/>
          </a:prstGeom>
          <a:solidFill>
            <a:srgbClr val="0F2A44"/>
          </a:solidFill>
          <a:ln w="12700">
            <a:solidFill>
              <a:srgbClr val="1E3A5F"/>
            </a:solidFill>
            <a:prstDash val="solid"/>
          </a:ln>
        </p:spPr>
      </p:sp>
      <p:pic>
        <p:nvPicPr>
          <p:cNvPr id="43" name="Image 4" descr="FaMemory"/>
          <p:cNvPicPr>
            <a:picLocks noChangeAspect="1"/>
          </p:cNvPicPr>
          <p:nvPr/>
        </p:nvPicPr>
        <p:blipFill>
          <a:blip r:embed="rId7"/>
          <a:stretch>
            <a:fillRect/>
          </a:stretch>
        </p:blipFill>
        <p:spPr>
          <a:xfrm>
            <a:off x="6834408" y="4429536"/>
            <a:ext cx="193487" cy="193487"/>
          </a:xfrm>
          <a:prstGeom prst="rect">
            <a:avLst/>
          </a:prstGeom>
        </p:spPr>
      </p:pic>
      <p:sp>
        <p:nvSpPr>
          <p:cNvPr id="44" name="Text 37"/>
          <p:cNvSpPr txBox="1"/>
          <p:nvPr/>
        </p:nvSpPr>
        <p:spPr>
          <a:xfrm>
            <a:off x="7315200" y="4288536"/>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MEMORY ANALYSIS</a:t>
            </a:r>
            <a:endParaRPr lang="en-US" sz="1400" dirty="0"/>
          </a:p>
        </p:txBody>
      </p:sp>
      <p:sp>
        <p:nvSpPr>
          <p:cNvPr id="45" name="Text 38"/>
          <p:cNvSpPr txBox="1"/>
          <p:nvPr/>
        </p:nvSpPr>
        <p:spPr>
          <a:xfrm>
            <a:off x="7315200" y="4544568"/>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Virtual address space inspection via /proc/self</a:t>
            </a:r>
            <a:endParaRPr lang="en-US" sz="1200" dirty="0"/>
          </a:p>
        </p:txBody>
      </p:sp>
      <p:sp>
        <p:nvSpPr>
          <p:cNvPr id="46" name="IconCircle"/>
          <p:cNvSpPr/>
          <p:nvPr/>
        </p:nvSpPr>
        <p:spPr>
          <a:xfrm>
            <a:off x="6720840" y="4919472"/>
            <a:ext cx="420624" cy="420624"/>
          </a:xfrm>
          <a:prstGeom prst="ellipse">
            <a:avLst/>
          </a:prstGeom>
          <a:solidFill>
            <a:srgbClr val="0F2A44"/>
          </a:solidFill>
          <a:ln w="12700">
            <a:solidFill>
              <a:srgbClr val="1E3A5F"/>
            </a:solidFill>
            <a:prstDash val="solid"/>
          </a:ln>
        </p:spPr>
      </p:sp>
      <p:pic>
        <p:nvPicPr>
          <p:cNvPr id="47" name="Image 5" descr="FaProjectDiagram"/>
          <p:cNvPicPr>
            <a:picLocks noChangeAspect="1"/>
          </p:cNvPicPr>
          <p:nvPr/>
        </p:nvPicPr>
        <p:blipFill>
          <a:blip r:embed="rId8"/>
          <a:stretch>
            <a:fillRect/>
          </a:stretch>
        </p:blipFill>
        <p:spPr>
          <a:xfrm>
            <a:off x="6834408" y="5033040"/>
            <a:ext cx="193487" cy="193487"/>
          </a:xfrm>
          <a:prstGeom prst="rect">
            <a:avLst/>
          </a:prstGeom>
        </p:spPr>
      </p:pic>
      <p:sp>
        <p:nvSpPr>
          <p:cNvPr id="48" name="Text 40"/>
          <p:cNvSpPr txBox="1"/>
          <p:nvPr/>
        </p:nvSpPr>
        <p:spPr>
          <a:xfrm>
            <a:off x="7315200" y="4892040"/>
            <a:ext cx="4206240" cy="256032"/>
          </a:xfrm>
          <a:prstGeom prst="rect">
            <a:avLst/>
          </a:prstGeom>
          <a:noFill/>
          <a:ln/>
        </p:spPr>
        <p:txBody>
          <a:bodyPr wrap="square" lIns="0" tIns="0" rIns="0" bIns="0" rtlCol="0" anchor="t"/>
          <a:lstStyle/>
          <a:p>
            <a:pPr marL="0" indent="0">
              <a:buNone/>
            </a:pPr>
            <a:r>
              <a:rPr lang="en-US" sz="1400" b="1" dirty="0">
                <a:solidFill>
                  <a:srgbClr val="F8FAFC"/>
                </a:solidFill>
                <a:latin typeface="Calibri" pitchFamily="34" charset="0"/>
                <a:ea typeface="Calibri" pitchFamily="34" charset="-122"/>
                <a:cs typeface="Calibri" pitchFamily="34" charset="-120"/>
              </a:rPr>
              <a:t>CONCURRENCY &amp; THREADS</a:t>
            </a:r>
            <a:endParaRPr lang="en-US" sz="1400" dirty="0"/>
          </a:p>
        </p:txBody>
      </p:sp>
      <p:sp>
        <p:nvSpPr>
          <p:cNvPr id="49" name="Text 41"/>
          <p:cNvSpPr txBox="1"/>
          <p:nvPr/>
        </p:nvSpPr>
        <p:spPr>
          <a:xfrm>
            <a:off x="7315200" y="5148072"/>
            <a:ext cx="429768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Multithreading &amp; mutex sync via pthreads</a:t>
            </a:r>
            <a:endParaRPr lang="en-US" sz="1200" dirty="0"/>
          </a:p>
        </p:txBody>
      </p:sp>
      <p:sp>
        <p:nvSpPr>
          <p:cNvPr id="50" name="Text 42"/>
          <p:cNvSpPr txBox="1"/>
          <p:nvPr/>
        </p:nvSpPr>
        <p:spPr>
          <a:xfrm>
            <a:off x="6720840" y="5623560"/>
            <a:ext cx="4846320" cy="320040"/>
          </a:xfrm>
          <a:prstGeom prst="rect">
            <a:avLst/>
          </a:prstGeom>
          <a:noFill/>
          <a:ln/>
        </p:spPr>
        <p:txBody>
          <a:bodyPr wrap="square" lIns="0" tIns="0" rIns="0" bIns="0" rtlCol="0" anchor="ctr"/>
          <a:lstStyle/>
          <a:p>
            <a:pPr marL="0" indent="0">
              <a:buNone/>
            </a:pPr>
            <a:r>
              <a:rPr lang="en-US" sz="1300" b="1" dirty="0">
                <a:solidFill>
                  <a:srgbClr val="4ADE80"/>
                </a:solidFill>
                <a:latin typeface="Calibri" pitchFamily="34" charset="0"/>
                <a:ea typeface="Calibri" pitchFamily="34" charset="-122"/>
                <a:cs typeface="Calibri" pitchFamily="34" charset="-120"/>
              </a:rPr>
              <a:t>✔ Core C Engine   •   POSIX API Standard   •   Modular Design</a:t>
            </a:r>
            <a:endParaRPr lang="en-US" sz="1300" dirty="0"/>
          </a:p>
        </p:txBody>
      </p:sp>
      <p:sp>
        <p:nvSpPr>
          <p:cNvPr id="51"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ill"/>
          <p:cNvSpPr/>
          <p:nvPr/>
        </p:nvSpPr>
        <p:spPr>
          <a:xfrm>
            <a:off x="457200" y="274320"/>
            <a:ext cx="1532534"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INTRODUCTION</a:t>
            </a:r>
            <a:endParaRPr lang="en-US" sz="1100" dirty="0"/>
          </a:p>
        </p:txBody>
      </p:sp>
      <p:sp>
        <p:nvSpPr>
          <p:cNvPr id="3" name="Pill"/>
          <p:cNvSpPr/>
          <p:nvPr/>
        </p:nvSpPr>
        <p:spPr>
          <a:xfrm>
            <a:off x="10291572" y="274320"/>
            <a:ext cx="1442923"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C99 • POSIX</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What is UnixSuite?</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 menu-driven toolkit that exposes Linux kernel behavior through direct system calls</a:t>
            </a:r>
            <a:endParaRPr lang="en-US" sz="1400" dirty="0"/>
          </a:p>
        </p:txBody>
      </p:sp>
      <p:sp>
        <p:nvSpPr>
          <p:cNvPr id="6" name="Card"/>
          <p:cNvSpPr/>
          <p:nvPr/>
        </p:nvSpPr>
        <p:spPr>
          <a:xfrm>
            <a:off x="457200" y="1828800"/>
            <a:ext cx="5212080" cy="4343400"/>
          </a:xfrm>
          <a:prstGeom prst="roundRect">
            <a:avLst>
              <a:gd name="adj" fmla="val 2526"/>
            </a:avLst>
          </a:prstGeom>
          <a:solidFill>
            <a:srgbClr val="0D1B2E"/>
          </a:solidFill>
          <a:ln w="12700">
            <a:solidFill>
              <a:srgbClr val="1E3A5F"/>
            </a:solidFill>
            <a:prstDash val="solid"/>
          </a:ln>
        </p:spPr>
      </p:sp>
      <p:sp>
        <p:nvSpPr>
          <p:cNvPr id="7" name="Text 5"/>
          <p:cNvSpPr txBox="1"/>
          <p:nvPr/>
        </p:nvSpPr>
        <p:spPr>
          <a:xfrm>
            <a:off x="731520" y="2011680"/>
            <a:ext cx="4663440" cy="320040"/>
          </a:xfrm>
          <a:prstGeom prst="rect">
            <a:avLst/>
          </a:prstGeom>
          <a:noFill/>
          <a:ln/>
        </p:spPr>
        <p:txBody>
          <a:bodyPr wrap="square" lIns="0" tIns="0" rIns="0" bIns="0" rtlCol="0" anchor="t"/>
          <a:lstStyle/>
          <a:p>
            <a:pPr marL="0" indent="0">
              <a:buNone/>
            </a:pPr>
            <a:r>
              <a:rPr lang="en-US" sz="1700" b="1" dirty="0">
                <a:solidFill>
                  <a:srgbClr val="00E5FF"/>
                </a:solidFill>
                <a:latin typeface="Calibri" pitchFamily="34" charset="0"/>
                <a:ea typeface="Calibri" pitchFamily="34" charset="-122"/>
                <a:cs typeface="Calibri" pitchFamily="34" charset="-120"/>
              </a:rPr>
              <a:t>Concept Definition</a:t>
            </a:r>
            <a:endParaRPr lang="en-US" sz="1700" dirty="0"/>
          </a:p>
        </p:txBody>
      </p:sp>
      <p:sp>
        <p:nvSpPr>
          <p:cNvPr id="8" name="Text 6"/>
          <p:cNvSpPr txBox="1"/>
          <p:nvPr/>
        </p:nvSpPr>
        <p:spPr>
          <a:xfrm>
            <a:off x="731520" y="2423160"/>
            <a:ext cx="4663440" cy="100584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A modular, menu-driven command-line toolkit developed in C99 that demonstrates core Linux/UNIX operating system concepts through direct kernel calls.</a:t>
            </a:r>
            <a:endParaRPr lang="en-US" sz="1400" dirty="0"/>
          </a:p>
        </p:txBody>
      </p:sp>
      <p:sp>
        <p:nvSpPr>
          <p:cNvPr id="9" name="IconCircle"/>
          <p:cNvSpPr/>
          <p:nvPr/>
        </p:nvSpPr>
        <p:spPr>
          <a:xfrm>
            <a:off x="731520" y="3520440"/>
            <a:ext cx="502920" cy="502920"/>
          </a:xfrm>
          <a:prstGeom prst="ellipse">
            <a:avLst/>
          </a:prstGeom>
          <a:solidFill>
            <a:srgbClr val="0F2A44"/>
          </a:solidFill>
          <a:ln w="12700">
            <a:solidFill>
              <a:srgbClr val="1E3A5F"/>
            </a:solidFill>
            <a:prstDash val="solid"/>
          </a:ln>
        </p:spPr>
      </p:sp>
      <p:pic>
        <p:nvPicPr>
          <p:cNvPr id="10" name="Image 0" descr="FaBolt"/>
          <p:cNvPicPr>
            <a:picLocks noChangeAspect="1"/>
          </p:cNvPicPr>
          <p:nvPr/>
        </p:nvPicPr>
        <p:blipFill>
          <a:blip r:embed="rId3"/>
          <a:stretch>
            <a:fillRect/>
          </a:stretch>
        </p:blipFill>
        <p:spPr>
          <a:xfrm>
            <a:off x="867308" y="3656228"/>
            <a:ext cx="231343" cy="231343"/>
          </a:xfrm>
          <a:prstGeom prst="rect">
            <a:avLst/>
          </a:prstGeom>
        </p:spPr>
      </p:pic>
      <p:sp>
        <p:nvSpPr>
          <p:cNvPr id="11" name="Text 8"/>
          <p:cNvSpPr txBox="1"/>
          <p:nvPr/>
        </p:nvSpPr>
        <p:spPr>
          <a:xfrm>
            <a:off x="1417320" y="3520440"/>
            <a:ext cx="4023360" cy="64008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Native POSIX &amp; Linux system calls — zero third-party dependencies</a:t>
            </a:r>
            <a:endParaRPr lang="en-US" sz="1400" dirty="0"/>
          </a:p>
        </p:txBody>
      </p:sp>
      <p:sp>
        <p:nvSpPr>
          <p:cNvPr id="12" name="IconCircle"/>
          <p:cNvSpPr/>
          <p:nvPr/>
        </p:nvSpPr>
        <p:spPr>
          <a:xfrm>
            <a:off x="731520" y="4389120"/>
            <a:ext cx="502920" cy="502920"/>
          </a:xfrm>
          <a:prstGeom prst="ellipse">
            <a:avLst/>
          </a:prstGeom>
          <a:solidFill>
            <a:srgbClr val="0F2A44"/>
          </a:solidFill>
          <a:ln w="12700">
            <a:solidFill>
              <a:srgbClr val="1E3A5F"/>
            </a:solidFill>
            <a:prstDash val="solid"/>
          </a:ln>
        </p:spPr>
      </p:sp>
      <p:pic>
        <p:nvPicPr>
          <p:cNvPr id="13" name="Image 1" descr="FaCode"/>
          <p:cNvPicPr>
            <a:picLocks noChangeAspect="1"/>
          </p:cNvPicPr>
          <p:nvPr/>
        </p:nvPicPr>
        <p:blipFill>
          <a:blip r:embed="rId4"/>
          <a:stretch>
            <a:fillRect/>
          </a:stretch>
        </p:blipFill>
        <p:spPr>
          <a:xfrm>
            <a:off x="867308" y="4524908"/>
            <a:ext cx="231343" cy="231343"/>
          </a:xfrm>
          <a:prstGeom prst="rect">
            <a:avLst/>
          </a:prstGeom>
        </p:spPr>
      </p:pic>
      <p:sp>
        <p:nvSpPr>
          <p:cNvPr id="14" name="Text 10"/>
          <p:cNvSpPr txBox="1"/>
          <p:nvPr/>
        </p:nvSpPr>
        <p:spPr>
          <a:xfrm>
            <a:off x="1417320" y="4389120"/>
            <a:ext cx="4023360" cy="64008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Clean modular design — .h interfaces separated from .c logic</a:t>
            </a:r>
            <a:endParaRPr lang="en-US" sz="1400" dirty="0"/>
          </a:p>
        </p:txBody>
      </p:sp>
      <p:sp>
        <p:nvSpPr>
          <p:cNvPr id="15" name="IconCircle"/>
          <p:cNvSpPr/>
          <p:nvPr/>
        </p:nvSpPr>
        <p:spPr>
          <a:xfrm>
            <a:off x="731520" y="5257800"/>
            <a:ext cx="502920" cy="502920"/>
          </a:xfrm>
          <a:prstGeom prst="ellipse">
            <a:avLst/>
          </a:prstGeom>
          <a:solidFill>
            <a:srgbClr val="0F2A44"/>
          </a:solidFill>
          <a:ln w="12700">
            <a:solidFill>
              <a:srgbClr val="1E3A5F"/>
            </a:solidFill>
            <a:prstDash val="solid"/>
          </a:ln>
        </p:spPr>
      </p:sp>
      <p:pic>
        <p:nvPicPr>
          <p:cNvPr id="16" name="Image 2" descr="FaTerminal"/>
          <p:cNvPicPr>
            <a:picLocks noChangeAspect="1"/>
          </p:cNvPicPr>
          <p:nvPr/>
        </p:nvPicPr>
        <p:blipFill>
          <a:blip r:embed="rId5"/>
          <a:stretch>
            <a:fillRect/>
          </a:stretch>
        </p:blipFill>
        <p:spPr>
          <a:xfrm>
            <a:off x="867308" y="5393588"/>
            <a:ext cx="231343" cy="231343"/>
          </a:xfrm>
          <a:prstGeom prst="rect">
            <a:avLst/>
          </a:prstGeom>
        </p:spPr>
      </p:pic>
      <p:sp>
        <p:nvSpPr>
          <p:cNvPr id="17" name="Text 12"/>
          <p:cNvSpPr txBox="1"/>
          <p:nvPr/>
        </p:nvSpPr>
        <p:spPr>
          <a:xfrm>
            <a:off x="1417320" y="5257800"/>
            <a:ext cx="4023360" cy="640080"/>
          </a:xfrm>
          <a:prstGeom prst="rect">
            <a:avLst/>
          </a:prstGeom>
          <a:noFill/>
          <a:ln/>
        </p:spPr>
        <p:txBody>
          <a:bodyPr wrap="square" lIns="0" tIns="0" rIns="0" bIns="0" rtlCol="0" anchor="ctr"/>
          <a:lstStyle/>
          <a:p>
            <a:pPr marL="0" indent="0">
              <a:buNone/>
            </a:pPr>
            <a:r>
              <a:rPr lang="en-US" sz="1400" dirty="0">
                <a:solidFill>
                  <a:srgbClr val="F8FAFC"/>
                </a:solidFill>
                <a:latin typeface="Calibri" pitchFamily="34" charset="0"/>
                <a:ea typeface="Calibri" pitchFamily="34" charset="-122"/>
                <a:cs typeface="Calibri" pitchFamily="34" charset="-120"/>
              </a:rPr>
              <a:t>Real-time [INTERNAL WORKING] telemetry revealing state changes</a:t>
            </a:r>
            <a:endParaRPr lang="en-US" sz="1400" dirty="0"/>
          </a:p>
        </p:txBody>
      </p:sp>
      <p:sp>
        <p:nvSpPr>
          <p:cNvPr id="18" name="Text 13"/>
          <p:cNvSpPr txBox="1"/>
          <p:nvPr/>
        </p:nvSpPr>
        <p:spPr>
          <a:xfrm>
            <a:off x="5943600" y="1828800"/>
            <a:ext cx="5760720" cy="320040"/>
          </a:xfrm>
          <a:prstGeom prst="rect">
            <a:avLst/>
          </a:prstGeom>
          <a:noFill/>
          <a:ln/>
        </p:spPr>
        <p:txBody>
          <a:bodyPr wrap="square" lIns="0" tIns="0" rIns="0" bIns="0" rtlCol="0" anchor="t"/>
          <a:lstStyle/>
          <a:p>
            <a:pPr marL="0" indent="0">
              <a:buNone/>
            </a:pPr>
            <a:r>
              <a:rPr lang="en-US" sz="1700" b="1" dirty="0">
                <a:solidFill>
                  <a:srgbClr val="00E5FF"/>
                </a:solidFill>
                <a:latin typeface="Calibri" pitchFamily="34" charset="0"/>
                <a:ea typeface="Calibri" pitchFamily="34" charset="-122"/>
                <a:cs typeface="Calibri" pitchFamily="34" charset="-120"/>
              </a:rPr>
              <a:t>6 Integrated Subsystems</a:t>
            </a:r>
            <a:endParaRPr lang="en-US" sz="1700" dirty="0"/>
          </a:p>
        </p:txBody>
      </p:sp>
      <p:sp>
        <p:nvSpPr>
          <p:cNvPr id="19" name="Card"/>
          <p:cNvSpPr/>
          <p:nvPr/>
        </p:nvSpPr>
        <p:spPr>
          <a:xfrm>
            <a:off x="5943600" y="2286000"/>
            <a:ext cx="2798064" cy="1170432"/>
          </a:xfrm>
          <a:prstGeom prst="roundRect">
            <a:avLst>
              <a:gd name="adj" fmla="val 9375"/>
            </a:avLst>
          </a:prstGeom>
          <a:solidFill>
            <a:srgbClr val="0D1B2E"/>
          </a:solidFill>
          <a:ln w="12700">
            <a:solidFill>
              <a:srgbClr val="1E3A5F"/>
            </a:solidFill>
            <a:prstDash val="solid"/>
          </a:ln>
        </p:spPr>
      </p:sp>
      <p:sp>
        <p:nvSpPr>
          <p:cNvPr id="20" name="Text 15"/>
          <p:cNvSpPr txBox="1"/>
          <p:nvPr/>
        </p:nvSpPr>
        <p:spPr>
          <a:xfrm>
            <a:off x="6126480" y="2423160"/>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01</a:t>
            </a:r>
            <a:endParaRPr lang="en-US" sz="1400" dirty="0"/>
          </a:p>
        </p:txBody>
      </p:sp>
      <p:sp>
        <p:nvSpPr>
          <p:cNvPr id="21" name="Text 16"/>
          <p:cNvSpPr txBox="1"/>
          <p:nvPr/>
        </p:nvSpPr>
        <p:spPr>
          <a:xfrm>
            <a:off x="6126480" y="2743200"/>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System Information</a:t>
            </a:r>
            <a:endParaRPr lang="en-US" sz="1500" dirty="0"/>
          </a:p>
        </p:txBody>
      </p:sp>
      <p:sp>
        <p:nvSpPr>
          <p:cNvPr id="22" name="Text 17"/>
          <p:cNvSpPr txBox="1"/>
          <p:nvPr/>
        </p:nvSpPr>
        <p:spPr>
          <a:xfrm>
            <a:off x="6126480" y="3054096"/>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uname() • sysconf()</a:t>
            </a:r>
            <a:endParaRPr lang="en-US" sz="1100" dirty="0"/>
          </a:p>
        </p:txBody>
      </p:sp>
      <p:sp>
        <p:nvSpPr>
          <p:cNvPr id="23" name="Card"/>
          <p:cNvSpPr/>
          <p:nvPr/>
        </p:nvSpPr>
        <p:spPr>
          <a:xfrm>
            <a:off x="8933688" y="2286000"/>
            <a:ext cx="2798064" cy="1170432"/>
          </a:xfrm>
          <a:prstGeom prst="roundRect">
            <a:avLst>
              <a:gd name="adj" fmla="val 9375"/>
            </a:avLst>
          </a:prstGeom>
          <a:solidFill>
            <a:srgbClr val="0D1B2E"/>
          </a:solidFill>
          <a:ln w="12700">
            <a:solidFill>
              <a:srgbClr val="1E3A5F"/>
            </a:solidFill>
            <a:prstDash val="solid"/>
          </a:ln>
        </p:spPr>
      </p:sp>
      <p:sp>
        <p:nvSpPr>
          <p:cNvPr id="24" name="Text 19"/>
          <p:cNvSpPr txBox="1"/>
          <p:nvPr/>
        </p:nvSpPr>
        <p:spPr>
          <a:xfrm>
            <a:off x="9116568" y="2423160"/>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02</a:t>
            </a:r>
            <a:endParaRPr lang="en-US" sz="1400" dirty="0"/>
          </a:p>
        </p:txBody>
      </p:sp>
      <p:sp>
        <p:nvSpPr>
          <p:cNvPr id="25" name="Text 20"/>
          <p:cNvSpPr txBox="1"/>
          <p:nvPr/>
        </p:nvSpPr>
        <p:spPr>
          <a:xfrm>
            <a:off x="9116568" y="2743200"/>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Process Manager</a:t>
            </a:r>
            <a:endParaRPr lang="en-US" sz="1500" dirty="0"/>
          </a:p>
        </p:txBody>
      </p:sp>
      <p:sp>
        <p:nvSpPr>
          <p:cNvPr id="26" name="Text 21"/>
          <p:cNvSpPr txBox="1"/>
          <p:nvPr/>
        </p:nvSpPr>
        <p:spPr>
          <a:xfrm>
            <a:off x="9116568" y="3054096"/>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fork() • exec() • wait()</a:t>
            </a:r>
            <a:endParaRPr lang="en-US" sz="1100" dirty="0"/>
          </a:p>
        </p:txBody>
      </p:sp>
      <p:sp>
        <p:nvSpPr>
          <p:cNvPr id="27" name="Card"/>
          <p:cNvSpPr/>
          <p:nvPr/>
        </p:nvSpPr>
        <p:spPr>
          <a:xfrm>
            <a:off x="5943600" y="3593592"/>
            <a:ext cx="2798064" cy="1170432"/>
          </a:xfrm>
          <a:prstGeom prst="roundRect">
            <a:avLst>
              <a:gd name="adj" fmla="val 9375"/>
            </a:avLst>
          </a:prstGeom>
          <a:solidFill>
            <a:srgbClr val="0D1B2E"/>
          </a:solidFill>
          <a:ln w="12700">
            <a:solidFill>
              <a:srgbClr val="1E3A5F"/>
            </a:solidFill>
            <a:prstDash val="solid"/>
          </a:ln>
        </p:spPr>
      </p:sp>
      <p:sp>
        <p:nvSpPr>
          <p:cNvPr id="28" name="Text 23"/>
          <p:cNvSpPr txBox="1"/>
          <p:nvPr/>
        </p:nvSpPr>
        <p:spPr>
          <a:xfrm>
            <a:off x="6126480" y="3730752"/>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03</a:t>
            </a:r>
            <a:endParaRPr lang="en-US" sz="1400" dirty="0"/>
          </a:p>
        </p:txBody>
      </p:sp>
      <p:sp>
        <p:nvSpPr>
          <p:cNvPr id="29" name="Text 24"/>
          <p:cNvSpPr txBox="1"/>
          <p:nvPr/>
        </p:nvSpPr>
        <p:spPr>
          <a:xfrm>
            <a:off x="6126480" y="4050792"/>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Virtual File System</a:t>
            </a:r>
            <a:endParaRPr lang="en-US" sz="1500" dirty="0"/>
          </a:p>
        </p:txBody>
      </p:sp>
      <p:sp>
        <p:nvSpPr>
          <p:cNvPr id="30" name="Text 25"/>
          <p:cNvSpPr txBox="1"/>
          <p:nvPr/>
        </p:nvSpPr>
        <p:spPr>
          <a:xfrm>
            <a:off x="6126480" y="4361688"/>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open() • read() • stat()</a:t>
            </a:r>
            <a:endParaRPr lang="en-US" sz="1100" dirty="0"/>
          </a:p>
        </p:txBody>
      </p:sp>
      <p:sp>
        <p:nvSpPr>
          <p:cNvPr id="31" name="Card"/>
          <p:cNvSpPr/>
          <p:nvPr/>
        </p:nvSpPr>
        <p:spPr>
          <a:xfrm>
            <a:off x="8933688" y="3593592"/>
            <a:ext cx="2798064" cy="1170432"/>
          </a:xfrm>
          <a:prstGeom prst="roundRect">
            <a:avLst>
              <a:gd name="adj" fmla="val 9375"/>
            </a:avLst>
          </a:prstGeom>
          <a:solidFill>
            <a:srgbClr val="0D1B2E"/>
          </a:solidFill>
          <a:ln w="12700">
            <a:solidFill>
              <a:srgbClr val="1E3A5F"/>
            </a:solidFill>
            <a:prstDash val="solid"/>
          </a:ln>
        </p:spPr>
      </p:sp>
      <p:sp>
        <p:nvSpPr>
          <p:cNvPr id="32" name="Text 27"/>
          <p:cNvSpPr txBox="1"/>
          <p:nvPr/>
        </p:nvSpPr>
        <p:spPr>
          <a:xfrm>
            <a:off x="9116568" y="3730752"/>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04</a:t>
            </a:r>
            <a:endParaRPr lang="en-US" sz="1400" dirty="0"/>
          </a:p>
        </p:txBody>
      </p:sp>
      <p:sp>
        <p:nvSpPr>
          <p:cNvPr id="33" name="Text 28"/>
          <p:cNvSpPr txBox="1"/>
          <p:nvPr/>
        </p:nvSpPr>
        <p:spPr>
          <a:xfrm>
            <a:off x="9116568" y="4050792"/>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IPC &amp; Signals</a:t>
            </a:r>
            <a:endParaRPr lang="en-US" sz="1500" dirty="0"/>
          </a:p>
        </p:txBody>
      </p:sp>
      <p:sp>
        <p:nvSpPr>
          <p:cNvPr id="34" name="Text 29"/>
          <p:cNvSpPr txBox="1"/>
          <p:nvPr/>
        </p:nvSpPr>
        <p:spPr>
          <a:xfrm>
            <a:off x="9116568" y="4361688"/>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pipe() • sigaction()</a:t>
            </a:r>
            <a:endParaRPr lang="en-US" sz="1100" dirty="0"/>
          </a:p>
        </p:txBody>
      </p:sp>
      <p:sp>
        <p:nvSpPr>
          <p:cNvPr id="35" name="Card"/>
          <p:cNvSpPr/>
          <p:nvPr/>
        </p:nvSpPr>
        <p:spPr>
          <a:xfrm>
            <a:off x="5943600" y="4901184"/>
            <a:ext cx="2798064" cy="1170432"/>
          </a:xfrm>
          <a:prstGeom prst="roundRect">
            <a:avLst>
              <a:gd name="adj" fmla="val 9375"/>
            </a:avLst>
          </a:prstGeom>
          <a:solidFill>
            <a:srgbClr val="0D1B2E"/>
          </a:solidFill>
          <a:ln w="12700">
            <a:solidFill>
              <a:srgbClr val="1E3A5F"/>
            </a:solidFill>
            <a:prstDash val="solid"/>
          </a:ln>
        </p:spPr>
      </p:sp>
      <p:sp>
        <p:nvSpPr>
          <p:cNvPr id="36" name="Text 31"/>
          <p:cNvSpPr txBox="1"/>
          <p:nvPr/>
        </p:nvSpPr>
        <p:spPr>
          <a:xfrm>
            <a:off x="6126480" y="5038344"/>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05</a:t>
            </a:r>
            <a:endParaRPr lang="en-US" sz="1400" dirty="0"/>
          </a:p>
        </p:txBody>
      </p:sp>
      <p:sp>
        <p:nvSpPr>
          <p:cNvPr id="37" name="Text 32"/>
          <p:cNvSpPr txBox="1"/>
          <p:nvPr/>
        </p:nvSpPr>
        <p:spPr>
          <a:xfrm>
            <a:off x="6126480" y="5358384"/>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Memory Telemetry</a:t>
            </a:r>
            <a:endParaRPr lang="en-US" sz="1500" dirty="0"/>
          </a:p>
        </p:txBody>
      </p:sp>
      <p:sp>
        <p:nvSpPr>
          <p:cNvPr id="38" name="Text 33"/>
          <p:cNvSpPr txBox="1"/>
          <p:nvPr/>
        </p:nvSpPr>
        <p:spPr>
          <a:xfrm>
            <a:off x="6126480" y="5669280"/>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/proc/self • sysconf()</a:t>
            </a:r>
            <a:endParaRPr lang="en-US" sz="1100" dirty="0"/>
          </a:p>
        </p:txBody>
      </p:sp>
      <p:sp>
        <p:nvSpPr>
          <p:cNvPr id="39" name="Card"/>
          <p:cNvSpPr/>
          <p:nvPr/>
        </p:nvSpPr>
        <p:spPr>
          <a:xfrm>
            <a:off x="8933688" y="4901184"/>
            <a:ext cx="2798064" cy="1170432"/>
          </a:xfrm>
          <a:prstGeom prst="roundRect">
            <a:avLst>
              <a:gd name="adj" fmla="val 9375"/>
            </a:avLst>
          </a:prstGeom>
          <a:solidFill>
            <a:srgbClr val="0D1B2E"/>
          </a:solidFill>
          <a:ln w="12700">
            <a:solidFill>
              <a:srgbClr val="1E3A5F"/>
            </a:solidFill>
            <a:prstDash val="solid"/>
          </a:ln>
        </p:spPr>
      </p:sp>
      <p:sp>
        <p:nvSpPr>
          <p:cNvPr id="40" name="Text 35"/>
          <p:cNvSpPr txBox="1"/>
          <p:nvPr/>
        </p:nvSpPr>
        <p:spPr>
          <a:xfrm>
            <a:off x="9116568" y="5038344"/>
            <a:ext cx="54864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06</a:t>
            </a:r>
            <a:endParaRPr lang="en-US" sz="1400" dirty="0"/>
          </a:p>
        </p:txBody>
      </p:sp>
      <p:sp>
        <p:nvSpPr>
          <p:cNvPr id="41" name="Text 36"/>
          <p:cNvSpPr txBox="1"/>
          <p:nvPr/>
        </p:nvSpPr>
        <p:spPr>
          <a:xfrm>
            <a:off x="9116568" y="5358384"/>
            <a:ext cx="246888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Concurrency &amp; Mutex</a:t>
            </a:r>
            <a:endParaRPr lang="en-US" sz="1500" dirty="0"/>
          </a:p>
        </p:txBody>
      </p:sp>
      <p:sp>
        <p:nvSpPr>
          <p:cNvPr id="42" name="Text 37"/>
          <p:cNvSpPr txBox="1"/>
          <p:nvPr/>
        </p:nvSpPr>
        <p:spPr>
          <a:xfrm>
            <a:off x="9116568" y="5669280"/>
            <a:ext cx="2468880" cy="274320"/>
          </a:xfrm>
          <a:prstGeom prst="rect">
            <a:avLst/>
          </a:prstGeom>
          <a:noFill/>
          <a:ln/>
        </p:spPr>
        <p:txBody>
          <a:bodyPr wrap="square" lIns="0" tIns="0" rIns="0" bIns="0" rtlCol="0" anchor="t"/>
          <a:lstStyle/>
          <a:p>
            <a:pPr marL="0" indent="0">
              <a:buNone/>
            </a:pPr>
            <a:r>
              <a:rPr lang="en-US" sz="1100" dirty="0">
                <a:solidFill>
                  <a:srgbClr val="94A3B8"/>
                </a:solidFill>
                <a:latin typeface="Consolas" pitchFamily="34" charset="0"/>
                <a:ea typeface="Consolas" pitchFamily="34" charset="-122"/>
                <a:cs typeface="Consolas" pitchFamily="34" charset="-120"/>
              </a:rPr>
              <a:t>pthread • mutex</a:t>
            </a:r>
            <a:endParaRPr lang="en-US" sz="1100" dirty="0"/>
          </a:p>
        </p:txBody>
      </p:sp>
      <p:sp>
        <p:nvSpPr>
          <p:cNvPr id="43"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ill"/>
          <p:cNvSpPr/>
          <p:nvPr/>
        </p:nvSpPr>
        <p:spPr>
          <a:xfrm>
            <a:off x="457200" y="274320"/>
            <a:ext cx="1980590"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PROBLEM STATEMENT</a:t>
            </a:r>
            <a:endParaRPr lang="en-US" sz="1100" dirty="0"/>
          </a:p>
        </p:txBody>
      </p:sp>
      <p:sp>
        <p:nvSpPr>
          <p:cNvPr id="3" name="Pill"/>
          <p:cNvSpPr/>
          <p:nvPr/>
        </p:nvSpPr>
        <p:spPr>
          <a:xfrm>
            <a:off x="9753905" y="274320"/>
            <a:ext cx="1980590"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Theory → Practice</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The Pedagogical Challenge</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Kernel behavior is usually invisible to the people learning it</a:t>
            </a:r>
            <a:endParaRPr lang="en-US" sz="1400" dirty="0"/>
          </a:p>
        </p:txBody>
      </p:sp>
      <p:sp>
        <p:nvSpPr>
          <p:cNvPr id="6" name="Card"/>
          <p:cNvSpPr/>
          <p:nvPr/>
        </p:nvSpPr>
        <p:spPr>
          <a:xfrm>
            <a:off x="457200" y="1828800"/>
            <a:ext cx="5532120" cy="2971800"/>
          </a:xfrm>
          <a:prstGeom prst="roundRect">
            <a:avLst>
              <a:gd name="adj" fmla="val 3692"/>
            </a:avLst>
          </a:prstGeom>
          <a:solidFill>
            <a:srgbClr val="0D1B2E"/>
          </a:solidFill>
          <a:ln w="12700">
            <a:solidFill>
              <a:srgbClr val="7A5F14"/>
            </a:solidFill>
            <a:prstDash val="solid"/>
          </a:ln>
        </p:spPr>
      </p:sp>
      <p:sp>
        <p:nvSpPr>
          <p:cNvPr id="7" name="IconCircle"/>
          <p:cNvSpPr/>
          <p:nvPr/>
        </p:nvSpPr>
        <p:spPr>
          <a:xfrm>
            <a:off x="731520" y="2011680"/>
            <a:ext cx="457200" cy="457200"/>
          </a:xfrm>
          <a:prstGeom prst="ellipse">
            <a:avLst/>
          </a:prstGeom>
          <a:solidFill>
            <a:srgbClr val="2A2210"/>
          </a:solidFill>
          <a:ln w="12700">
            <a:solidFill>
              <a:srgbClr val="1E3A5F"/>
            </a:solidFill>
            <a:prstDash val="solid"/>
          </a:ln>
        </p:spPr>
      </p:sp>
      <p:pic>
        <p:nvPicPr>
          <p:cNvPr id="8" name="Image 0" descr="FaExclamationTriangle"/>
          <p:cNvPicPr>
            <a:picLocks noChangeAspect="1"/>
          </p:cNvPicPr>
          <p:nvPr/>
        </p:nvPicPr>
        <p:blipFill>
          <a:blip r:embed="rId3"/>
          <a:stretch>
            <a:fillRect/>
          </a:stretch>
        </p:blipFill>
        <p:spPr>
          <a:xfrm>
            <a:off x="854964" y="2135124"/>
            <a:ext cx="210312" cy="210312"/>
          </a:xfrm>
          <a:prstGeom prst="rect">
            <a:avLst/>
          </a:prstGeom>
        </p:spPr>
      </p:pic>
      <p:sp>
        <p:nvSpPr>
          <p:cNvPr id="9" name="Text 6"/>
          <p:cNvSpPr txBox="1"/>
          <p:nvPr/>
        </p:nvSpPr>
        <p:spPr>
          <a:xfrm>
            <a:off x="1371600" y="2011680"/>
            <a:ext cx="4114800" cy="457200"/>
          </a:xfrm>
          <a:prstGeom prst="rect">
            <a:avLst/>
          </a:prstGeom>
          <a:noFill/>
          <a:ln/>
        </p:spPr>
        <p:txBody>
          <a:bodyPr wrap="square" lIns="0" tIns="0" rIns="0" bIns="0" rtlCol="0" anchor="ctr"/>
          <a:lstStyle/>
          <a:p>
            <a:pPr marL="0" indent="0">
              <a:buNone/>
            </a:pPr>
            <a:r>
              <a:rPr lang="en-US" sz="1700" b="1" dirty="0">
                <a:solidFill>
                  <a:srgbClr val="FBBF24"/>
                </a:solidFill>
                <a:latin typeface="Calibri" pitchFamily="34" charset="0"/>
                <a:ea typeface="Calibri" pitchFamily="34" charset="-122"/>
                <a:cs typeface="Calibri" pitchFamily="34" charset="-120"/>
              </a:rPr>
              <a:t>The Problem</a:t>
            </a:r>
            <a:endParaRPr lang="en-US" sz="1700" dirty="0"/>
          </a:p>
        </p:txBody>
      </p:sp>
      <p:sp>
        <p:nvSpPr>
          <p:cNvPr id="10" name="Text 7"/>
          <p:cNvSpPr txBox="1"/>
          <p:nvPr/>
        </p:nvSpPr>
        <p:spPr>
          <a:xfrm>
            <a:off x="731520" y="2651760"/>
            <a:ext cx="498348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Process cloning, memory paging, file descriptors and race conditions are often taught as pure textbook theory.</a:t>
            </a:r>
            <a:endParaRPr lang="en-US" sz="1400" dirty="0"/>
          </a:p>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Standard command-line utilities hide kernel transitions and file descriptor indexing.</a:t>
            </a:r>
            <a:endParaRPr lang="en-US" sz="1400" dirty="0"/>
          </a:p>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Race conditions and memory layouts are hard to diagnose from static terminal output.</a:t>
            </a:r>
            <a:endParaRPr lang="en-US" sz="1400" dirty="0"/>
          </a:p>
        </p:txBody>
      </p:sp>
      <p:sp>
        <p:nvSpPr>
          <p:cNvPr id="11" name="Card"/>
          <p:cNvSpPr/>
          <p:nvPr/>
        </p:nvSpPr>
        <p:spPr>
          <a:xfrm>
            <a:off x="6199632" y="1828800"/>
            <a:ext cx="5532120" cy="2971800"/>
          </a:xfrm>
          <a:prstGeom prst="roundRect">
            <a:avLst>
              <a:gd name="adj" fmla="val 3692"/>
            </a:avLst>
          </a:prstGeom>
          <a:solidFill>
            <a:srgbClr val="0D1B2E"/>
          </a:solidFill>
          <a:ln w="12700">
            <a:solidFill>
              <a:srgbClr val="1F6B4A"/>
            </a:solidFill>
            <a:prstDash val="solid"/>
          </a:ln>
        </p:spPr>
      </p:sp>
      <p:sp>
        <p:nvSpPr>
          <p:cNvPr id="12" name="IconCircle"/>
          <p:cNvSpPr/>
          <p:nvPr/>
        </p:nvSpPr>
        <p:spPr>
          <a:xfrm>
            <a:off x="6473952" y="2011680"/>
            <a:ext cx="457200" cy="457200"/>
          </a:xfrm>
          <a:prstGeom prst="ellipse">
            <a:avLst/>
          </a:prstGeom>
          <a:solidFill>
            <a:srgbClr val="0F2A26"/>
          </a:solidFill>
          <a:ln w="12700">
            <a:solidFill>
              <a:srgbClr val="1E3A5F"/>
            </a:solidFill>
            <a:prstDash val="solid"/>
          </a:ln>
        </p:spPr>
      </p:sp>
      <p:pic>
        <p:nvPicPr>
          <p:cNvPr id="13" name="Image 1" descr="FaLightbulb"/>
          <p:cNvPicPr>
            <a:picLocks noChangeAspect="1"/>
          </p:cNvPicPr>
          <p:nvPr/>
        </p:nvPicPr>
        <p:blipFill>
          <a:blip r:embed="rId4"/>
          <a:stretch>
            <a:fillRect/>
          </a:stretch>
        </p:blipFill>
        <p:spPr>
          <a:xfrm>
            <a:off x="6597396" y="2135124"/>
            <a:ext cx="210312" cy="210312"/>
          </a:xfrm>
          <a:prstGeom prst="rect">
            <a:avLst/>
          </a:prstGeom>
        </p:spPr>
      </p:pic>
      <p:sp>
        <p:nvSpPr>
          <p:cNvPr id="14" name="Text 10"/>
          <p:cNvSpPr txBox="1"/>
          <p:nvPr/>
        </p:nvSpPr>
        <p:spPr>
          <a:xfrm>
            <a:off x="7114032" y="2011680"/>
            <a:ext cx="4114800" cy="457200"/>
          </a:xfrm>
          <a:prstGeom prst="rect">
            <a:avLst/>
          </a:prstGeom>
          <a:noFill/>
          <a:ln/>
        </p:spPr>
        <p:txBody>
          <a:bodyPr wrap="square" lIns="0" tIns="0" rIns="0" bIns="0" rtlCol="0" anchor="ctr"/>
          <a:lstStyle/>
          <a:p>
            <a:pPr marL="0" indent="0">
              <a:buNone/>
            </a:pPr>
            <a:r>
              <a:rPr lang="en-US" sz="1700" b="1" dirty="0">
                <a:solidFill>
                  <a:srgbClr val="4ADE80"/>
                </a:solidFill>
                <a:latin typeface="Calibri" pitchFamily="34" charset="0"/>
                <a:ea typeface="Calibri" pitchFamily="34" charset="-122"/>
                <a:cs typeface="Calibri" pitchFamily="34" charset="-120"/>
              </a:rPr>
              <a:t>Purpose of UnixSuite</a:t>
            </a:r>
            <a:endParaRPr lang="en-US" sz="1700" dirty="0"/>
          </a:p>
        </p:txBody>
      </p:sp>
      <p:sp>
        <p:nvSpPr>
          <p:cNvPr id="15" name="Text 11"/>
          <p:cNvSpPr txBox="1"/>
          <p:nvPr/>
        </p:nvSpPr>
        <p:spPr>
          <a:xfrm>
            <a:off x="6473952" y="2651760"/>
            <a:ext cx="498348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Bridges theory with practice through a single organized toolkit.</a:t>
            </a:r>
            <a:endParaRPr lang="en-US" sz="1400" dirty="0"/>
          </a:p>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Every module runs real POSIX operations and reports [INTERNAL WORKING] traces.</a:t>
            </a:r>
            <a:endParaRPr lang="en-US" sz="1400" dirty="0"/>
          </a:p>
          <a:p>
            <a:pPr marL="203200" indent="-203200">
              <a:spcAft>
                <a:spcPts val="600"/>
              </a:spcAft>
              <a:buSzPct val="100000"/>
              <a:buChar char="•"/>
            </a:pPr>
            <a:r>
              <a:rPr lang="en-US" sz="1500" dirty="0">
                <a:solidFill>
                  <a:srgbClr val="CBD5E1"/>
                </a:solidFill>
                <a:latin typeface="Calibri" pitchFamily="34" charset="0"/>
                <a:ea typeface="Calibri" pitchFamily="34" charset="-122"/>
                <a:cs typeface="Calibri" pitchFamily="34" charset="-120"/>
              </a:rPr>
              <a:t>A companion web Visual Lab brings the same concepts to life interactively.</a:t>
            </a:r>
            <a:endParaRPr lang="en-US" sz="1400" dirty="0"/>
          </a:p>
        </p:txBody>
      </p:sp>
      <p:sp>
        <p:nvSpPr>
          <p:cNvPr id="16" name="Card"/>
          <p:cNvSpPr/>
          <p:nvPr/>
        </p:nvSpPr>
        <p:spPr>
          <a:xfrm>
            <a:off x="457200" y="5074920"/>
            <a:ext cx="3410712" cy="1051560"/>
          </a:xfrm>
          <a:prstGeom prst="roundRect">
            <a:avLst>
              <a:gd name="adj" fmla="val 10435"/>
            </a:avLst>
          </a:prstGeom>
          <a:solidFill>
            <a:srgbClr val="112641"/>
          </a:solidFill>
          <a:ln w="12700">
            <a:solidFill>
              <a:srgbClr val="1E3A5F"/>
            </a:solidFill>
            <a:prstDash val="solid"/>
          </a:ln>
        </p:spPr>
      </p:sp>
      <p:sp>
        <p:nvSpPr>
          <p:cNvPr id="17" name="Text 13"/>
          <p:cNvSpPr txBox="1"/>
          <p:nvPr/>
        </p:nvSpPr>
        <p:spPr>
          <a:xfrm>
            <a:off x="640080" y="5212080"/>
            <a:ext cx="3063240" cy="32004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THEORY</a:t>
            </a:r>
            <a:endParaRPr lang="en-US" sz="1400" dirty="0"/>
          </a:p>
        </p:txBody>
      </p:sp>
      <p:sp>
        <p:nvSpPr>
          <p:cNvPr id="18" name="Text 14"/>
          <p:cNvSpPr txBox="1"/>
          <p:nvPr/>
        </p:nvSpPr>
        <p:spPr>
          <a:xfrm>
            <a:off x="640080" y="5577840"/>
            <a:ext cx="3063240" cy="32004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OS concepts from textbooks</a:t>
            </a:r>
            <a:endParaRPr lang="en-US" sz="1300" dirty="0"/>
          </a:p>
        </p:txBody>
      </p:sp>
      <p:sp>
        <p:nvSpPr>
          <p:cNvPr id="19" name="Shape 15"/>
          <p:cNvSpPr/>
          <p:nvPr/>
        </p:nvSpPr>
        <p:spPr>
          <a:xfrm>
            <a:off x="3913632" y="5596128"/>
            <a:ext cx="429768" cy="0"/>
          </a:xfrm>
          <a:prstGeom prst="line">
            <a:avLst/>
          </a:prstGeom>
          <a:noFill/>
          <a:ln w="25400">
            <a:solidFill>
              <a:srgbClr val="38BDF8"/>
            </a:solidFill>
            <a:prstDash val="solid"/>
            <a:tailEnd type="triangle"/>
          </a:ln>
        </p:spPr>
      </p:sp>
      <p:sp>
        <p:nvSpPr>
          <p:cNvPr id="20" name="Card"/>
          <p:cNvSpPr/>
          <p:nvPr/>
        </p:nvSpPr>
        <p:spPr>
          <a:xfrm>
            <a:off x="4389120" y="5074920"/>
            <a:ext cx="3410712" cy="1051560"/>
          </a:xfrm>
          <a:prstGeom prst="roundRect">
            <a:avLst>
              <a:gd name="adj" fmla="val 10435"/>
            </a:avLst>
          </a:prstGeom>
          <a:solidFill>
            <a:srgbClr val="112641"/>
          </a:solidFill>
          <a:ln w="12700">
            <a:solidFill>
              <a:srgbClr val="1E3A5F"/>
            </a:solidFill>
            <a:prstDash val="solid"/>
          </a:ln>
        </p:spPr>
      </p:sp>
      <p:sp>
        <p:nvSpPr>
          <p:cNvPr id="21" name="Text 17"/>
          <p:cNvSpPr txBox="1"/>
          <p:nvPr/>
        </p:nvSpPr>
        <p:spPr>
          <a:xfrm>
            <a:off x="4572000" y="5212080"/>
            <a:ext cx="3063240" cy="32004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C POSIX IMPLEMENTATION</a:t>
            </a:r>
            <a:endParaRPr lang="en-US" sz="1400" dirty="0"/>
          </a:p>
        </p:txBody>
      </p:sp>
      <p:sp>
        <p:nvSpPr>
          <p:cNvPr id="22" name="Text 18"/>
          <p:cNvSpPr txBox="1"/>
          <p:nvPr/>
        </p:nvSpPr>
        <p:spPr>
          <a:xfrm>
            <a:off x="4572000" y="5577840"/>
            <a:ext cx="3063240" cy="32004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Direct system calls</a:t>
            </a:r>
            <a:endParaRPr lang="en-US" sz="1300" dirty="0"/>
          </a:p>
        </p:txBody>
      </p:sp>
      <p:sp>
        <p:nvSpPr>
          <p:cNvPr id="23" name="Shape 19"/>
          <p:cNvSpPr/>
          <p:nvPr/>
        </p:nvSpPr>
        <p:spPr>
          <a:xfrm>
            <a:off x="7845552" y="5596128"/>
            <a:ext cx="429768" cy="0"/>
          </a:xfrm>
          <a:prstGeom prst="line">
            <a:avLst/>
          </a:prstGeom>
          <a:noFill/>
          <a:ln w="25400">
            <a:solidFill>
              <a:srgbClr val="38BDF8"/>
            </a:solidFill>
            <a:prstDash val="solid"/>
            <a:tailEnd type="triangle"/>
          </a:ln>
        </p:spPr>
      </p:sp>
      <p:sp>
        <p:nvSpPr>
          <p:cNvPr id="24" name="Card"/>
          <p:cNvSpPr/>
          <p:nvPr/>
        </p:nvSpPr>
        <p:spPr>
          <a:xfrm>
            <a:off x="8321040" y="5074920"/>
            <a:ext cx="3410712" cy="1051560"/>
          </a:xfrm>
          <a:prstGeom prst="roundRect">
            <a:avLst>
              <a:gd name="adj" fmla="val 10435"/>
            </a:avLst>
          </a:prstGeom>
          <a:solidFill>
            <a:srgbClr val="112641"/>
          </a:solidFill>
          <a:ln w="12700">
            <a:solidFill>
              <a:srgbClr val="1E3A5F"/>
            </a:solidFill>
            <a:prstDash val="solid"/>
          </a:ln>
        </p:spPr>
      </p:sp>
      <p:sp>
        <p:nvSpPr>
          <p:cNvPr id="25" name="Text 21"/>
          <p:cNvSpPr txBox="1"/>
          <p:nvPr/>
        </p:nvSpPr>
        <p:spPr>
          <a:xfrm>
            <a:off x="8503920" y="5212080"/>
            <a:ext cx="3063240" cy="32004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OBSERVABLE TELEMETRY</a:t>
            </a:r>
            <a:endParaRPr lang="en-US" sz="1400" dirty="0"/>
          </a:p>
        </p:txBody>
      </p:sp>
      <p:sp>
        <p:nvSpPr>
          <p:cNvPr id="26" name="Text 22"/>
          <p:cNvSpPr txBox="1"/>
          <p:nvPr/>
        </p:nvSpPr>
        <p:spPr>
          <a:xfrm>
            <a:off x="8503920" y="5577840"/>
            <a:ext cx="3063240" cy="32004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Kernel traces on screen</a:t>
            </a:r>
            <a:endParaRPr lang="en-US" sz="1300" dirty="0"/>
          </a:p>
        </p:txBody>
      </p:sp>
      <p:sp>
        <p:nvSpPr>
          <p:cNvPr id="27"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ill"/>
          <p:cNvSpPr/>
          <p:nvPr/>
        </p:nvSpPr>
        <p:spPr>
          <a:xfrm>
            <a:off x="457200" y="274320"/>
            <a:ext cx="1353312"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OBJECTIVES</a:t>
            </a:r>
            <a:endParaRPr lang="en-US" sz="1100" dirty="0"/>
          </a:p>
        </p:txBody>
      </p:sp>
      <p:sp>
        <p:nvSpPr>
          <p:cNvPr id="3" name="Pill"/>
          <p:cNvSpPr/>
          <p:nvPr/>
        </p:nvSpPr>
        <p:spPr>
          <a:xfrm>
            <a:off x="9843516" y="274320"/>
            <a:ext cx="1890979"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8 Learning Goals</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Project Objectives</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From hardware telemetry to multithreading — each goal maps to real system calls</a:t>
            </a:r>
            <a:endParaRPr lang="en-US" sz="1400" dirty="0"/>
          </a:p>
        </p:txBody>
      </p:sp>
      <p:sp>
        <p:nvSpPr>
          <p:cNvPr id="6" name="Card"/>
          <p:cNvSpPr/>
          <p:nvPr/>
        </p:nvSpPr>
        <p:spPr>
          <a:xfrm>
            <a:off x="457200" y="1828800"/>
            <a:ext cx="2679192" cy="2011680"/>
          </a:xfrm>
          <a:prstGeom prst="roundRect">
            <a:avLst>
              <a:gd name="adj" fmla="val 5455"/>
            </a:avLst>
          </a:prstGeom>
          <a:solidFill>
            <a:srgbClr val="0D1B2E"/>
          </a:solidFill>
          <a:ln w="12700">
            <a:solidFill>
              <a:srgbClr val="1E3A5F"/>
            </a:solidFill>
            <a:prstDash val="solid"/>
          </a:ln>
        </p:spPr>
      </p:sp>
      <p:sp>
        <p:nvSpPr>
          <p:cNvPr id="7" name="Shape 5"/>
          <p:cNvSpPr/>
          <p:nvPr/>
        </p:nvSpPr>
        <p:spPr>
          <a:xfrm>
            <a:off x="640080" y="2011680"/>
            <a:ext cx="457200" cy="457200"/>
          </a:xfrm>
          <a:prstGeom prst="ellipse">
            <a:avLst/>
          </a:prstGeom>
          <a:solidFill>
            <a:srgbClr val="0F2A44"/>
          </a:solidFill>
          <a:ln w="12700">
            <a:solidFill>
              <a:srgbClr val="38BDF8"/>
            </a:solidFill>
            <a:prstDash val="solid"/>
          </a:ln>
        </p:spPr>
      </p:sp>
      <p:sp>
        <p:nvSpPr>
          <p:cNvPr id="8" name="Text 6"/>
          <p:cNvSpPr txBox="1"/>
          <p:nvPr/>
        </p:nvSpPr>
        <p:spPr>
          <a:xfrm>
            <a:off x="640080"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1</a:t>
            </a:r>
            <a:endParaRPr lang="en-US" sz="1500" dirty="0"/>
          </a:p>
        </p:txBody>
      </p:sp>
      <p:sp>
        <p:nvSpPr>
          <p:cNvPr id="9" name="Text 7"/>
          <p:cNvSpPr txBox="1"/>
          <p:nvPr/>
        </p:nvSpPr>
        <p:spPr>
          <a:xfrm>
            <a:off x="640080" y="260604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System Discovery</a:t>
            </a:r>
            <a:endParaRPr lang="en-US" sz="1500" dirty="0"/>
          </a:p>
        </p:txBody>
      </p:sp>
      <p:sp>
        <p:nvSpPr>
          <p:cNvPr id="10" name="Text 8"/>
          <p:cNvSpPr txBox="1"/>
          <p:nvPr/>
        </p:nvSpPr>
        <p:spPr>
          <a:xfrm>
            <a:off x="640080" y="292608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Query kernel release and CPU configuration via uname() and sysconf().</a:t>
            </a:r>
            <a:endParaRPr lang="en-US" sz="1300" dirty="0"/>
          </a:p>
        </p:txBody>
      </p:sp>
      <p:sp>
        <p:nvSpPr>
          <p:cNvPr id="11" name="Card"/>
          <p:cNvSpPr/>
          <p:nvPr/>
        </p:nvSpPr>
        <p:spPr>
          <a:xfrm>
            <a:off x="3291840" y="1828800"/>
            <a:ext cx="2679192" cy="2011680"/>
          </a:xfrm>
          <a:prstGeom prst="roundRect">
            <a:avLst>
              <a:gd name="adj" fmla="val 5455"/>
            </a:avLst>
          </a:prstGeom>
          <a:solidFill>
            <a:srgbClr val="0D1B2E"/>
          </a:solidFill>
          <a:ln w="12700">
            <a:solidFill>
              <a:srgbClr val="1E3A5F"/>
            </a:solidFill>
            <a:prstDash val="solid"/>
          </a:ln>
        </p:spPr>
      </p:sp>
      <p:sp>
        <p:nvSpPr>
          <p:cNvPr id="12" name="Shape 10"/>
          <p:cNvSpPr/>
          <p:nvPr/>
        </p:nvSpPr>
        <p:spPr>
          <a:xfrm>
            <a:off x="3474720" y="2011680"/>
            <a:ext cx="457200" cy="457200"/>
          </a:xfrm>
          <a:prstGeom prst="ellipse">
            <a:avLst/>
          </a:prstGeom>
          <a:solidFill>
            <a:srgbClr val="0F2A44"/>
          </a:solidFill>
          <a:ln w="12700">
            <a:solidFill>
              <a:srgbClr val="38BDF8"/>
            </a:solidFill>
            <a:prstDash val="solid"/>
          </a:ln>
        </p:spPr>
      </p:sp>
      <p:sp>
        <p:nvSpPr>
          <p:cNvPr id="13" name="Text 11"/>
          <p:cNvSpPr txBox="1"/>
          <p:nvPr/>
        </p:nvSpPr>
        <p:spPr>
          <a:xfrm>
            <a:off x="3474720"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2</a:t>
            </a:r>
            <a:endParaRPr lang="en-US" sz="1500" dirty="0"/>
          </a:p>
        </p:txBody>
      </p:sp>
      <p:sp>
        <p:nvSpPr>
          <p:cNvPr id="14" name="Text 12"/>
          <p:cNvSpPr txBox="1"/>
          <p:nvPr/>
        </p:nvSpPr>
        <p:spPr>
          <a:xfrm>
            <a:off x="3474720" y="260604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Process Control</a:t>
            </a:r>
            <a:endParaRPr lang="en-US" sz="1500" dirty="0"/>
          </a:p>
        </p:txBody>
      </p:sp>
      <p:sp>
        <p:nvSpPr>
          <p:cNvPr id="15" name="Text 13"/>
          <p:cNvSpPr txBox="1"/>
          <p:nvPr/>
        </p:nvSpPr>
        <p:spPr>
          <a:xfrm>
            <a:off x="3474720" y="292608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Demonstrate fork(), binary overlay via execlp(), and waitpid().</a:t>
            </a:r>
            <a:endParaRPr lang="en-US" sz="1300" dirty="0"/>
          </a:p>
        </p:txBody>
      </p:sp>
      <p:sp>
        <p:nvSpPr>
          <p:cNvPr id="16" name="Card"/>
          <p:cNvSpPr/>
          <p:nvPr/>
        </p:nvSpPr>
        <p:spPr>
          <a:xfrm>
            <a:off x="6126480" y="1828800"/>
            <a:ext cx="2679192" cy="2011680"/>
          </a:xfrm>
          <a:prstGeom prst="roundRect">
            <a:avLst>
              <a:gd name="adj" fmla="val 5455"/>
            </a:avLst>
          </a:prstGeom>
          <a:solidFill>
            <a:srgbClr val="0D1B2E"/>
          </a:solidFill>
          <a:ln w="12700">
            <a:solidFill>
              <a:srgbClr val="1E3A5F"/>
            </a:solidFill>
            <a:prstDash val="solid"/>
          </a:ln>
        </p:spPr>
      </p:sp>
      <p:sp>
        <p:nvSpPr>
          <p:cNvPr id="17" name="Shape 15"/>
          <p:cNvSpPr/>
          <p:nvPr/>
        </p:nvSpPr>
        <p:spPr>
          <a:xfrm>
            <a:off x="6309360" y="2011680"/>
            <a:ext cx="457200" cy="457200"/>
          </a:xfrm>
          <a:prstGeom prst="ellipse">
            <a:avLst/>
          </a:prstGeom>
          <a:solidFill>
            <a:srgbClr val="0F2A44"/>
          </a:solidFill>
          <a:ln w="12700">
            <a:solidFill>
              <a:srgbClr val="38BDF8"/>
            </a:solidFill>
            <a:prstDash val="solid"/>
          </a:ln>
        </p:spPr>
      </p:sp>
      <p:sp>
        <p:nvSpPr>
          <p:cNvPr id="18" name="Text 16"/>
          <p:cNvSpPr txBox="1"/>
          <p:nvPr/>
        </p:nvSpPr>
        <p:spPr>
          <a:xfrm>
            <a:off x="6309360"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3</a:t>
            </a:r>
            <a:endParaRPr lang="en-US" sz="1500" dirty="0"/>
          </a:p>
        </p:txBody>
      </p:sp>
      <p:sp>
        <p:nvSpPr>
          <p:cNvPr id="19" name="Text 17"/>
          <p:cNvSpPr txBox="1"/>
          <p:nvPr/>
        </p:nvSpPr>
        <p:spPr>
          <a:xfrm>
            <a:off x="6309360" y="260604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File Management</a:t>
            </a:r>
            <a:endParaRPr lang="en-US" sz="1500" dirty="0"/>
          </a:p>
        </p:txBody>
      </p:sp>
      <p:sp>
        <p:nvSpPr>
          <p:cNvPr id="20" name="Text 18"/>
          <p:cNvSpPr txBox="1"/>
          <p:nvPr/>
        </p:nvSpPr>
        <p:spPr>
          <a:xfrm>
            <a:off x="6309360" y="292608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Perform stream I/O and extract inode metadata using stat().</a:t>
            </a:r>
            <a:endParaRPr lang="en-US" sz="1300" dirty="0"/>
          </a:p>
        </p:txBody>
      </p:sp>
      <p:sp>
        <p:nvSpPr>
          <p:cNvPr id="21" name="Card"/>
          <p:cNvSpPr/>
          <p:nvPr/>
        </p:nvSpPr>
        <p:spPr>
          <a:xfrm>
            <a:off x="8961120" y="1828800"/>
            <a:ext cx="2679192" cy="2011680"/>
          </a:xfrm>
          <a:prstGeom prst="roundRect">
            <a:avLst>
              <a:gd name="adj" fmla="val 5455"/>
            </a:avLst>
          </a:prstGeom>
          <a:solidFill>
            <a:srgbClr val="0D1B2E"/>
          </a:solidFill>
          <a:ln w="12700">
            <a:solidFill>
              <a:srgbClr val="1E3A5F"/>
            </a:solidFill>
            <a:prstDash val="solid"/>
          </a:ln>
        </p:spPr>
      </p:sp>
      <p:sp>
        <p:nvSpPr>
          <p:cNvPr id="22" name="Shape 20"/>
          <p:cNvSpPr/>
          <p:nvPr/>
        </p:nvSpPr>
        <p:spPr>
          <a:xfrm>
            <a:off x="9144000" y="2011680"/>
            <a:ext cx="457200" cy="457200"/>
          </a:xfrm>
          <a:prstGeom prst="ellipse">
            <a:avLst/>
          </a:prstGeom>
          <a:solidFill>
            <a:srgbClr val="0F2A44"/>
          </a:solidFill>
          <a:ln w="12700">
            <a:solidFill>
              <a:srgbClr val="38BDF8"/>
            </a:solidFill>
            <a:prstDash val="solid"/>
          </a:ln>
        </p:spPr>
      </p:sp>
      <p:sp>
        <p:nvSpPr>
          <p:cNvPr id="23" name="Text 21"/>
          <p:cNvSpPr txBox="1"/>
          <p:nvPr/>
        </p:nvSpPr>
        <p:spPr>
          <a:xfrm>
            <a:off x="9144000"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4</a:t>
            </a:r>
            <a:endParaRPr lang="en-US" sz="1500" dirty="0"/>
          </a:p>
        </p:txBody>
      </p:sp>
      <p:sp>
        <p:nvSpPr>
          <p:cNvPr id="24" name="Text 22"/>
          <p:cNvSpPr txBox="1"/>
          <p:nvPr/>
        </p:nvSpPr>
        <p:spPr>
          <a:xfrm>
            <a:off x="9144000" y="260604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IPC Mechanism</a:t>
            </a:r>
            <a:endParaRPr lang="en-US" sz="1500" dirty="0"/>
          </a:p>
        </p:txBody>
      </p:sp>
      <p:sp>
        <p:nvSpPr>
          <p:cNvPr id="25" name="Text 23"/>
          <p:cNvSpPr txBox="1"/>
          <p:nvPr/>
        </p:nvSpPr>
        <p:spPr>
          <a:xfrm>
            <a:off x="9144000" y="292608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Establish unidirectional channels using anonymous pipe().</a:t>
            </a:r>
            <a:endParaRPr lang="en-US" sz="1300" dirty="0"/>
          </a:p>
        </p:txBody>
      </p:sp>
      <p:sp>
        <p:nvSpPr>
          <p:cNvPr id="26" name="Card"/>
          <p:cNvSpPr/>
          <p:nvPr/>
        </p:nvSpPr>
        <p:spPr>
          <a:xfrm>
            <a:off x="457200" y="4023360"/>
            <a:ext cx="2679192" cy="2011680"/>
          </a:xfrm>
          <a:prstGeom prst="roundRect">
            <a:avLst>
              <a:gd name="adj" fmla="val 5455"/>
            </a:avLst>
          </a:prstGeom>
          <a:solidFill>
            <a:srgbClr val="0D1B2E"/>
          </a:solidFill>
          <a:ln w="12700">
            <a:solidFill>
              <a:srgbClr val="1E3A5F"/>
            </a:solidFill>
            <a:prstDash val="solid"/>
          </a:ln>
        </p:spPr>
      </p:sp>
      <p:sp>
        <p:nvSpPr>
          <p:cNvPr id="27" name="Shape 25"/>
          <p:cNvSpPr/>
          <p:nvPr/>
        </p:nvSpPr>
        <p:spPr>
          <a:xfrm>
            <a:off x="640080" y="4206240"/>
            <a:ext cx="457200" cy="457200"/>
          </a:xfrm>
          <a:prstGeom prst="ellipse">
            <a:avLst/>
          </a:prstGeom>
          <a:solidFill>
            <a:srgbClr val="0F2A44"/>
          </a:solidFill>
          <a:ln w="12700">
            <a:solidFill>
              <a:srgbClr val="38BDF8"/>
            </a:solidFill>
            <a:prstDash val="solid"/>
          </a:ln>
        </p:spPr>
      </p:sp>
      <p:sp>
        <p:nvSpPr>
          <p:cNvPr id="28" name="Text 26"/>
          <p:cNvSpPr txBox="1"/>
          <p:nvPr/>
        </p:nvSpPr>
        <p:spPr>
          <a:xfrm>
            <a:off x="640080" y="420624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5</a:t>
            </a:r>
            <a:endParaRPr lang="en-US" sz="1500" dirty="0"/>
          </a:p>
        </p:txBody>
      </p:sp>
      <p:sp>
        <p:nvSpPr>
          <p:cNvPr id="29" name="Text 27"/>
          <p:cNvSpPr txBox="1"/>
          <p:nvPr/>
        </p:nvSpPr>
        <p:spPr>
          <a:xfrm>
            <a:off x="640080" y="480060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Signal Handling</a:t>
            </a:r>
            <a:endParaRPr lang="en-US" sz="1500" dirty="0"/>
          </a:p>
        </p:txBody>
      </p:sp>
      <p:sp>
        <p:nvSpPr>
          <p:cNvPr id="30" name="Text 28"/>
          <p:cNvSpPr txBox="1"/>
          <p:nvPr/>
        </p:nvSpPr>
        <p:spPr>
          <a:xfrm>
            <a:off x="640080" y="512064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Install reliable handlers with sigaction(); dispatch via kill().</a:t>
            </a:r>
            <a:endParaRPr lang="en-US" sz="1300" dirty="0"/>
          </a:p>
        </p:txBody>
      </p:sp>
      <p:sp>
        <p:nvSpPr>
          <p:cNvPr id="31" name="Card"/>
          <p:cNvSpPr/>
          <p:nvPr/>
        </p:nvSpPr>
        <p:spPr>
          <a:xfrm>
            <a:off x="3291840" y="4023360"/>
            <a:ext cx="2679192" cy="2011680"/>
          </a:xfrm>
          <a:prstGeom prst="roundRect">
            <a:avLst>
              <a:gd name="adj" fmla="val 5455"/>
            </a:avLst>
          </a:prstGeom>
          <a:solidFill>
            <a:srgbClr val="0D1B2E"/>
          </a:solidFill>
          <a:ln w="12700">
            <a:solidFill>
              <a:srgbClr val="1E3A5F"/>
            </a:solidFill>
            <a:prstDash val="solid"/>
          </a:ln>
        </p:spPr>
      </p:sp>
      <p:sp>
        <p:nvSpPr>
          <p:cNvPr id="32" name="Shape 30"/>
          <p:cNvSpPr/>
          <p:nvPr/>
        </p:nvSpPr>
        <p:spPr>
          <a:xfrm>
            <a:off x="3474720" y="4206240"/>
            <a:ext cx="457200" cy="457200"/>
          </a:xfrm>
          <a:prstGeom prst="ellipse">
            <a:avLst/>
          </a:prstGeom>
          <a:solidFill>
            <a:srgbClr val="0F2A44"/>
          </a:solidFill>
          <a:ln w="12700">
            <a:solidFill>
              <a:srgbClr val="38BDF8"/>
            </a:solidFill>
            <a:prstDash val="solid"/>
          </a:ln>
        </p:spPr>
      </p:sp>
      <p:sp>
        <p:nvSpPr>
          <p:cNvPr id="33" name="Text 31"/>
          <p:cNvSpPr txBox="1"/>
          <p:nvPr/>
        </p:nvSpPr>
        <p:spPr>
          <a:xfrm>
            <a:off x="3474720" y="420624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6</a:t>
            </a:r>
            <a:endParaRPr lang="en-US" sz="1500" dirty="0"/>
          </a:p>
        </p:txBody>
      </p:sp>
      <p:sp>
        <p:nvSpPr>
          <p:cNvPr id="34" name="Text 32"/>
          <p:cNvSpPr txBox="1"/>
          <p:nvPr/>
        </p:nvSpPr>
        <p:spPr>
          <a:xfrm>
            <a:off x="3474720" y="480060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Memory Inspection</a:t>
            </a:r>
            <a:endParaRPr lang="en-US" sz="1500" dirty="0"/>
          </a:p>
        </p:txBody>
      </p:sp>
      <p:sp>
        <p:nvSpPr>
          <p:cNvPr id="35" name="Text 33"/>
          <p:cNvSpPr txBox="1"/>
          <p:nvPr/>
        </p:nvSpPr>
        <p:spPr>
          <a:xfrm>
            <a:off x="3474720" y="512064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Parse /proc/self/status and /proc/self/maps.</a:t>
            </a:r>
            <a:endParaRPr lang="en-US" sz="1300" dirty="0"/>
          </a:p>
        </p:txBody>
      </p:sp>
      <p:sp>
        <p:nvSpPr>
          <p:cNvPr id="36" name="Card"/>
          <p:cNvSpPr/>
          <p:nvPr/>
        </p:nvSpPr>
        <p:spPr>
          <a:xfrm>
            <a:off x="6126480" y="4023360"/>
            <a:ext cx="2679192" cy="2011680"/>
          </a:xfrm>
          <a:prstGeom prst="roundRect">
            <a:avLst>
              <a:gd name="adj" fmla="val 5455"/>
            </a:avLst>
          </a:prstGeom>
          <a:solidFill>
            <a:srgbClr val="0D1B2E"/>
          </a:solidFill>
          <a:ln w="12700">
            <a:solidFill>
              <a:srgbClr val="1E3A5F"/>
            </a:solidFill>
            <a:prstDash val="solid"/>
          </a:ln>
        </p:spPr>
      </p:sp>
      <p:sp>
        <p:nvSpPr>
          <p:cNvPr id="37" name="Shape 35"/>
          <p:cNvSpPr/>
          <p:nvPr/>
        </p:nvSpPr>
        <p:spPr>
          <a:xfrm>
            <a:off x="6309360" y="4206240"/>
            <a:ext cx="457200" cy="457200"/>
          </a:xfrm>
          <a:prstGeom prst="ellipse">
            <a:avLst/>
          </a:prstGeom>
          <a:solidFill>
            <a:srgbClr val="0F2A44"/>
          </a:solidFill>
          <a:ln w="12700">
            <a:solidFill>
              <a:srgbClr val="38BDF8"/>
            </a:solidFill>
            <a:prstDash val="solid"/>
          </a:ln>
        </p:spPr>
      </p:sp>
      <p:sp>
        <p:nvSpPr>
          <p:cNvPr id="38" name="Text 36"/>
          <p:cNvSpPr txBox="1"/>
          <p:nvPr/>
        </p:nvSpPr>
        <p:spPr>
          <a:xfrm>
            <a:off x="6309360" y="420624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7</a:t>
            </a:r>
            <a:endParaRPr lang="en-US" sz="1500" dirty="0"/>
          </a:p>
        </p:txBody>
      </p:sp>
      <p:sp>
        <p:nvSpPr>
          <p:cNvPr id="39" name="Text 37"/>
          <p:cNvSpPr txBox="1"/>
          <p:nvPr/>
        </p:nvSpPr>
        <p:spPr>
          <a:xfrm>
            <a:off x="6309360" y="480060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Concurrency Lab</a:t>
            </a:r>
            <a:endParaRPr lang="en-US" sz="1500" dirty="0"/>
          </a:p>
        </p:txBody>
      </p:sp>
      <p:sp>
        <p:nvSpPr>
          <p:cNvPr id="40" name="Text 38"/>
          <p:cNvSpPr txBox="1"/>
          <p:nvPr/>
        </p:nvSpPr>
        <p:spPr>
          <a:xfrm>
            <a:off x="6309360" y="512064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Spawn POSIX threads and prove mutual exclusion with mutexes.</a:t>
            </a:r>
            <a:endParaRPr lang="en-US" sz="1300" dirty="0"/>
          </a:p>
        </p:txBody>
      </p:sp>
      <p:sp>
        <p:nvSpPr>
          <p:cNvPr id="41" name="Card"/>
          <p:cNvSpPr/>
          <p:nvPr/>
        </p:nvSpPr>
        <p:spPr>
          <a:xfrm>
            <a:off x="8961120" y="4023360"/>
            <a:ext cx="2679192" cy="2011680"/>
          </a:xfrm>
          <a:prstGeom prst="roundRect">
            <a:avLst>
              <a:gd name="adj" fmla="val 5455"/>
            </a:avLst>
          </a:prstGeom>
          <a:solidFill>
            <a:srgbClr val="0D1B2E"/>
          </a:solidFill>
          <a:ln w="12700">
            <a:solidFill>
              <a:srgbClr val="1E3A5F"/>
            </a:solidFill>
            <a:prstDash val="solid"/>
          </a:ln>
        </p:spPr>
      </p:sp>
      <p:sp>
        <p:nvSpPr>
          <p:cNvPr id="42" name="Shape 40"/>
          <p:cNvSpPr/>
          <p:nvPr/>
        </p:nvSpPr>
        <p:spPr>
          <a:xfrm>
            <a:off x="9144000" y="4206240"/>
            <a:ext cx="457200" cy="457200"/>
          </a:xfrm>
          <a:prstGeom prst="ellipse">
            <a:avLst/>
          </a:prstGeom>
          <a:solidFill>
            <a:srgbClr val="0F2A44"/>
          </a:solidFill>
          <a:ln w="12700">
            <a:solidFill>
              <a:srgbClr val="38BDF8"/>
            </a:solidFill>
            <a:prstDash val="solid"/>
          </a:ln>
        </p:spPr>
      </p:sp>
      <p:sp>
        <p:nvSpPr>
          <p:cNvPr id="43" name="Text 41"/>
          <p:cNvSpPr txBox="1"/>
          <p:nvPr/>
        </p:nvSpPr>
        <p:spPr>
          <a:xfrm>
            <a:off x="9144000" y="420624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8</a:t>
            </a:r>
            <a:endParaRPr lang="en-US" sz="1500" dirty="0"/>
          </a:p>
        </p:txBody>
      </p:sp>
      <p:sp>
        <p:nvSpPr>
          <p:cNvPr id="44" name="Text 42"/>
          <p:cNvSpPr txBox="1"/>
          <p:nvPr/>
        </p:nvSpPr>
        <p:spPr>
          <a:xfrm>
            <a:off x="9144000" y="4800600"/>
            <a:ext cx="2331720" cy="2743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Modular C Engineering</a:t>
            </a:r>
            <a:endParaRPr lang="en-US" sz="1500" dirty="0"/>
          </a:p>
        </p:txBody>
      </p:sp>
      <p:sp>
        <p:nvSpPr>
          <p:cNvPr id="45" name="Text 43"/>
          <p:cNvSpPr txBox="1"/>
          <p:nvPr/>
        </p:nvSpPr>
        <p:spPr>
          <a:xfrm>
            <a:off x="9144000" y="5120640"/>
            <a:ext cx="2331720" cy="82296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Strict C99 standards with clean multi-file Makefiles.</a:t>
            </a:r>
            <a:endParaRPr lang="en-US" sz="1300" dirty="0"/>
          </a:p>
        </p:txBody>
      </p:sp>
      <p:sp>
        <p:nvSpPr>
          <p:cNvPr id="46"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ill"/>
          <p:cNvSpPr/>
          <p:nvPr/>
        </p:nvSpPr>
        <p:spPr>
          <a:xfrm>
            <a:off x="457200" y="274320"/>
            <a:ext cx="1890979"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TECHNOLOGY STACK</a:t>
            </a:r>
            <a:endParaRPr lang="en-US" sz="1100" dirty="0"/>
          </a:p>
        </p:txBody>
      </p:sp>
      <p:sp>
        <p:nvSpPr>
          <p:cNvPr id="3" name="Pill"/>
          <p:cNvSpPr/>
          <p:nvPr/>
        </p:nvSpPr>
        <p:spPr>
          <a:xfrm>
            <a:off x="9753905" y="274320"/>
            <a:ext cx="1980590"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Zero Dependencies</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Technology Stack &amp; Tools</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Strictly native POSIX and Linux interfaces — no external libraries</a:t>
            </a:r>
            <a:endParaRPr lang="en-US" sz="1400" dirty="0"/>
          </a:p>
        </p:txBody>
      </p:sp>
      <p:sp>
        <p:nvSpPr>
          <p:cNvPr id="6" name="Card"/>
          <p:cNvSpPr/>
          <p:nvPr/>
        </p:nvSpPr>
        <p:spPr>
          <a:xfrm>
            <a:off x="457200" y="1828800"/>
            <a:ext cx="5120640" cy="4297680"/>
          </a:xfrm>
          <a:prstGeom prst="roundRect">
            <a:avLst>
              <a:gd name="adj" fmla="val 2553"/>
            </a:avLst>
          </a:prstGeom>
          <a:solidFill>
            <a:srgbClr val="0D1B2E"/>
          </a:solidFill>
          <a:ln w="12700">
            <a:solidFill>
              <a:srgbClr val="1E3A5F"/>
            </a:solidFill>
            <a:prstDash val="solid"/>
          </a:ln>
        </p:spPr>
      </p:sp>
      <p:sp>
        <p:nvSpPr>
          <p:cNvPr id="7" name="Text 5"/>
          <p:cNvSpPr txBox="1"/>
          <p:nvPr/>
        </p:nvSpPr>
        <p:spPr>
          <a:xfrm>
            <a:off x="731520" y="2011680"/>
            <a:ext cx="4572000" cy="320040"/>
          </a:xfrm>
          <a:prstGeom prst="rect">
            <a:avLst/>
          </a:prstGeom>
          <a:noFill/>
          <a:ln/>
        </p:spPr>
        <p:txBody>
          <a:bodyPr wrap="square" lIns="0" tIns="0" rIns="0" bIns="0" rtlCol="0" anchor="t"/>
          <a:lstStyle/>
          <a:p>
            <a:pPr marL="0" indent="0">
              <a:buNone/>
            </a:pPr>
            <a:r>
              <a:rPr lang="en-US" sz="1700" b="1" dirty="0">
                <a:solidFill>
                  <a:srgbClr val="00E5FF"/>
                </a:solidFill>
                <a:latin typeface="Calibri" pitchFamily="34" charset="0"/>
                <a:ea typeface="Calibri" pitchFamily="34" charset="-122"/>
                <a:cs typeface="Calibri" pitchFamily="34" charset="-120"/>
              </a:rPr>
              <a:t>Core Environment</a:t>
            </a:r>
            <a:endParaRPr lang="en-US" sz="1700" dirty="0"/>
          </a:p>
        </p:txBody>
      </p:sp>
      <p:sp>
        <p:nvSpPr>
          <p:cNvPr id="8" name="Text 6"/>
          <p:cNvSpPr txBox="1"/>
          <p:nvPr/>
        </p:nvSpPr>
        <p:spPr>
          <a:xfrm>
            <a:off x="731520" y="2560320"/>
            <a:ext cx="448056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LANGUAGE</a:t>
            </a:r>
            <a:endParaRPr lang="en-US" sz="1100" dirty="0"/>
          </a:p>
        </p:txBody>
      </p:sp>
      <p:sp>
        <p:nvSpPr>
          <p:cNvPr id="9" name="Text 7"/>
          <p:cNvSpPr txBox="1"/>
          <p:nvPr/>
        </p:nvSpPr>
        <p:spPr>
          <a:xfrm>
            <a:off x="731520" y="2834640"/>
            <a:ext cx="4572000" cy="5029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C (ISO C99, _POSIX_C_SOURCE 200809L)</a:t>
            </a:r>
            <a:endParaRPr lang="en-US" sz="1500" dirty="0"/>
          </a:p>
        </p:txBody>
      </p:sp>
      <p:sp>
        <p:nvSpPr>
          <p:cNvPr id="10" name="Text 8"/>
          <p:cNvSpPr txBox="1"/>
          <p:nvPr/>
        </p:nvSpPr>
        <p:spPr>
          <a:xfrm>
            <a:off x="731520" y="3429000"/>
            <a:ext cx="448056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COMPILER</a:t>
            </a:r>
            <a:endParaRPr lang="en-US" sz="1100" dirty="0"/>
          </a:p>
        </p:txBody>
      </p:sp>
      <p:sp>
        <p:nvSpPr>
          <p:cNvPr id="11" name="Text 9"/>
          <p:cNvSpPr txBox="1"/>
          <p:nvPr/>
        </p:nvSpPr>
        <p:spPr>
          <a:xfrm>
            <a:off x="731520" y="3703320"/>
            <a:ext cx="4572000" cy="5029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GCC with -Wall -Wextra</a:t>
            </a:r>
            <a:endParaRPr lang="en-US" sz="1500" dirty="0"/>
          </a:p>
        </p:txBody>
      </p:sp>
      <p:sp>
        <p:nvSpPr>
          <p:cNvPr id="12" name="Text 10"/>
          <p:cNvSpPr txBox="1"/>
          <p:nvPr/>
        </p:nvSpPr>
        <p:spPr>
          <a:xfrm>
            <a:off x="731520" y="4297680"/>
            <a:ext cx="448056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PLATFORM</a:t>
            </a:r>
            <a:endParaRPr lang="en-US" sz="1100" dirty="0"/>
          </a:p>
        </p:txBody>
      </p:sp>
      <p:sp>
        <p:nvSpPr>
          <p:cNvPr id="13" name="Text 11"/>
          <p:cNvSpPr txBox="1"/>
          <p:nvPr/>
        </p:nvSpPr>
        <p:spPr>
          <a:xfrm>
            <a:off x="731520" y="4572000"/>
            <a:ext cx="4572000" cy="5029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Linux Kernel 6.x / POSIX UNIX / WSL2</a:t>
            </a:r>
            <a:endParaRPr lang="en-US" sz="1500" dirty="0"/>
          </a:p>
        </p:txBody>
      </p:sp>
      <p:sp>
        <p:nvSpPr>
          <p:cNvPr id="14" name="Text 12"/>
          <p:cNvSpPr txBox="1"/>
          <p:nvPr/>
        </p:nvSpPr>
        <p:spPr>
          <a:xfrm>
            <a:off x="731520" y="5166360"/>
            <a:ext cx="448056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BUILD</a:t>
            </a:r>
            <a:endParaRPr lang="en-US" sz="1100" dirty="0"/>
          </a:p>
        </p:txBody>
      </p:sp>
      <p:sp>
        <p:nvSpPr>
          <p:cNvPr id="15" name="Text 13"/>
          <p:cNvSpPr txBox="1"/>
          <p:nvPr/>
        </p:nvSpPr>
        <p:spPr>
          <a:xfrm>
            <a:off x="731520" y="5440680"/>
            <a:ext cx="4572000" cy="502920"/>
          </a:xfrm>
          <a:prstGeom prst="rect">
            <a:avLst/>
          </a:prstGeom>
          <a:noFill/>
          <a:ln/>
        </p:spPr>
        <p:txBody>
          <a:bodyPr wrap="square" lIns="0" tIns="0" rIns="0" bIns="0" rtlCol="0" anchor="t"/>
          <a:lstStyle/>
          <a:p>
            <a:pPr marL="0" indent="0">
              <a:buNone/>
            </a:pPr>
            <a:r>
              <a:rPr lang="en-US" sz="1500" b="1" dirty="0">
                <a:solidFill>
                  <a:srgbClr val="F8FAFC"/>
                </a:solidFill>
                <a:latin typeface="Calibri" pitchFamily="34" charset="0"/>
                <a:ea typeface="Calibri" pitchFamily="34" charset="-122"/>
                <a:cs typeface="Calibri" pitchFamily="34" charset="-120"/>
              </a:rPr>
              <a:t>GNU Make — modular dependency linking</a:t>
            </a:r>
            <a:endParaRPr lang="en-US" sz="1500" dirty="0"/>
          </a:p>
        </p:txBody>
      </p:sp>
      <p:sp>
        <p:nvSpPr>
          <p:cNvPr id="16" name="Card"/>
          <p:cNvSpPr/>
          <p:nvPr/>
        </p:nvSpPr>
        <p:spPr>
          <a:xfrm>
            <a:off x="5852160" y="1828800"/>
            <a:ext cx="5879592" cy="4297680"/>
          </a:xfrm>
          <a:prstGeom prst="roundRect">
            <a:avLst>
              <a:gd name="adj" fmla="val 2553"/>
            </a:avLst>
          </a:prstGeom>
          <a:solidFill>
            <a:srgbClr val="0D1B2E"/>
          </a:solidFill>
          <a:ln w="12700">
            <a:solidFill>
              <a:srgbClr val="1E3A5F"/>
            </a:solidFill>
            <a:prstDash val="solid"/>
          </a:ln>
        </p:spPr>
      </p:sp>
      <p:sp>
        <p:nvSpPr>
          <p:cNvPr id="17" name="Text 15"/>
          <p:cNvSpPr txBox="1"/>
          <p:nvPr/>
        </p:nvSpPr>
        <p:spPr>
          <a:xfrm>
            <a:off x="6126480" y="2011680"/>
            <a:ext cx="5303520" cy="320040"/>
          </a:xfrm>
          <a:prstGeom prst="rect">
            <a:avLst/>
          </a:prstGeom>
          <a:noFill/>
          <a:ln/>
        </p:spPr>
        <p:txBody>
          <a:bodyPr wrap="square" lIns="0" tIns="0" rIns="0" bIns="0" rtlCol="0" anchor="t"/>
          <a:lstStyle/>
          <a:p>
            <a:pPr marL="0" indent="0">
              <a:buNone/>
            </a:pPr>
            <a:r>
              <a:rPr lang="en-US" sz="1700" b="1" dirty="0">
                <a:solidFill>
                  <a:srgbClr val="00E5FF"/>
                </a:solidFill>
                <a:latin typeface="Calibri" pitchFamily="34" charset="0"/>
                <a:ea typeface="Calibri" pitchFamily="34" charset="-122"/>
                <a:cs typeface="Calibri" pitchFamily="34" charset="-120"/>
              </a:rPr>
              <a:t>Native POSIX / Linux APIs</a:t>
            </a:r>
            <a:endParaRPr lang="en-US" sz="1700" dirty="0"/>
          </a:p>
        </p:txBody>
      </p:sp>
      <p:sp>
        <p:nvSpPr>
          <p:cNvPr id="18" name="Text 16"/>
          <p:cNvSpPr txBox="1"/>
          <p:nvPr/>
        </p:nvSpPr>
        <p:spPr>
          <a:xfrm>
            <a:off x="6126480" y="2560320"/>
            <a:ext cx="530352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PROCESS</a:t>
            </a:r>
            <a:endParaRPr lang="en-US" sz="1100" dirty="0"/>
          </a:p>
        </p:txBody>
      </p:sp>
      <p:sp>
        <p:nvSpPr>
          <p:cNvPr id="19" name="Chip"/>
          <p:cNvSpPr/>
          <p:nvPr/>
        </p:nvSpPr>
        <p:spPr>
          <a:xfrm>
            <a:off x="6126480" y="2834640"/>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fork()</a:t>
            </a:r>
            <a:endParaRPr lang="en-US" sz="1200" dirty="0"/>
          </a:p>
        </p:txBody>
      </p:sp>
      <p:sp>
        <p:nvSpPr>
          <p:cNvPr id="20" name="Chip"/>
          <p:cNvSpPr/>
          <p:nvPr/>
        </p:nvSpPr>
        <p:spPr>
          <a:xfrm>
            <a:off x="6975043" y="2834640"/>
            <a:ext cx="918058"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execlp()</a:t>
            </a:r>
            <a:endParaRPr lang="en-US" sz="1200" dirty="0"/>
          </a:p>
        </p:txBody>
      </p:sp>
      <p:sp>
        <p:nvSpPr>
          <p:cNvPr id="21" name="Chip"/>
          <p:cNvSpPr/>
          <p:nvPr/>
        </p:nvSpPr>
        <p:spPr>
          <a:xfrm>
            <a:off x="7984541" y="2834640"/>
            <a:ext cx="998525"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waitpid()</a:t>
            </a:r>
            <a:endParaRPr lang="en-US" sz="1200" dirty="0"/>
          </a:p>
        </p:txBody>
      </p:sp>
      <p:sp>
        <p:nvSpPr>
          <p:cNvPr id="22" name="Chip"/>
          <p:cNvSpPr/>
          <p:nvPr/>
        </p:nvSpPr>
        <p:spPr>
          <a:xfrm>
            <a:off x="9074506" y="2834640"/>
            <a:ext cx="918058"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getpid()</a:t>
            </a:r>
            <a:endParaRPr lang="en-US" sz="1200" dirty="0"/>
          </a:p>
        </p:txBody>
      </p:sp>
      <p:sp>
        <p:nvSpPr>
          <p:cNvPr id="23" name="Chip"/>
          <p:cNvSpPr/>
          <p:nvPr/>
        </p:nvSpPr>
        <p:spPr>
          <a:xfrm>
            <a:off x="10084003" y="2834640"/>
            <a:ext cx="998525"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getppid()</a:t>
            </a:r>
            <a:endParaRPr lang="en-US" sz="1200" dirty="0"/>
          </a:p>
        </p:txBody>
      </p:sp>
      <p:sp>
        <p:nvSpPr>
          <p:cNvPr id="24" name="Text 22"/>
          <p:cNvSpPr txBox="1"/>
          <p:nvPr/>
        </p:nvSpPr>
        <p:spPr>
          <a:xfrm>
            <a:off x="6126480" y="3419856"/>
            <a:ext cx="530352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FILE SYSTEM</a:t>
            </a:r>
            <a:endParaRPr lang="en-US" sz="1100" dirty="0"/>
          </a:p>
        </p:txBody>
      </p:sp>
      <p:sp>
        <p:nvSpPr>
          <p:cNvPr id="25" name="Chip"/>
          <p:cNvSpPr/>
          <p:nvPr/>
        </p:nvSpPr>
        <p:spPr>
          <a:xfrm>
            <a:off x="6126480" y="3694176"/>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open()</a:t>
            </a:r>
            <a:endParaRPr lang="en-US" sz="1200" dirty="0"/>
          </a:p>
        </p:txBody>
      </p:sp>
      <p:sp>
        <p:nvSpPr>
          <p:cNvPr id="26" name="Chip"/>
          <p:cNvSpPr/>
          <p:nvPr/>
        </p:nvSpPr>
        <p:spPr>
          <a:xfrm>
            <a:off x="6975043" y="3694176"/>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read()</a:t>
            </a:r>
            <a:endParaRPr lang="en-US" sz="1200" dirty="0"/>
          </a:p>
        </p:txBody>
      </p:sp>
      <p:sp>
        <p:nvSpPr>
          <p:cNvPr id="27" name="Chip"/>
          <p:cNvSpPr/>
          <p:nvPr/>
        </p:nvSpPr>
        <p:spPr>
          <a:xfrm>
            <a:off x="7823606" y="3694176"/>
            <a:ext cx="837590"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close()</a:t>
            </a:r>
            <a:endParaRPr lang="en-US" sz="1200" dirty="0"/>
          </a:p>
        </p:txBody>
      </p:sp>
      <p:sp>
        <p:nvSpPr>
          <p:cNvPr id="28" name="Chip"/>
          <p:cNvSpPr/>
          <p:nvPr/>
        </p:nvSpPr>
        <p:spPr>
          <a:xfrm>
            <a:off x="8752637" y="3694176"/>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stat()</a:t>
            </a:r>
            <a:endParaRPr lang="en-US" sz="1200" dirty="0"/>
          </a:p>
        </p:txBody>
      </p:sp>
      <p:sp>
        <p:nvSpPr>
          <p:cNvPr id="29" name="Text 27"/>
          <p:cNvSpPr txBox="1"/>
          <p:nvPr/>
        </p:nvSpPr>
        <p:spPr>
          <a:xfrm>
            <a:off x="6126480" y="4279392"/>
            <a:ext cx="530352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IPC &amp; SIGNALS</a:t>
            </a:r>
            <a:endParaRPr lang="en-US" sz="1100" dirty="0"/>
          </a:p>
        </p:txBody>
      </p:sp>
      <p:sp>
        <p:nvSpPr>
          <p:cNvPr id="30" name="Chip"/>
          <p:cNvSpPr/>
          <p:nvPr/>
        </p:nvSpPr>
        <p:spPr>
          <a:xfrm>
            <a:off x="6126480" y="4553712"/>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pipe()</a:t>
            </a:r>
            <a:endParaRPr lang="en-US" sz="1200" dirty="0"/>
          </a:p>
        </p:txBody>
      </p:sp>
      <p:sp>
        <p:nvSpPr>
          <p:cNvPr id="31" name="Chip"/>
          <p:cNvSpPr/>
          <p:nvPr/>
        </p:nvSpPr>
        <p:spPr>
          <a:xfrm>
            <a:off x="6975043" y="4553712"/>
            <a:ext cx="1159459"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sigaction()</a:t>
            </a:r>
            <a:endParaRPr lang="en-US" sz="1200" dirty="0"/>
          </a:p>
        </p:txBody>
      </p:sp>
      <p:sp>
        <p:nvSpPr>
          <p:cNvPr id="32" name="Chip"/>
          <p:cNvSpPr/>
          <p:nvPr/>
        </p:nvSpPr>
        <p:spPr>
          <a:xfrm>
            <a:off x="8225942" y="4553712"/>
            <a:ext cx="757123"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kill()</a:t>
            </a:r>
            <a:endParaRPr lang="en-US" sz="1200" dirty="0"/>
          </a:p>
        </p:txBody>
      </p:sp>
      <p:sp>
        <p:nvSpPr>
          <p:cNvPr id="33" name="Text 31"/>
          <p:cNvSpPr txBox="1"/>
          <p:nvPr/>
        </p:nvSpPr>
        <p:spPr>
          <a:xfrm>
            <a:off x="6126480" y="5138928"/>
            <a:ext cx="530352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MEMORY &amp; PTHREADS</a:t>
            </a:r>
            <a:endParaRPr lang="en-US" sz="1100" dirty="0"/>
          </a:p>
        </p:txBody>
      </p:sp>
      <p:sp>
        <p:nvSpPr>
          <p:cNvPr id="34" name="Chip"/>
          <p:cNvSpPr/>
          <p:nvPr/>
        </p:nvSpPr>
        <p:spPr>
          <a:xfrm>
            <a:off x="6126480" y="5413248"/>
            <a:ext cx="676656"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/proc</a:t>
            </a:r>
            <a:endParaRPr lang="en-US" sz="1200" dirty="0"/>
          </a:p>
        </p:txBody>
      </p:sp>
      <p:sp>
        <p:nvSpPr>
          <p:cNvPr id="35" name="Chip"/>
          <p:cNvSpPr/>
          <p:nvPr/>
        </p:nvSpPr>
        <p:spPr>
          <a:xfrm>
            <a:off x="6894576" y="5413248"/>
            <a:ext cx="998525"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sysconf()</a:t>
            </a:r>
            <a:endParaRPr lang="en-US" sz="1200" dirty="0"/>
          </a:p>
        </p:txBody>
      </p:sp>
      <p:sp>
        <p:nvSpPr>
          <p:cNvPr id="36" name="Chip"/>
          <p:cNvSpPr/>
          <p:nvPr/>
        </p:nvSpPr>
        <p:spPr>
          <a:xfrm>
            <a:off x="7984541" y="5413248"/>
            <a:ext cx="1561795"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pthread_create()</a:t>
            </a:r>
            <a:endParaRPr lang="en-US" sz="1200" dirty="0"/>
          </a:p>
        </p:txBody>
      </p:sp>
      <p:sp>
        <p:nvSpPr>
          <p:cNvPr id="37" name="Chip"/>
          <p:cNvSpPr/>
          <p:nvPr/>
        </p:nvSpPr>
        <p:spPr>
          <a:xfrm>
            <a:off x="9637776" y="5413248"/>
            <a:ext cx="1481328" cy="329184"/>
          </a:xfrm>
          <a:prstGeom prst="roundRect">
            <a:avLst>
              <a:gd name="adj" fmla="val 19444"/>
            </a:avLst>
          </a:prstGeom>
          <a:solidFill>
            <a:srgbClr val="0F2A44"/>
          </a:solidFill>
          <a:ln w="12700">
            <a:solidFill>
              <a:srgbClr val="1E3A5F"/>
            </a:solidFill>
          </a:ln>
        </p:spPr>
        <p:txBody>
          <a:bodyPr wrap="square" lIns="0" tIns="0" rIns="0" bIns="0"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pthread_mutex_t</a:t>
            </a:r>
            <a:endParaRPr lang="en-US" sz="1200" dirty="0"/>
          </a:p>
        </p:txBody>
      </p:sp>
      <p:sp>
        <p:nvSpPr>
          <p:cNvPr id="38"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ill"/>
          <p:cNvSpPr/>
          <p:nvPr/>
        </p:nvSpPr>
        <p:spPr>
          <a:xfrm>
            <a:off x="457200" y="274320"/>
            <a:ext cx="1622146"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SYSTEM DESIGN</a:t>
            </a:r>
            <a:endParaRPr lang="en-US" sz="1100" dirty="0"/>
          </a:p>
        </p:txBody>
      </p:sp>
      <p:sp>
        <p:nvSpPr>
          <p:cNvPr id="3" name="Pill"/>
          <p:cNvSpPr/>
          <p:nvPr/>
        </p:nvSpPr>
        <p:spPr>
          <a:xfrm>
            <a:off x="9485071" y="274320"/>
            <a:ext cx="2249424"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Modular Architecture</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System Architecture</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Layered flow from user input down to the Linux kernel and back to observable output</a:t>
            </a:r>
            <a:endParaRPr lang="en-US" sz="1400" dirty="0"/>
          </a:p>
        </p:txBody>
      </p:sp>
      <p:sp>
        <p:nvSpPr>
          <p:cNvPr id="6" name="Layer"/>
          <p:cNvSpPr/>
          <p:nvPr/>
        </p:nvSpPr>
        <p:spPr>
          <a:xfrm>
            <a:off x="457200" y="1828800"/>
            <a:ext cx="7223760" cy="457200"/>
          </a:xfrm>
          <a:prstGeom prst="roundRect">
            <a:avLst>
              <a:gd name="adj" fmla="val 20000"/>
            </a:avLst>
          </a:prstGeom>
          <a:solidFill>
            <a:srgbClr val="0D1B2E"/>
          </a:solidFill>
          <a:ln w="12700">
            <a:solidFill>
              <a:srgbClr val="38BDF8"/>
            </a:solidFill>
          </a:ln>
        </p:spPr>
        <p:txBody>
          <a:bodyPr wrap="square" lIns="635" tIns="635" rIns="635" bIns="635" rtlCol="0" anchor="ctr"/>
          <a:lstStyle/>
          <a:p>
            <a:pPr marL="0" indent="0" algn="ctr">
              <a:buNone/>
            </a:pPr>
            <a:r>
              <a:rPr lang="en-US" sz="1400" b="1" dirty="0">
                <a:solidFill>
                  <a:srgbClr val="00E5FF"/>
                </a:solidFill>
                <a:latin typeface="Calibri" pitchFamily="34" charset="0"/>
                <a:ea typeface="Calibri" pitchFamily="34" charset="-122"/>
                <a:cs typeface="Calibri" pitchFamily="34" charset="-120"/>
              </a:rPr>
              <a:t>User Input / CLI REPL</a:t>
            </a:r>
            <a:endParaRPr lang="en-US" sz="1400" dirty="0"/>
          </a:p>
        </p:txBody>
      </p:sp>
      <p:sp>
        <p:nvSpPr>
          <p:cNvPr id="7" name="Text 5"/>
          <p:cNvSpPr txBox="1"/>
          <p:nvPr/>
        </p:nvSpPr>
        <p:spPr>
          <a:xfrm>
            <a:off x="457200" y="2304288"/>
            <a:ext cx="7223760" cy="201168"/>
          </a:xfrm>
          <a:prstGeom prst="rect">
            <a:avLst/>
          </a:prstGeom>
          <a:noFill/>
          <a:ln/>
        </p:spPr>
        <p:txBody>
          <a:bodyPr wrap="square" lIns="0" tIns="0" rIns="0" bIns="0" rtlCol="0" anchor="ctr"/>
          <a:lstStyle/>
          <a:p>
            <a:pPr marL="0" indent="0" algn="ctr">
              <a:buNone/>
            </a:pPr>
            <a:r>
              <a:rPr lang="en-US" sz="1000" dirty="0">
                <a:solidFill>
                  <a:srgbClr val="38BDF8"/>
                </a:solidFill>
                <a:latin typeface="Calibri" pitchFamily="34" charset="0"/>
                <a:ea typeface="Calibri" pitchFamily="34" charset="-122"/>
                <a:cs typeface="Calibri" pitchFamily="34" charset="-120"/>
              </a:rPr>
              <a:t>▼</a:t>
            </a:r>
            <a:endParaRPr lang="en-US" sz="1000" dirty="0"/>
          </a:p>
        </p:txBody>
      </p:sp>
      <p:sp>
        <p:nvSpPr>
          <p:cNvPr id="8" name="Layer"/>
          <p:cNvSpPr/>
          <p:nvPr/>
        </p:nvSpPr>
        <p:spPr>
          <a:xfrm>
            <a:off x="457200" y="2542032"/>
            <a:ext cx="7223760" cy="457200"/>
          </a:xfrm>
          <a:prstGeom prst="roundRect">
            <a:avLst>
              <a:gd name="adj" fmla="val 20000"/>
            </a:avLst>
          </a:prstGeom>
          <a:solidFill>
            <a:srgbClr val="112641"/>
          </a:solidFill>
          <a:ln w="12700">
            <a:solidFill>
              <a:srgbClr val="38BDF8"/>
            </a:solidFill>
          </a:ln>
        </p:spPr>
        <p:txBody>
          <a:bodyPr wrap="square" lIns="635" tIns="635" rIns="635" bIns="635"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main.c — Command Interpreter &amp; Dispatcher</a:t>
            </a:r>
            <a:endParaRPr lang="en-US" sz="1400" dirty="0"/>
          </a:p>
        </p:txBody>
      </p:sp>
      <p:sp>
        <p:nvSpPr>
          <p:cNvPr id="9" name="Text 7"/>
          <p:cNvSpPr txBox="1"/>
          <p:nvPr/>
        </p:nvSpPr>
        <p:spPr>
          <a:xfrm>
            <a:off x="457200" y="3017520"/>
            <a:ext cx="7223760" cy="201168"/>
          </a:xfrm>
          <a:prstGeom prst="rect">
            <a:avLst/>
          </a:prstGeom>
          <a:noFill/>
          <a:ln/>
        </p:spPr>
        <p:txBody>
          <a:bodyPr wrap="square" lIns="0" tIns="0" rIns="0" bIns="0" rtlCol="0" anchor="ctr"/>
          <a:lstStyle/>
          <a:p>
            <a:pPr marL="0" indent="0" algn="ctr">
              <a:buNone/>
            </a:pPr>
            <a:r>
              <a:rPr lang="en-US" sz="1000" dirty="0">
                <a:solidFill>
                  <a:srgbClr val="38BDF8"/>
                </a:solidFill>
                <a:latin typeface="Calibri" pitchFamily="34" charset="0"/>
                <a:ea typeface="Calibri" pitchFamily="34" charset="-122"/>
                <a:cs typeface="Calibri" pitchFamily="34" charset="-120"/>
              </a:rPr>
              <a:t>▼</a:t>
            </a:r>
            <a:endParaRPr lang="en-US" sz="1000" dirty="0"/>
          </a:p>
        </p:txBody>
      </p:sp>
      <p:sp>
        <p:nvSpPr>
          <p:cNvPr id="10" name="Layer"/>
          <p:cNvSpPr/>
          <p:nvPr/>
        </p:nvSpPr>
        <p:spPr>
          <a:xfrm>
            <a:off x="457200" y="325526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system_info.c / .h</a:t>
            </a:r>
            <a:endParaRPr lang="en-US" sz="1200" dirty="0"/>
          </a:p>
        </p:txBody>
      </p:sp>
      <p:sp>
        <p:nvSpPr>
          <p:cNvPr id="11" name="Layer"/>
          <p:cNvSpPr/>
          <p:nvPr/>
        </p:nvSpPr>
        <p:spPr>
          <a:xfrm>
            <a:off x="2926080" y="325526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process_manager.c / .h</a:t>
            </a:r>
            <a:endParaRPr lang="en-US" sz="1200" dirty="0"/>
          </a:p>
        </p:txBody>
      </p:sp>
      <p:sp>
        <p:nvSpPr>
          <p:cNvPr id="12" name="Layer"/>
          <p:cNvSpPr/>
          <p:nvPr/>
        </p:nvSpPr>
        <p:spPr>
          <a:xfrm>
            <a:off x="5394960" y="325526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file_system.c / .h</a:t>
            </a:r>
            <a:endParaRPr lang="en-US" sz="1200" dirty="0"/>
          </a:p>
        </p:txBody>
      </p:sp>
      <p:sp>
        <p:nvSpPr>
          <p:cNvPr id="13" name="Layer"/>
          <p:cNvSpPr/>
          <p:nvPr/>
        </p:nvSpPr>
        <p:spPr>
          <a:xfrm>
            <a:off x="457200" y="380390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ipc.c / .h</a:t>
            </a:r>
            <a:endParaRPr lang="en-US" sz="1200" dirty="0"/>
          </a:p>
        </p:txBody>
      </p:sp>
      <p:sp>
        <p:nvSpPr>
          <p:cNvPr id="14" name="Layer"/>
          <p:cNvSpPr/>
          <p:nvPr/>
        </p:nvSpPr>
        <p:spPr>
          <a:xfrm>
            <a:off x="2926080" y="380390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memory.c / .h</a:t>
            </a:r>
            <a:endParaRPr lang="en-US" sz="1200" dirty="0"/>
          </a:p>
        </p:txBody>
      </p:sp>
      <p:sp>
        <p:nvSpPr>
          <p:cNvPr id="15" name="Layer"/>
          <p:cNvSpPr/>
          <p:nvPr/>
        </p:nvSpPr>
        <p:spPr>
          <a:xfrm>
            <a:off x="5394960" y="3803904"/>
            <a:ext cx="2286000" cy="457200"/>
          </a:xfrm>
          <a:prstGeom prst="roundRect">
            <a:avLst>
              <a:gd name="adj" fmla="val 20000"/>
            </a:avLst>
          </a:prstGeom>
          <a:solidFill>
            <a:srgbClr val="0D1B2E"/>
          </a:solidFill>
          <a:ln w="12700">
            <a:solidFill>
              <a:srgbClr val="1E3A5F"/>
            </a:solidFill>
          </a:ln>
        </p:spPr>
        <p:txBody>
          <a:bodyPr wrap="square" lIns="635" tIns="635" rIns="635" bIns="635" rtlCol="0" anchor="ctr"/>
          <a:lstStyle/>
          <a:p>
            <a:pPr marL="0" indent="0" algn="ctr">
              <a:buNone/>
            </a:pPr>
            <a:r>
              <a:rPr lang="en-US" sz="1200" dirty="0">
                <a:solidFill>
                  <a:srgbClr val="00E5FF"/>
                </a:solidFill>
                <a:latin typeface="Consolas" pitchFamily="34" charset="0"/>
                <a:ea typeface="Consolas" pitchFamily="34" charset="-122"/>
                <a:cs typeface="Consolas" pitchFamily="34" charset="-120"/>
              </a:rPr>
              <a:t>concurrency.c / .h</a:t>
            </a:r>
            <a:endParaRPr lang="en-US" sz="1200" dirty="0"/>
          </a:p>
        </p:txBody>
      </p:sp>
      <p:sp>
        <p:nvSpPr>
          <p:cNvPr id="16" name="Text 14"/>
          <p:cNvSpPr txBox="1"/>
          <p:nvPr/>
        </p:nvSpPr>
        <p:spPr>
          <a:xfrm>
            <a:off x="457200" y="4370832"/>
            <a:ext cx="7223760" cy="201168"/>
          </a:xfrm>
          <a:prstGeom prst="rect">
            <a:avLst/>
          </a:prstGeom>
          <a:noFill/>
          <a:ln/>
        </p:spPr>
        <p:txBody>
          <a:bodyPr wrap="square" lIns="0" tIns="0" rIns="0" bIns="0" rtlCol="0" anchor="ctr"/>
          <a:lstStyle/>
          <a:p>
            <a:pPr marL="0" indent="0" algn="ctr">
              <a:buNone/>
            </a:pPr>
            <a:r>
              <a:rPr lang="en-US" sz="1000" dirty="0">
                <a:solidFill>
                  <a:srgbClr val="38BDF8"/>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457200" y="4608576"/>
            <a:ext cx="7223760" cy="685800"/>
          </a:xfrm>
          <a:prstGeom prst="roundRect">
            <a:avLst>
              <a:gd name="adj" fmla="val 13333"/>
            </a:avLst>
          </a:prstGeom>
          <a:solidFill>
            <a:srgbClr val="0F2A44"/>
          </a:solidFill>
          <a:ln w="12700">
            <a:solidFill>
              <a:srgbClr val="38BDF8"/>
            </a:solidFill>
          </a:ln>
        </p:spPr>
        <p:txBody>
          <a:bodyPr wrap="square" lIns="635" tIns="635" rIns="635" bIns="635" rtlCol="0" anchor="ctr"/>
          <a:lstStyle/>
          <a:p>
            <a:pPr marL="0" indent="0" algn="ctr">
              <a:buNone/>
            </a:pPr>
            <a:r>
              <a:rPr lang="en-US" sz="1400" b="1" dirty="0">
                <a:solidFill>
                  <a:srgbClr val="F8FAFC"/>
                </a:solidFill>
                <a:latin typeface="Calibri" pitchFamily="34" charset="0"/>
                <a:ea typeface="Calibri" pitchFamily="34" charset="-122"/>
                <a:cs typeface="Calibri" pitchFamily="34" charset="-120"/>
              </a:rPr>
              <a:t>Linux Kernel Space &amp; POSIX Interfaces</a:t>
            </a:r>
            <a:endParaRPr lang="en-US" sz="1400" dirty="0"/>
          </a:p>
          <a:p>
            <a:pPr marL="0" indent="0" algn="ctr">
              <a:buNone/>
            </a:pPr>
            <a:r>
              <a:rPr lang="en-US" sz="1200" dirty="0">
                <a:solidFill>
                  <a:srgbClr val="94A3B8"/>
                </a:solidFill>
                <a:latin typeface="Calibri" pitchFamily="34" charset="0"/>
                <a:ea typeface="Calibri" pitchFamily="34" charset="-122"/>
                <a:cs typeface="Calibri" pitchFamily="34" charset="-120"/>
              </a:rPr>
              <a:t>Process Table • VFS • Page Tables • Pipe Buffers • Pthreads</a:t>
            </a:r>
            <a:endParaRPr lang="en-US" sz="1400" dirty="0"/>
          </a:p>
        </p:txBody>
      </p:sp>
      <p:sp>
        <p:nvSpPr>
          <p:cNvPr id="18" name="Text 16"/>
          <p:cNvSpPr txBox="1"/>
          <p:nvPr/>
        </p:nvSpPr>
        <p:spPr>
          <a:xfrm>
            <a:off x="457200" y="5321808"/>
            <a:ext cx="7223760" cy="201168"/>
          </a:xfrm>
          <a:prstGeom prst="rect">
            <a:avLst/>
          </a:prstGeom>
          <a:noFill/>
          <a:ln/>
        </p:spPr>
        <p:txBody>
          <a:bodyPr wrap="square" lIns="0" tIns="0" rIns="0" bIns="0" rtlCol="0" anchor="ctr"/>
          <a:lstStyle/>
          <a:p>
            <a:pPr marL="0" indent="0" algn="ctr">
              <a:buNone/>
            </a:pPr>
            <a:r>
              <a:rPr lang="en-US" sz="1000" dirty="0">
                <a:solidFill>
                  <a:srgbClr val="38BDF8"/>
                </a:solidFill>
                <a:latin typeface="Calibri" pitchFamily="34" charset="0"/>
                <a:ea typeface="Calibri" pitchFamily="34" charset="-122"/>
                <a:cs typeface="Calibri" pitchFamily="34" charset="-120"/>
              </a:rPr>
              <a:t>▼</a:t>
            </a:r>
            <a:endParaRPr lang="en-US" sz="1000" dirty="0"/>
          </a:p>
        </p:txBody>
      </p:sp>
      <p:sp>
        <p:nvSpPr>
          <p:cNvPr id="19" name="Layer"/>
          <p:cNvSpPr/>
          <p:nvPr/>
        </p:nvSpPr>
        <p:spPr>
          <a:xfrm>
            <a:off x="457200" y="5559552"/>
            <a:ext cx="7223760" cy="457200"/>
          </a:xfrm>
          <a:prstGeom prst="roundRect">
            <a:avLst>
              <a:gd name="adj" fmla="val 20000"/>
            </a:avLst>
          </a:prstGeom>
          <a:solidFill>
            <a:srgbClr val="0F2A26"/>
          </a:solidFill>
          <a:ln w="12700">
            <a:solidFill>
              <a:srgbClr val="1F6B4A"/>
            </a:solidFill>
          </a:ln>
        </p:spPr>
        <p:txBody>
          <a:bodyPr wrap="square" lIns="635" tIns="635" rIns="635" bIns="635" rtlCol="0" anchor="ctr"/>
          <a:lstStyle/>
          <a:p>
            <a:pPr marL="0" indent="0" algn="ctr">
              <a:buNone/>
            </a:pPr>
            <a:r>
              <a:rPr lang="en-US" sz="1400" b="1" dirty="0">
                <a:solidFill>
                  <a:srgbClr val="4ADE80"/>
                </a:solidFill>
                <a:latin typeface="Calibri" pitchFamily="34" charset="0"/>
                <a:ea typeface="Calibri" pitchFamily="34" charset="-122"/>
                <a:cs typeface="Calibri" pitchFamily="34" charset="-120"/>
              </a:rPr>
              <a:t>Observable Output &amp; [INTERNAL WORKING] Traces</a:t>
            </a:r>
            <a:endParaRPr lang="en-US" sz="1400" dirty="0"/>
          </a:p>
        </p:txBody>
      </p:sp>
      <p:sp>
        <p:nvSpPr>
          <p:cNvPr id="20" name="Card"/>
          <p:cNvSpPr/>
          <p:nvPr/>
        </p:nvSpPr>
        <p:spPr>
          <a:xfrm>
            <a:off x="7955280" y="1828800"/>
            <a:ext cx="3776472" cy="4187952"/>
          </a:xfrm>
          <a:prstGeom prst="roundRect">
            <a:avLst>
              <a:gd name="adj" fmla="val 2906"/>
            </a:avLst>
          </a:prstGeom>
          <a:solidFill>
            <a:srgbClr val="0D1B2E"/>
          </a:solidFill>
          <a:ln w="12700">
            <a:solidFill>
              <a:srgbClr val="1E3A5F"/>
            </a:solidFill>
            <a:prstDash val="solid"/>
          </a:ln>
        </p:spPr>
      </p:sp>
      <p:sp>
        <p:nvSpPr>
          <p:cNvPr id="21" name="IconCircle"/>
          <p:cNvSpPr/>
          <p:nvPr/>
        </p:nvSpPr>
        <p:spPr>
          <a:xfrm>
            <a:off x="8229600" y="2011680"/>
            <a:ext cx="457200" cy="457200"/>
          </a:xfrm>
          <a:prstGeom prst="ellipse">
            <a:avLst/>
          </a:prstGeom>
          <a:solidFill>
            <a:srgbClr val="0F2A44"/>
          </a:solidFill>
          <a:ln w="12700">
            <a:solidFill>
              <a:srgbClr val="1E3A5F"/>
            </a:solidFill>
            <a:prstDash val="solid"/>
          </a:ln>
        </p:spPr>
      </p:sp>
      <p:pic>
        <p:nvPicPr>
          <p:cNvPr id="22" name="Image 0" descr="FaProjectDiagram"/>
          <p:cNvPicPr>
            <a:picLocks noChangeAspect="1"/>
          </p:cNvPicPr>
          <p:nvPr/>
        </p:nvPicPr>
        <p:blipFill>
          <a:blip r:embed="rId3"/>
          <a:stretch>
            <a:fillRect/>
          </a:stretch>
        </p:blipFill>
        <p:spPr>
          <a:xfrm>
            <a:off x="8353044" y="2135124"/>
            <a:ext cx="210312" cy="210312"/>
          </a:xfrm>
          <a:prstGeom prst="rect">
            <a:avLst/>
          </a:prstGeom>
        </p:spPr>
      </p:pic>
      <p:sp>
        <p:nvSpPr>
          <p:cNvPr id="23" name="Text 20"/>
          <p:cNvSpPr txBox="1"/>
          <p:nvPr/>
        </p:nvSpPr>
        <p:spPr>
          <a:xfrm>
            <a:off x="8869680" y="2011680"/>
            <a:ext cx="2743200" cy="457200"/>
          </a:xfrm>
          <a:prstGeom prst="rect">
            <a:avLst/>
          </a:prstGeom>
          <a:noFill/>
          <a:ln/>
        </p:spPr>
        <p:txBody>
          <a:bodyPr wrap="square" lIns="0" tIns="0" rIns="0" bIns="0" rtlCol="0" anchor="ctr"/>
          <a:lstStyle/>
          <a:p>
            <a:pPr marL="0" indent="0">
              <a:buNone/>
            </a:pPr>
            <a:r>
              <a:rPr lang="en-US" sz="1600" b="1" dirty="0">
                <a:solidFill>
                  <a:srgbClr val="00E5FF"/>
                </a:solidFill>
                <a:latin typeface="Calibri" pitchFamily="34" charset="0"/>
                <a:ea typeface="Calibri" pitchFamily="34" charset="-122"/>
                <a:cs typeface="Calibri" pitchFamily="34" charset="-120"/>
              </a:rPr>
              <a:t>Separation of Concerns</a:t>
            </a:r>
            <a:endParaRPr lang="en-US" sz="1600" dirty="0"/>
          </a:p>
        </p:txBody>
      </p:sp>
      <p:sp>
        <p:nvSpPr>
          <p:cNvPr id="24" name="Text 21"/>
          <p:cNvSpPr txBox="1"/>
          <p:nvPr/>
        </p:nvSpPr>
        <p:spPr>
          <a:xfrm>
            <a:off x="8229600" y="2743200"/>
            <a:ext cx="3291840" cy="3108960"/>
          </a:xfrm>
          <a:prstGeom prst="rect">
            <a:avLst/>
          </a:prstGeom>
          <a:noFill/>
          <a:ln/>
        </p:spPr>
        <p:txBody>
          <a:bodyPr wrap="square" lIns="0" tIns="0" rIns="0" bIns="0" rtlCol="0" anchor="t"/>
          <a:lstStyle/>
          <a:p>
            <a:pPr marL="203200" indent="-203200">
              <a:spcAft>
                <a:spcPts val="1000"/>
              </a:spcAft>
              <a:buSzPct val="100000"/>
              <a:buChar char="•"/>
            </a:pPr>
            <a:r>
              <a:rPr lang="en-US" sz="1400" b="1" dirty="0">
                <a:solidFill>
                  <a:srgbClr val="F8FAFC"/>
                </a:solidFill>
                <a:latin typeface="Calibri" pitchFamily="34" charset="0"/>
                <a:ea typeface="Calibri" pitchFamily="34" charset="-122"/>
                <a:cs typeface="Calibri" pitchFamily="34" charset="-120"/>
              </a:rPr>
              <a:t>main.c </a:t>
            </a:r>
            <a:r>
              <a:rPr lang="en-US" sz="1400" dirty="0">
                <a:solidFill>
                  <a:srgbClr val="CBD5E1"/>
                </a:solidFill>
                <a:latin typeface="Calibri" pitchFamily="34" charset="0"/>
                <a:ea typeface="Calibri" pitchFamily="34" charset="-122"/>
                <a:cs typeface="Calibri" pitchFamily="34" charset="-120"/>
              </a:rPr>
              <a:t>routes each command to a subsystem.</a:t>
            </a:r>
            <a:endParaRPr lang="en-US" sz="1400" dirty="0"/>
          </a:p>
          <a:p>
            <a:pPr marL="203200" indent="-203200">
              <a:spcAft>
                <a:spcPts val="1000"/>
              </a:spcAft>
              <a:buSzPct val="100000"/>
              <a:buChar char="•"/>
            </a:pPr>
            <a:r>
              <a:rPr lang="en-US" sz="1400" b="1" dirty="0">
                <a:solidFill>
                  <a:srgbClr val="F8FAFC"/>
                </a:solidFill>
                <a:latin typeface="Calibri" pitchFamily="34" charset="0"/>
                <a:ea typeface="Calibri" pitchFamily="34" charset="-122"/>
                <a:cs typeface="Calibri" pitchFamily="34" charset="-120"/>
              </a:rPr>
              <a:t>.c files </a:t>
            </a:r>
            <a:r>
              <a:rPr lang="en-US" sz="1400" dirty="0">
                <a:solidFill>
                  <a:srgbClr val="CBD5E1"/>
                </a:solidFill>
                <a:latin typeface="Calibri" pitchFamily="34" charset="0"/>
                <a:ea typeface="Calibri" pitchFamily="34" charset="-122"/>
                <a:cs typeface="Calibri" pitchFamily="34" charset="-120"/>
              </a:rPr>
              <a:t>hold the implementation logic.</a:t>
            </a:r>
            <a:endParaRPr lang="en-US" sz="1400" dirty="0"/>
          </a:p>
          <a:p>
            <a:pPr marL="203200" indent="-203200">
              <a:spcAft>
                <a:spcPts val="1000"/>
              </a:spcAft>
              <a:buSzPct val="100000"/>
              <a:buChar char="•"/>
            </a:pPr>
            <a:r>
              <a:rPr lang="en-US" sz="1400" b="1" dirty="0">
                <a:solidFill>
                  <a:srgbClr val="F8FAFC"/>
                </a:solidFill>
                <a:latin typeface="Calibri" pitchFamily="34" charset="0"/>
                <a:ea typeface="Calibri" pitchFamily="34" charset="-122"/>
                <a:cs typeface="Calibri" pitchFamily="34" charset="-120"/>
              </a:rPr>
              <a:t>.h files </a:t>
            </a:r>
            <a:r>
              <a:rPr lang="en-US" sz="1400" dirty="0">
                <a:solidFill>
                  <a:srgbClr val="CBD5E1"/>
                </a:solidFill>
                <a:latin typeface="Calibri" pitchFamily="34" charset="0"/>
                <a:ea typeface="Calibri" pitchFamily="34" charset="-122"/>
                <a:cs typeface="Calibri" pitchFamily="34" charset="-120"/>
              </a:rPr>
              <a:t>declare clean module interfaces.</a:t>
            </a:r>
            <a:endParaRPr lang="en-US" sz="1400" dirty="0"/>
          </a:p>
          <a:p>
            <a:pPr marL="203200" indent="-203200">
              <a:spcAft>
                <a:spcPts val="1000"/>
              </a:spcAft>
              <a:buSzPct val="100000"/>
              <a:buChar char="•"/>
            </a:pPr>
            <a:r>
              <a:rPr lang="en-US" sz="1400" b="1" dirty="0">
                <a:solidFill>
                  <a:srgbClr val="F8FAFC"/>
                </a:solidFill>
                <a:latin typeface="Calibri" pitchFamily="34" charset="0"/>
                <a:ea typeface="Calibri" pitchFamily="34" charset="-122"/>
                <a:cs typeface="Calibri" pitchFamily="34" charset="-120"/>
              </a:rPr>
              <a:t>Each module </a:t>
            </a:r>
            <a:r>
              <a:rPr lang="en-US" sz="1400" dirty="0">
                <a:solidFill>
                  <a:srgbClr val="CBD5E1"/>
                </a:solidFill>
                <a:latin typeface="Calibri" pitchFamily="34" charset="0"/>
                <a:ea typeface="Calibri" pitchFamily="34" charset="-122"/>
                <a:cs typeface="Calibri" pitchFamily="34" charset="-120"/>
              </a:rPr>
              <a:t>returns output plus internal trace.</a:t>
            </a:r>
            <a:endParaRPr lang="en-US" sz="1400" dirty="0"/>
          </a:p>
        </p:txBody>
      </p:sp>
      <p:sp>
        <p:nvSpPr>
          <p:cNvPr id="25"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ill"/>
          <p:cNvSpPr/>
          <p:nvPr/>
        </p:nvSpPr>
        <p:spPr>
          <a:xfrm>
            <a:off x="457200" y="274320"/>
            <a:ext cx="1532534"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COMMAND LINE</a:t>
            </a:r>
            <a:endParaRPr lang="en-US" sz="1100" dirty="0"/>
          </a:p>
        </p:txBody>
      </p:sp>
      <p:sp>
        <p:nvSpPr>
          <p:cNvPr id="3" name="Pill"/>
          <p:cNvSpPr/>
          <p:nvPr/>
        </p:nvSpPr>
        <p:spPr>
          <a:xfrm>
            <a:off x="9843516" y="274320"/>
            <a:ext cx="1890979"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Interactive REPL</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Command-Line Interface</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Users type a command; the dispatcher invokes the matching C function and prints telemetry</a:t>
            </a:r>
            <a:endParaRPr lang="en-US" sz="1400" dirty="0"/>
          </a:p>
        </p:txBody>
      </p:sp>
      <p:sp>
        <p:nvSpPr>
          <p:cNvPr id="6" name="Terminal"/>
          <p:cNvSpPr/>
          <p:nvPr/>
        </p:nvSpPr>
        <p:spPr>
          <a:xfrm>
            <a:off x="457200" y="1828800"/>
            <a:ext cx="11274552" cy="4297680"/>
          </a:xfrm>
          <a:prstGeom prst="roundRect">
            <a:avLst>
              <a:gd name="adj" fmla="val 3191"/>
            </a:avLst>
          </a:prstGeom>
          <a:solidFill>
            <a:srgbClr val="0D1B2E"/>
          </a:solidFill>
          <a:ln w="12700">
            <a:solidFill>
              <a:srgbClr val="1E3A5F"/>
            </a:solidFill>
            <a:prstDash val="solid"/>
          </a:ln>
        </p:spPr>
      </p:sp>
      <p:sp>
        <p:nvSpPr>
          <p:cNvPr id="7" name="Shape 5"/>
          <p:cNvSpPr/>
          <p:nvPr/>
        </p:nvSpPr>
        <p:spPr>
          <a:xfrm>
            <a:off x="731520" y="2029968"/>
            <a:ext cx="128016" cy="128016"/>
          </a:xfrm>
          <a:prstGeom prst="ellipse">
            <a:avLst/>
          </a:prstGeom>
          <a:solidFill>
            <a:srgbClr val="F87171"/>
          </a:solidFill>
          <a:ln w="6350">
            <a:solidFill>
              <a:srgbClr val="F87171"/>
            </a:solidFill>
            <a:prstDash val="solid"/>
          </a:ln>
        </p:spPr>
      </p:sp>
      <p:sp>
        <p:nvSpPr>
          <p:cNvPr id="8" name="Shape 6"/>
          <p:cNvSpPr/>
          <p:nvPr/>
        </p:nvSpPr>
        <p:spPr>
          <a:xfrm>
            <a:off x="960120" y="2029968"/>
            <a:ext cx="128016" cy="128016"/>
          </a:xfrm>
          <a:prstGeom prst="ellipse">
            <a:avLst/>
          </a:prstGeom>
          <a:solidFill>
            <a:srgbClr val="FBBF24"/>
          </a:solidFill>
          <a:ln w="6350">
            <a:solidFill>
              <a:srgbClr val="FBBF24"/>
            </a:solidFill>
            <a:prstDash val="solid"/>
          </a:ln>
        </p:spPr>
      </p:sp>
      <p:sp>
        <p:nvSpPr>
          <p:cNvPr id="9" name="Shape 7"/>
          <p:cNvSpPr/>
          <p:nvPr/>
        </p:nvSpPr>
        <p:spPr>
          <a:xfrm>
            <a:off x="1188720" y="2029968"/>
            <a:ext cx="128016" cy="128016"/>
          </a:xfrm>
          <a:prstGeom prst="ellipse">
            <a:avLst/>
          </a:prstGeom>
          <a:solidFill>
            <a:srgbClr val="4ADE80"/>
          </a:solidFill>
          <a:ln w="6350">
            <a:solidFill>
              <a:srgbClr val="4ADE80"/>
            </a:solidFill>
            <a:prstDash val="solid"/>
          </a:ln>
        </p:spPr>
      </p:sp>
      <p:sp>
        <p:nvSpPr>
          <p:cNvPr id="10" name="Text 8"/>
          <p:cNvSpPr txBox="1"/>
          <p:nvPr/>
        </p:nvSpPr>
        <p:spPr>
          <a:xfrm>
            <a:off x="1645920" y="1965960"/>
            <a:ext cx="3657600" cy="256032"/>
          </a:xfrm>
          <a:prstGeom prst="rect">
            <a:avLst/>
          </a:prstGeom>
          <a:noFill/>
          <a:ln/>
        </p:spPr>
        <p:txBody>
          <a:bodyPr wrap="square" lIns="0" tIns="0" rIns="0" bIns="0" rtlCol="0" anchor="ctr"/>
          <a:lstStyle/>
          <a:p>
            <a:pPr marL="0" indent="0">
              <a:buNone/>
            </a:pPr>
            <a:r>
              <a:rPr lang="en-US" sz="1200" dirty="0">
                <a:solidFill>
                  <a:srgbClr val="94A3B8"/>
                </a:solidFill>
                <a:latin typeface="Consolas" pitchFamily="34" charset="0"/>
                <a:ea typeface="Consolas" pitchFamily="34" charset="-122"/>
                <a:cs typeface="Consolas" pitchFamily="34" charset="-120"/>
              </a:rPr>
              <a:t>unixsuite&gt; help</a:t>
            </a:r>
            <a:endParaRPr lang="en-US" sz="1200" dirty="0"/>
          </a:p>
        </p:txBody>
      </p:sp>
      <p:sp>
        <p:nvSpPr>
          <p:cNvPr id="11" name="Text 9"/>
          <p:cNvSpPr txBox="1"/>
          <p:nvPr/>
        </p:nvSpPr>
        <p:spPr>
          <a:xfrm>
            <a:off x="731520" y="251460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system-info</a:t>
            </a:r>
            <a:endParaRPr lang="en-US" sz="1300" dirty="0"/>
          </a:p>
        </p:txBody>
      </p:sp>
      <p:sp>
        <p:nvSpPr>
          <p:cNvPr id="12" name="Text 10"/>
          <p:cNvSpPr txBox="1"/>
          <p:nvPr/>
        </p:nvSpPr>
        <p:spPr>
          <a:xfrm>
            <a:off x="3017520" y="251460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OS, CPU cores &amp; page configuration</a:t>
            </a:r>
            <a:endParaRPr lang="en-US" sz="1300" dirty="0"/>
          </a:p>
        </p:txBody>
      </p:sp>
      <p:sp>
        <p:nvSpPr>
          <p:cNvPr id="13" name="Text 11"/>
          <p:cNvSpPr txBox="1"/>
          <p:nvPr/>
        </p:nvSpPr>
        <p:spPr>
          <a:xfrm>
            <a:off x="731520" y="310896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processes</a:t>
            </a:r>
            <a:endParaRPr lang="en-US" sz="1300" dirty="0"/>
          </a:p>
        </p:txBody>
      </p:sp>
      <p:sp>
        <p:nvSpPr>
          <p:cNvPr id="14" name="Text 12"/>
          <p:cNvSpPr txBox="1"/>
          <p:nvPr/>
        </p:nvSpPr>
        <p:spPr>
          <a:xfrm>
            <a:off x="3017520" y="310896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fork-exec-wait lifecycle demo</a:t>
            </a:r>
            <a:endParaRPr lang="en-US" sz="1300" dirty="0"/>
          </a:p>
        </p:txBody>
      </p:sp>
      <p:sp>
        <p:nvSpPr>
          <p:cNvPr id="15" name="Text 13"/>
          <p:cNvSpPr txBox="1"/>
          <p:nvPr/>
        </p:nvSpPr>
        <p:spPr>
          <a:xfrm>
            <a:off x="731520" y="370332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file-info</a:t>
            </a:r>
            <a:endParaRPr lang="en-US" sz="1300" dirty="0"/>
          </a:p>
        </p:txBody>
      </p:sp>
      <p:sp>
        <p:nvSpPr>
          <p:cNvPr id="16" name="Text 14"/>
          <p:cNvSpPr txBox="1"/>
          <p:nvPr/>
        </p:nvSpPr>
        <p:spPr>
          <a:xfrm>
            <a:off x="3017520" y="370332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Inode metadata via stat()</a:t>
            </a:r>
            <a:endParaRPr lang="en-US" sz="1300" dirty="0"/>
          </a:p>
        </p:txBody>
      </p:sp>
      <p:sp>
        <p:nvSpPr>
          <p:cNvPr id="17" name="Text 15"/>
          <p:cNvSpPr txBox="1"/>
          <p:nvPr/>
        </p:nvSpPr>
        <p:spPr>
          <a:xfrm>
            <a:off x="731520" y="429768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read-file</a:t>
            </a:r>
            <a:endParaRPr lang="en-US" sz="1300" dirty="0"/>
          </a:p>
        </p:txBody>
      </p:sp>
      <p:sp>
        <p:nvSpPr>
          <p:cNvPr id="18" name="Text 16"/>
          <p:cNvSpPr txBox="1"/>
          <p:nvPr/>
        </p:nvSpPr>
        <p:spPr>
          <a:xfrm>
            <a:off x="3017520" y="429768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Byte stream from a file descriptor</a:t>
            </a:r>
            <a:endParaRPr lang="en-US" sz="1300" dirty="0"/>
          </a:p>
        </p:txBody>
      </p:sp>
      <p:sp>
        <p:nvSpPr>
          <p:cNvPr id="19" name="Text 17"/>
          <p:cNvSpPr txBox="1"/>
          <p:nvPr/>
        </p:nvSpPr>
        <p:spPr>
          <a:xfrm>
            <a:off x="731520" y="489204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create-file</a:t>
            </a:r>
            <a:endParaRPr lang="en-US" sz="1300" dirty="0"/>
          </a:p>
        </p:txBody>
      </p:sp>
      <p:sp>
        <p:nvSpPr>
          <p:cNvPr id="20" name="Text 18"/>
          <p:cNvSpPr txBox="1"/>
          <p:nvPr/>
        </p:nvSpPr>
        <p:spPr>
          <a:xfrm>
            <a:off x="3017520" y="489204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Atomic create with open() O_CREAT</a:t>
            </a:r>
            <a:endParaRPr lang="en-US" sz="1300" dirty="0"/>
          </a:p>
        </p:txBody>
      </p:sp>
      <p:sp>
        <p:nvSpPr>
          <p:cNvPr id="21" name="Text 19"/>
          <p:cNvSpPr txBox="1"/>
          <p:nvPr/>
        </p:nvSpPr>
        <p:spPr>
          <a:xfrm>
            <a:off x="731520" y="548640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ipc-demo</a:t>
            </a:r>
            <a:endParaRPr lang="en-US" sz="1300" dirty="0"/>
          </a:p>
        </p:txBody>
      </p:sp>
      <p:sp>
        <p:nvSpPr>
          <p:cNvPr id="22" name="Text 20"/>
          <p:cNvSpPr txBox="1"/>
          <p:nvPr/>
        </p:nvSpPr>
        <p:spPr>
          <a:xfrm>
            <a:off x="3017520" y="548640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Data across a parent/child pipe</a:t>
            </a:r>
            <a:endParaRPr lang="en-US" sz="1300" dirty="0"/>
          </a:p>
        </p:txBody>
      </p:sp>
      <p:sp>
        <p:nvSpPr>
          <p:cNvPr id="23" name="Text 21"/>
          <p:cNvSpPr txBox="1"/>
          <p:nvPr/>
        </p:nvSpPr>
        <p:spPr>
          <a:xfrm>
            <a:off x="6309360" y="251460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signal-demo</a:t>
            </a:r>
            <a:endParaRPr lang="en-US" sz="1300" dirty="0"/>
          </a:p>
        </p:txBody>
      </p:sp>
      <p:sp>
        <p:nvSpPr>
          <p:cNvPr id="24" name="Text 22"/>
          <p:cNvSpPr txBox="1"/>
          <p:nvPr/>
        </p:nvSpPr>
        <p:spPr>
          <a:xfrm>
            <a:off x="8595360" y="251460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Dispatch SIGUSR1, verify handler</a:t>
            </a:r>
            <a:endParaRPr lang="en-US" sz="1300" dirty="0"/>
          </a:p>
        </p:txBody>
      </p:sp>
      <p:sp>
        <p:nvSpPr>
          <p:cNvPr id="25" name="Text 23"/>
          <p:cNvSpPr txBox="1"/>
          <p:nvPr/>
        </p:nvSpPr>
        <p:spPr>
          <a:xfrm>
            <a:off x="6309360" y="310896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memory-info</a:t>
            </a:r>
            <a:endParaRPr lang="en-US" sz="1300" dirty="0"/>
          </a:p>
        </p:txBody>
      </p:sp>
      <p:sp>
        <p:nvSpPr>
          <p:cNvPr id="26" name="Text 24"/>
          <p:cNvSpPr txBox="1"/>
          <p:nvPr/>
        </p:nvSpPr>
        <p:spPr>
          <a:xfrm>
            <a:off x="8595360" y="310896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VmSize &amp; VmRSS from /proc/self/status</a:t>
            </a:r>
            <a:endParaRPr lang="en-US" sz="1300" dirty="0"/>
          </a:p>
        </p:txBody>
      </p:sp>
      <p:sp>
        <p:nvSpPr>
          <p:cNvPr id="27" name="Text 25"/>
          <p:cNvSpPr txBox="1"/>
          <p:nvPr/>
        </p:nvSpPr>
        <p:spPr>
          <a:xfrm>
            <a:off x="6309360" y="370332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memory-maps</a:t>
            </a:r>
            <a:endParaRPr lang="en-US" sz="1300" dirty="0"/>
          </a:p>
        </p:txBody>
      </p:sp>
      <p:sp>
        <p:nvSpPr>
          <p:cNvPr id="28" name="Text 26"/>
          <p:cNvSpPr txBox="1"/>
          <p:nvPr/>
        </p:nvSpPr>
        <p:spPr>
          <a:xfrm>
            <a:off x="8595360" y="370332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Segments from /proc/self/maps</a:t>
            </a:r>
            <a:endParaRPr lang="en-US" sz="1300" dirty="0"/>
          </a:p>
        </p:txBody>
      </p:sp>
      <p:sp>
        <p:nvSpPr>
          <p:cNvPr id="29" name="Text 27"/>
          <p:cNvSpPr txBox="1"/>
          <p:nvPr/>
        </p:nvSpPr>
        <p:spPr>
          <a:xfrm>
            <a:off x="6309360" y="429768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thread-demo</a:t>
            </a:r>
            <a:endParaRPr lang="en-US" sz="1300" dirty="0"/>
          </a:p>
        </p:txBody>
      </p:sp>
      <p:sp>
        <p:nvSpPr>
          <p:cNvPr id="30" name="Text 28"/>
          <p:cNvSpPr txBox="1"/>
          <p:nvPr/>
        </p:nvSpPr>
        <p:spPr>
          <a:xfrm>
            <a:off x="8595360" y="429768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Multithreaded mutex synchronization</a:t>
            </a:r>
            <a:endParaRPr lang="en-US" sz="1300" dirty="0"/>
          </a:p>
        </p:txBody>
      </p:sp>
      <p:sp>
        <p:nvSpPr>
          <p:cNvPr id="31" name="Text 29"/>
          <p:cNvSpPr txBox="1"/>
          <p:nvPr/>
        </p:nvSpPr>
        <p:spPr>
          <a:xfrm>
            <a:off x="6309360" y="4892040"/>
            <a:ext cx="2194560" cy="45720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help / clear / exit</a:t>
            </a:r>
            <a:endParaRPr lang="en-US" sz="1300" dirty="0"/>
          </a:p>
        </p:txBody>
      </p:sp>
      <p:sp>
        <p:nvSpPr>
          <p:cNvPr id="32" name="Text 30"/>
          <p:cNvSpPr txBox="1"/>
          <p:nvPr/>
        </p:nvSpPr>
        <p:spPr>
          <a:xfrm>
            <a:off x="8595360" y="4892040"/>
            <a:ext cx="3108960" cy="4572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Utility control commands</a:t>
            </a:r>
            <a:endParaRPr lang="en-US" sz="1300" dirty="0"/>
          </a:p>
        </p:txBody>
      </p:sp>
      <p:sp>
        <p:nvSpPr>
          <p:cNvPr id="33"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ill"/>
          <p:cNvSpPr/>
          <p:nvPr/>
        </p:nvSpPr>
        <p:spPr>
          <a:xfrm>
            <a:off x="457200" y="274320"/>
            <a:ext cx="1622146"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MODULES 1 &amp; 3</a:t>
            </a:r>
            <a:endParaRPr lang="en-US" sz="1100" dirty="0"/>
          </a:p>
        </p:txBody>
      </p:sp>
      <p:sp>
        <p:nvSpPr>
          <p:cNvPr id="3" name="Pill"/>
          <p:cNvSpPr/>
          <p:nvPr/>
        </p:nvSpPr>
        <p:spPr>
          <a:xfrm>
            <a:off x="9305849" y="274320"/>
            <a:ext cx="2428646"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Kernel Discovery &amp; VFS</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System Information &amp; File Management</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Live kernel parameters on the left, descriptor-level I/O on the right</a:t>
            </a:r>
            <a:endParaRPr lang="en-US" sz="1400" dirty="0"/>
          </a:p>
        </p:txBody>
      </p:sp>
      <p:sp>
        <p:nvSpPr>
          <p:cNvPr id="6" name="Card"/>
          <p:cNvSpPr/>
          <p:nvPr/>
        </p:nvSpPr>
        <p:spPr>
          <a:xfrm>
            <a:off x="457200" y="1828800"/>
            <a:ext cx="5532120" cy="4297680"/>
          </a:xfrm>
          <a:prstGeom prst="roundRect">
            <a:avLst>
              <a:gd name="adj" fmla="val 2553"/>
            </a:avLst>
          </a:prstGeom>
          <a:solidFill>
            <a:srgbClr val="0D1B2E"/>
          </a:solidFill>
          <a:ln w="12700">
            <a:solidFill>
              <a:srgbClr val="1E3A5F"/>
            </a:solidFill>
            <a:prstDash val="solid"/>
          </a:ln>
        </p:spPr>
      </p:sp>
      <p:sp>
        <p:nvSpPr>
          <p:cNvPr id="7" name="IconCircle"/>
          <p:cNvSpPr/>
          <p:nvPr/>
        </p:nvSpPr>
        <p:spPr>
          <a:xfrm>
            <a:off x="731520" y="2011680"/>
            <a:ext cx="457200" cy="457200"/>
          </a:xfrm>
          <a:prstGeom prst="ellipse">
            <a:avLst/>
          </a:prstGeom>
          <a:solidFill>
            <a:srgbClr val="0F2A44"/>
          </a:solidFill>
          <a:ln w="12700">
            <a:solidFill>
              <a:srgbClr val="1E3A5F"/>
            </a:solidFill>
            <a:prstDash val="solid"/>
          </a:ln>
        </p:spPr>
      </p:sp>
      <p:pic>
        <p:nvPicPr>
          <p:cNvPr id="8" name="Image 0" descr="FaMicrochip"/>
          <p:cNvPicPr>
            <a:picLocks noChangeAspect="1"/>
          </p:cNvPicPr>
          <p:nvPr/>
        </p:nvPicPr>
        <p:blipFill>
          <a:blip r:embed="rId3"/>
          <a:stretch>
            <a:fillRect/>
          </a:stretch>
        </p:blipFill>
        <p:spPr>
          <a:xfrm>
            <a:off x="854964" y="2135124"/>
            <a:ext cx="210312" cy="210312"/>
          </a:xfrm>
          <a:prstGeom prst="rect">
            <a:avLst/>
          </a:prstGeom>
        </p:spPr>
      </p:pic>
      <p:sp>
        <p:nvSpPr>
          <p:cNvPr id="9" name="Text 6"/>
          <p:cNvSpPr txBox="1"/>
          <p:nvPr/>
        </p:nvSpPr>
        <p:spPr>
          <a:xfrm>
            <a:off x="1371600" y="2011680"/>
            <a:ext cx="4389120" cy="457200"/>
          </a:xfrm>
          <a:prstGeom prst="rect">
            <a:avLst/>
          </a:prstGeom>
          <a:noFill/>
          <a:ln/>
        </p:spPr>
        <p:txBody>
          <a:bodyPr wrap="square" lIns="0" tIns="0" rIns="0" bIns="0" rtlCol="0" anchor="ctr"/>
          <a:lstStyle/>
          <a:p>
            <a:pPr marL="0" indent="0">
              <a:buNone/>
            </a:pPr>
            <a:r>
              <a:rPr lang="en-US" sz="1700" b="1" dirty="0">
                <a:solidFill>
                  <a:srgbClr val="00E5FF"/>
                </a:solidFill>
                <a:latin typeface="Calibri" pitchFamily="34" charset="0"/>
                <a:ea typeface="Calibri" pitchFamily="34" charset="-122"/>
                <a:cs typeface="Calibri" pitchFamily="34" charset="-120"/>
              </a:rPr>
              <a:t>1 · System Information</a:t>
            </a:r>
            <a:endParaRPr lang="en-US" sz="1700" dirty="0"/>
          </a:p>
        </p:txBody>
      </p:sp>
      <p:sp>
        <p:nvSpPr>
          <p:cNvPr id="10" name="Text 7"/>
          <p:cNvSpPr txBox="1"/>
          <p:nvPr/>
        </p:nvSpPr>
        <p:spPr>
          <a:xfrm>
            <a:off x="731520" y="274320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uname(&amp;info)</a:t>
            </a:r>
            <a:endParaRPr lang="en-US" sz="1400" dirty="0"/>
          </a:p>
        </p:txBody>
      </p:sp>
      <p:sp>
        <p:nvSpPr>
          <p:cNvPr id="11" name="Text 8"/>
          <p:cNvSpPr txBox="1"/>
          <p:nvPr/>
        </p:nvSpPr>
        <p:spPr>
          <a:xfrm>
            <a:off x="731520" y="307238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Kernel release, node name, version and x86_64 architecture.</a:t>
            </a:r>
            <a:endParaRPr lang="en-US" sz="1400" dirty="0"/>
          </a:p>
        </p:txBody>
      </p:sp>
      <p:sp>
        <p:nvSpPr>
          <p:cNvPr id="12" name="Text 9"/>
          <p:cNvSpPr txBox="1"/>
          <p:nvPr/>
        </p:nvSpPr>
        <p:spPr>
          <a:xfrm>
            <a:off x="731520" y="384048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sysconf(_SC_NPROCESSORS_ONLN)</a:t>
            </a:r>
            <a:endParaRPr lang="en-US" sz="1400" dirty="0"/>
          </a:p>
        </p:txBody>
      </p:sp>
      <p:sp>
        <p:nvSpPr>
          <p:cNvPr id="13" name="Text 10"/>
          <p:cNvSpPr txBox="1"/>
          <p:nvPr/>
        </p:nvSpPr>
        <p:spPr>
          <a:xfrm>
            <a:off x="731520" y="416966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Number of online processors.</a:t>
            </a:r>
            <a:endParaRPr lang="en-US" sz="1400" dirty="0"/>
          </a:p>
        </p:txBody>
      </p:sp>
      <p:sp>
        <p:nvSpPr>
          <p:cNvPr id="14" name="Text 11"/>
          <p:cNvSpPr txBox="1"/>
          <p:nvPr/>
        </p:nvSpPr>
        <p:spPr>
          <a:xfrm>
            <a:off x="731520" y="493776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sysconf(_SC_PAGESIZE)</a:t>
            </a:r>
            <a:endParaRPr lang="en-US" sz="1400" dirty="0"/>
          </a:p>
        </p:txBody>
      </p:sp>
      <p:sp>
        <p:nvSpPr>
          <p:cNvPr id="15" name="Text 12"/>
          <p:cNvSpPr txBox="1"/>
          <p:nvPr/>
        </p:nvSpPr>
        <p:spPr>
          <a:xfrm>
            <a:off x="731520" y="526694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Hardware memory page size (4096 bytes).</a:t>
            </a:r>
            <a:endParaRPr lang="en-US" sz="1400" dirty="0"/>
          </a:p>
        </p:txBody>
      </p:sp>
      <p:sp>
        <p:nvSpPr>
          <p:cNvPr id="16" name="Card"/>
          <p:cNvSpPr/>
          <p:nvPr/>
        </p:nvSpPr>
        <p:spPr>
          <a:xfrm>
            <a:off x="6199632" y="1828800"/>
            <a:ext cx="5532120" cy="4297680"/>
          </a:xfrm>
          <a:prstGeom prst="roundRect">
            <a:avLst>
              <a:gd name="adj" fmla="val 2553"/>
            </a:avLst>
          </a:prstGeom>
          <a:solidFill>
            <a:srgbClr val="0D1B2E"/>
          </a:solidFill>
          <a:ln w="12700">
            <a:solidFill>
              <a:srgbClr val="1E3A5F"/>
            </a:solidFill>
            <a:prstDash val="solid"/>
          </a:ln>
        </p:spPr>
      </p:sp>
      <p:sp>
        <p:nvSpPr>
          <p:cNvPr id="17" name="IconCircle"/>
          <p:cNvSpPr/>
          <p:nvPr/>
        </p:nvSpPr>
        <p:spPr>
          <a:xfrm>
            <a:off x="6473952" y="2011680"/>
            <a:ext cx="457200" cy="457200"/>
          </a:xfrm>
          <a:prstGeom prst="ellipse">
            <a:avLst/>
          </a:prstGeom>
          <a:solidFill>
            <a:srgbClr val="0F2A44"/>
          </a:solidFill>
          <a:ln w="12700">
            <a:solidFill>
              <a:srgbClr val="1E3A5F"/>
            </a:solidFill>
            <a:prstDash val="solid"/>
          </a:ln>
        </p:spPr>
      </p:sp>
      <p:pic>
        <p:nvPicPr>
          <p:cNvPr id="18" name="Image 1" descr="FaFolderOpen"/>
          <p:cNvPicPr>
            <a:picLocks noChangeAspect="1"/>
          </p:cNvPicPr>
          <p:nvPr/>
        </p:nvPicPr>
        <p:blipFill>
          <a:blip r:embed="rId4"/>
          <a:stretch>
            <a:fillRect/>
          </a:stretch>
        </p:blipFill>
        <p:spPr>
          <a:xfrm>
            <a:off x="6597396" y="2135124"/>
            <a:ext cx="210312" cy="210312"/>
          </a:xfrm>
          <a:prstGeom prst="rect">
            <a:avLst/>
          </a:prstGeom>
        </p:spPr>
      </p:pic>
      <p:sp>
        <p:nvSpPr>
          <p:cNvPr id="19" name="Text 15"/>
          <p:cNvSpPr txBox="1"/>
          <p:nvPr/>
        </p:nvSpPr>
        <p:spPr>
          <a:xfrm>
            <a:off x="7114032" y="2011680"/>
            <a:ext cx="4389120" cy="457200"/>
          </a:xfrm>
          <a:prstGeom prst="rect">
            <a:avLst/>
          </a:prstGeom>
          <a:noFill/>
          <a:ln/>
        </p:spPr>
        <p:txBody>
          <a:bodyPr wrap="square" lIns="0" tIns="0" rIns="0" bIns="0" rtlCol="0" anchor="ctr"/>
          <a:lstStyle/>
          <a:p>
            <a:pPr marL="0" indent="0">
              <a:buNone/>
            </a:pPr>
            <a:r>
              <a:rPr lang="en-US" sz="1700" b="1" dirty="0">
                <a:solidFill>
                  <a:srgbClr val="00E5FF"/>
                </a:solidFill>
                <a:latin typeface="Calibri" pitchFamily="34" charset="0"/>
                <a:ea typeface="Calibri" pitchFamily="34" charset="-122"/>
                <a:cs typeface="Calibri" pitchFamily="34" charset="-120"/>
              </a:rPr>
              <a:t>3 · File System &amp; Descriptors</a:t>
            </a:r>
            <a:endParaRPr lang="en-US" sz="1700" dirty="0"/>
          </a:p>
        </p:txBody>
      </p:sp>
      <p:sp>
        <p:nvSpPr>
          <p:cNvPr id="20" name="Text 16"/>
          <p:cNvSpPr txBox="1"/>
          <p:nvPr/>
        </p:nvSpPr>
        <p:spPr>
          <a:xfrm>
            <a:off x="6473952" y="274320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stat()</a:t>
            </a:r>
            <a:endParaRPr lang="en-US" sz="1400" dirty="0"/>
          </a:p>
        </p:txBody>
      </p:sp>
      <p:sp>
        <p:nvSpPr>
          <p:cNvPr id="21" name="Text 17"/>
          <p:cNvSpPr txBox="1"/>
          <p:nvPr/>
        </p:nvSpPr>
        <p:spPr>
          <a:xfrm>
            <a:off x="6473952" y="307238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Inode metadata: file size, octal permissions (0644), UID/GID.</a:t>
            </a:r>
            <a:endParaRPr lang="en-US" sz="1400" dirty="0"/>
          </a:p>
        </p:txBody>
      </p:sp>
      <p:sp>
        <p:nvSpPr>
          <p:cNvPr id="22" name="Text 18"/>
          <p:cNvSpPr txBox="1"/>
          <p:nvPr/>
        </p:nvSpPr>
        <p:spPr>
          <a:xfrm>
            <a:off x="6473952" y="384048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open(O_CREAT | O_EXCL)</a:t>
            </a:r>
            <a:endParaRPr lang="en-US" sz="1400" dirty="0"/>
          </a:p>
        </p:txBody>
      </p:sp>
      <p:sp>
        <p:nvSpPr>
          <p:cNvPr id="23" name="Text 19"/>
          <p:cNvSpPr txBox="1"/>
          <p:nvPr/>
        </p:nvSpPr>
        <p:spPr>
          <a:xfrm>
            <a:off x="6473952" y="416966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Allocates the lowest available integer file descriptor.</a:t>
            </a:r>
            <a:endParaRPr lang="en-US" sz="1400" dirty="0"/>
          </a:p>
        </p:txBody>
      </p:sp>
      <p:sp>
        <p:nvSpPr>
          <p:cNvPr id="24" name="Text 20"/>
          <p:cNvSpPr txBox="1"/>
          <p:nvPr/>
        </p:nvSpPr>
        <p:spPr>
          <a:xfrm>
            <a:off x="6473952" y="4937760"/>
            <a:ext cx="4937760" cy="274320"/>
          </a:xfrm>
          <a:prstGeom prst="rect">
            <a:avLst/>
          </a:prstGeom>
          <a:noFill/>
          <a:ln/>
        </p:spPr>
        <p:txBody>
          <a:bodyPr wrap="square" lIns="0" tIns="0" rIns="0" bIns="0" rtlCol="0" anchor="t"/>
          <a:lstStyle/>
          <a:p>
            <a:pPr marL="0" indent="0">
              <a:buNone/>
            </a:pPr>
            <a:r>
              <a:rPr lang="en-US" sz="1400" b="1" dirty="0">
                <a:solidFill>
                  <a:srgbClr val="38BDF8"/>
                </a:solidFill>
                <a:latin typeface="Consolas" pitchFamily="34" charset="0"/>
                <a:ea typeface="Consolas" pitchFamily="34" charset="-122"/>
                <a:cs typeface="Consolas" pitchFamily="34" charset="-120"/>
              </a:rPr>
              <a:t>read() &amp; close()</a:t>
            </a:r>
            <a:endParaRPr lang="en-US" sz="1400" dirty="0"/>
          </a:p>
        </p:txBody>
      </p:sp>
      <p:sp>
        <p:nvSpPr>
          <p:cNvPr id="25" name="Text 21"/>
          <p:cNvSpPr txBox="1"/>
          <p:nvPr/>
        </p:nvSpPr>
        <p:spPr>
          <a:xfrm>
            <a:off x="6473952" y="5266944"/>
            <a:ext cx="49377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Stream buffer reads; release the FD slot in the process table.</a:t>
            </a:r>
            <a:endParaRPr lang="en-US" sz="1400" dirty="0"/>
          </a:p>
        </p:txBody>
      </p:sp>
      <p:sp>
        <p:nvSpPr>
          <p:cNvPr id="26"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ill"/>
          <p:cNvSpPr/>
          <p:nvPr/>
        </p:nvSpPr>
        <p:spPr>
          <a:xfrm>
            <a:off x="457200" y="274320"/>
            <a:ext cx="1174090"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 2</a:t>
            </a:r>
            <a:endParaRPr lang="en-US" sz="1100" dirty="0"/>
          </a:p>
        </p:txBody>
      </p:sp>
      <p:sp>
        <p:nvSpPr>
          <p:cNvPr id="3" name="Pill"/>
          <p:cNvSpPr/>
          <p:nvPr/>
        </p:nvSpPr>
        <p:spPr>
          <a:xfrm>
            <a:off x="9664294" y="274320"/>
            <a:ext cx="2070202"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fork • exec • wait</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Process Creation &amp; Lifecycle</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Three system calls take a process from birth to reaped exit</a:t>
            </a:r>
            <a:endParaRPr lang="en-US" sz="1400" dirty="0"/>
          </a:p>
        </p:txBody>
      </p:sp>
      <p:sp>
        <p:nvSpPr>
          <p:cNvPr id="6" name="Card"/>
          <p:cNvSpPr/>
          <p:nvPr/>
        </p:nvSpPr>
        <p:spPr>
          <a:xfrm>
            <a:off x="457200" y="1828800"/>
            <a:ext cx="3575304" cy="2697480"/>
          </a:xfrm>
          <a:prstGeom prst="roundRect">
            <a:avLst>
              <a:gd name="adj" fmla="val 4068"/>
            </a:avLst>
          </a:prstGeom>
          <a:solidFill>
            <a:srgbClr val="0D1B2E"/>
          </a:solidFill>
          <a:ln w="12700">
            <a:solidFill>
              <a:srgbClr val="1E3A5F"/>
            </a:solidFill>
            <a:prstDash val="solid"/>
          </a:ln>
        </p:spPr>
      </p:sp>
      <p:sp>
        <p:nvSpPr>
          <p:cNvPr id="7" name="Shape 5"/>
          <p:cNvSpPr/>
          <p:nvPr/>
        </p:nvSpPr>
        <p:spPr>
          <a:xfrm>
            <a:off x="685800" y="2011680"/>
            <a:ext cx="457200" cy="457200"/>
          </a:xfrm>
          <a:prstGeom prst="ellipse">
            <a:avLst/>
          </a:prstGeom>
          <a:solidFill>
            <a:srgbClr val="0F2A44"/>
          </a:solidFill>
          <a:ln w="12700">
            <a:solidFill>
              <a:srgbClr val="38BDF8"/>
            </a:solidFill>
            <a:prstDash val="solid"/>
          </a:ln>
        </p:spPr>
      </p:sp>
      <p:sp>
        <p:nvSpPr>
          <p:cNvPr id="8" name="Text 6"/>
          <p:cNvSpPr txBox="1"/>
          <p:nvPr/>
        </p:nvSpPr>
        <p:spPr>
          <a:xfrm>
            <a:off x="685800"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1</a:t>
            </a:r>
            <a:endParaRPr lang="en-US" sz="1500" dirty="0"/>
          </a:p>
        </p:txBody>
      </p:sp>
      <p:sp>
        <p:nvSpPr>
          <p:cNvPr id="9" name="Text 7"/>
          <p:cNvSpPr txBox="1"/>
          <p:nvPr/>
        </p:nvSpPr>
        <p:spPr>
          <a:xfrm>
            <a:off x="1325880" y="2011680"/>
            <a:ext cx="2560320" cy="457200"/>
          </a:xfrm>
          <a:prstGeom prst="rect">
            <a:avLst/>
          </a:prstGeom>
          <a:noFill/>
          <a:ln/>
        </p:spPr>
        <p:txBody>
          <a:bodyPr wrap="square" lIns="0" tIns="0" rIns="0" bIns="0" rtlCol="0" anchor="ctr"/>
          <a:lstStyle/>
          <a:p>
            <a:pPr marL="0" indent="0">
              <a:buNone/>
            </a:pPr>
            <a:r>
              <a:rPr lang="en-US" sz="2000" b="1" dirty="0">
                <a:solidFill>
                  <a:srgbClr val="00E5FF"/>
                </a:solidFill>
                <a:latin typeface="Consolas" pitchFamily="34" charset="0"/>
                <a:ea typeface="Consolas" pitchFamily="34" charset="-122"/>
                <a:cs typeface="Consolas" pitchFamily="34" charset="-120"/>
              </a:rPr>
              <a:t>fork()</a:t>
            </a:r>
            <a:endParaRPr lang="en-US" sz="2000" dirty="0"/>
          </a:p>
        </p:txBody>
      </p:sp>
      <p:sp>
        <p:nvSpPr>
          <p:cNvPr id="10" name="Text 8"/>
          <p:cNvSpPr txBox="1"/>
          <p:nvPr/>
        </p:nvSpPr>
        <p:spPr>
          <a:xfrm>
            <a:off x="685800" y="2697480"/>
            <a:ext cx="3108960" cy="1737360"/>
          </a:xfrm>
          <a:prstGeom prst="rect">
            <a:avLst/>
          </a:prstGeom>
          <a:noFill/>
          <a:ln/>
        </p:spPr>
        <p:txBody>
          <a:bodyPr wrap="square" lIns="0" tIns="0" rIns="0" bIns="0" rtlCol="0" anchor="t"/>
          <a:lstStyle/>
          <a:p>
            <a:pPr marL="0" indent="0">
              <a:buNone/>
            </a:pPr>
            <a:r>
              <a:rPr lang="en-US" sz="1600" dirty="0">
                <a:solidFill>
                  <a:srgbClr val="CBD5E1"/>
                </a:solidFill>
                <a:latin typeface="Calibri" pitchFamily="34" charset="0"/>
                <a:ea typeface="Calibri" pitchFamily="34" charset="-122"/>
                <a:cs typeface="Calibri" pitchFamily="34" charset="-120"/>
              </a:rPr>
              <a:t>Clones the calling process into a child with an isolated address space. Returns the child PID to the parent and 0 to the child.</a:t>
            </a:r>
            <a:endParaRPr lang="en-US" sz="1600" dirty="0"/>
          </a:p>
        </p:txBody>
      </p:sp>
      <p:sp>
        <p:nvSpPr>
          <p:cNvPr id="11" name="Text 9"/>
          <p:cNvSpPr txBox="1"/>
          <p:nvPr/>
        </p:nvSpPr>
        <p:spPr>
          <a:xfrm>
            <a:off x="4032504" y="2834640"/>
            <a:ext cx="274320" cy="457200"/>
          </a:xfrm>
          <a:prstGeom prst="rect">
            <a:avLst/>
          </a:prstGeom>
          <a:noFill/>
          <a:ln/>
        </p:spPr>
        <p:txBody>
          <a:bodyPr wrap="square" lIns="0" tIns="0" rIns="0" bIns="0" rtlCol="0" anchor="ctr"/>
          <a:lstStyle/>
          <a:p>
            <a:pPr marL="0" indent="0" algn="ctr">
              <a:buNone/>
            </a:pPr>
            <a:r>
              <a:rPr lang="en-US" sz="2400" dirty="0">
                <a:solidFill>
                  <a:srgbClr val="38BDF8"/>
                </a:solidFill>
                <a:latin typeface="Calibri" pitchFamily="34" charset="0"/>
                <a:ea typeface="Calibri" pitchFamily="34" charset="-122"/>
                <a:cs typeface="Calibri" pitchFamily="34" charset="-120"/>
              </a:rPr>
              <a:t>›</a:t>
            </a:r>
            <a:endParaRPr lang="en-US" sz="2400" dirty="0"/>
          </a:p>
        </p:txBody>
      </p:sp>
      <p:sp>
        <p:nvSpPr>
          <p:cNvPr id="12" name="Card"/>
          <p:cNvSpPr/>
          <p:nvPr/>
        </p:nvSpPr>
        <p:spPr>
          <a:xfrm>
            <a:off x="4306824" y="1828800"/>
            <a:ext cx="3575304" cy="2697480"/>
          </a:xfrm>
          <a:prstGeom prst="roundRect">
            <a:avLst>
              <a:gd name="adj" fmla="val 4068"/>
            </a:avLst>
          </a:prstGeom>
          <a:solidFill>
            <a:srgbClr val="0D1B2E"/>
          </a:solidFill>
          <a:ln w="12700">
            <a:solidFill>
              <a:srgbClr val="1E3A5F"/>
            </a:solidFill>
            <a:prstDash val="solid"/>
          </a:ln>
        </p:spPr>
      </p:sp>
      <p:sp>
        <p:nvSpPr>
          <p:cNvPr id="13" name="Shape 11"/>
          <p:cNvSpPr/>
          <p:nvPr/>
        </p:nvSpPr>
        <p:spPr>
          <a:xfrm>
            <a:off x="4535424" y="2011680"/>
            <a:ext cx="457200" cy="457200"/>
          </a:xfrm>
          <a:prstGeom prst="ellipse">
            <a:avLst/>
          </a:prstGeom>
          <a:solidFill>
            <a:srgbClr val="0F2A44"/>
          </a:solidFill>
          <a:ln w="12700">
            <a:solidFill>
              <a:srgbClr val="38BDF8"/>
            </a:solidFill>
            <a:prstDash val="solid"/>
          </a:ln>
        </p:spPr>
      </p:sp>
      <p:sp>
        <p:nvSpPr>
          <p:cNvPr id="14" name="Text 12"/>
          <p:cNvSpPr txBox="1"/>
          <p:nvPr/>
        </p:nvSpPr>
        <p:spPr>
          <a:xfrm>
            <a:off x="4535424"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2</a:t>
            </a:r>
            <a:endParaRPr lang="en-US" sz="1500" dirty="0"/>
          </a:p>
        </p:txBody>
      </p:sp>
      <p:sp>
        <p:nvSpPr>
          <p:cNvPr id="15" name="Text 13"/>
          <p:cNvSpPr txBox="1"/>
          <p:nvPr/>
        </p:nvSpPr>
        <p:spPr>
          <a:xfrm>
            <a:off x="5175504" y="2011680"/>
            <a:ext cx="2560320" cy="457200"/>
          </a:xfrm>
          <a:prstGeom prst="rect">
            <a:avLst/>
          </a:prstGeom>
          <a:noFill/>
          <a:ln/>
        </p:spPr>
        <p:txBody>
          <a:bodyPr wrap="square" lIns="0" tIns="0" rIns="0" bIns="0" rtlCol="0" anchor="ctr"/>
          <a:lstStyle/>
          <a:p>
            <a:pPr marL="0" indent="0">
              <a:buNone/>
            </a:pPr>
            <a:r>
              <a:rPr lang="en-US" sz="2000" b="1" dirty="0">
                <a:solidFill>
                  <a:srgbClr val="00E5FF"/>
                </a:solidFill>
                <a:latin typeface="Consolas" pitchFamily="34" charset="0"/>
                <a:ea typeface="Consolas" pitchFamily="34" charset="-122"/>
                <a:cs typeface="Consolas" pitchFamily="34" charset="-120"/>
              </a:rPr>
              <a:t>execlp()</a:t>
            </a:r>
            <a:endParaRPr lang="en-US" sz="2000" dirty="0"/>
          </a:p>
        </p:txBody>
      </p:sp>
      <p:sp>
        <p:nvSpPr>
          <p:cNvPr id="16" name="Text 14"/>
          <p:cNvSpPr txBox="1"/>
          <p:nvPr/>
        </p:nvSpPr>
        <p:spPr>
          <a:xfrm>
            <a:off x="4535424" y="2697480"/>
            <a:ext cx="3108960" cy="1737360"/>
          </a:xfrm>
          <a:prstGeom prst="rect">
            <a:avLst/>
          </a:prstGeom>
          <a:noFill/>
          <a:ln/>
        </p:spPr>
        <p:txBody>
          <a:bodyPr wrap="square" lIns="0" tIns="0" rIns="0" bIns="0" rtlCol="0" anchor="t"/>
          <a:lstStyle/>
          <a:p>
            <a:pPr marL="0" indent="0">
              <a:buNone/>
            </a:pPr>
            <a:r>
              <a:rPr lang="en-US" sz="1600" dirty="0">
                <a:solidFill>
                  <a:srgbClr val="CBD5E1"/>
                </a:solidFill>
                <a:latin typeface="Calibri" pitchFamily="34" charset="0"/>
                <a:ea typeface="Calibri" pitchFamily="34" charset="-122"/>
                <a:cs typeface="Calibri" pitchFamily="34" charset="-120"/>
              </a:rPr>
              <a:t>Overlays the child's text and data segments with a new executable (echo).</a:t>
            </a:r>
            <a:endParaRPr lang="en-US" sz="1600" dirty="0"/>
          </a:p>
        </p:txBody>
      </p:sp>
      <p:sp>
        <p:nvSpPr>
          <p:cNvPr id="17" name="Text 15"/>
          <p:cNvSpPr txBox="1"/>
          <p:nvPr/>
        </p:nvSpPr>
        <p:spPr>
          <a:xfrm>
            <a:off x="7882128" y="2834640"/>
            <a:ext cx="274320" cy="457200"/>
          </a:xfrm>
          <a:prstGeom prst="rect">
            <a:avLst/>
          </a:prstGeom>
          <a:noFill/>
          <a:ln/>
        </p:spPr>
        <p:txBody>
          <a:bodyPr wrap="square" lIns="0" tIns="0" rIns="0" bIns="0" rtlCol="0" anchor="ctr"/>
          <a:lstStyle/>
          <a:p>
            <a:pPr marL="0" indent="0" algn="ctr">
              <a:buNone/>
            </a:pPr>
            <a:r>
              <a:rPr lang="en-US" sz="2400" dirty="0">
                <a:solidFill>
                  <a:srgbClr val="38BDF8"/>
                </a:solidFill>
                <a:latin typeface="Calibri" pitchFamily="34" charset="0"/>
                <a:ea typeface="Calibri" pitchFamily="34" charset="-122"/>
                <a:cs typeface="Calibri" pitchFamily="34" charset="-120"/>
              </a:rPr>
              <a:t>›</a:t>
            </a:r>
            <a:endParaRPr lang="en-US" sz="2400" dirty="0"/>
          </a:p>
        </p:txBody>
      </p:sp>
      <p:sp>
        <p:nvSpPr>
          <p:cNvPr id="18" name="Card"/>
          <p:cNvSpPr/>
          <p:nvPr/>
        </p:nvSpPr>
        <p:spPr>
          <a:xfrm>
            <a:off x="8156448" y="1828800"/>
            <a:ext cx="3575304" cy="2697480"/>
          </a:xfrm>
          <a:prstGeom prst="roundRect">
            <a:avLst>
              <a:gd name="adj" fmla="val 4068"/>
            </a:avLst>
          </a:prstGeom>
          <a:solidFill>
            <a:srgbClr val="0D1B2E"/>
          </a:solidFill>
          <a:ln w="12700">
            <a:solidFill>
              <a:srgbClr val="1E3A5F"/>
            </a:solidFill>
            <a:prstDash val="solid"/>
          </a:ln>
        </p:spPr>
      </p:sp>
      <p:sp>
        <p:nvSpPr>
          <p:cNvPr id="19" name="Shape 17"/>
          <p:cNvSpPr/>
          <p:nvPr/>
        </p:nvSpPr>
        <p:spPr>
          <a:xfrm>
            <a:off x="8385048" y="2011680"/>
            <a:ext cx="457200" cy="457200"/>
          </a:xfrm>
          <a:prstGeom prst="ellipse">
            <a:avLst/>
          </a:prstGeom>
          <a:solidFill>
            <a:srgbClr val="0F2A44"/>
          </a:solidFill>
          <a:ln w="12700">
            <a:solidFill>
              <a:srgbClr val="38BDF8"/>
            </a:solidFill>
            <a:prstDash val="solid"/>
          </a:ln>
        </p:spPr>
      </p:sp>
      <p:sp>
        <p:nvSpPr>
          <p:cNvPr id="20" name="Text 18"/>
          <p:cNvSpPr txBox="1"/>
          <p:nvPr/>
        </p:nvSpPr>
        <p:spPr>
          <a:xfrm>
            <a:off x="8385048" y="2011680"/>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3</a:t>
            </a:r>
            <a:endParaRPr lang="en-US" sz="1500" dirty="0"/>
          </a:p>
        </p:txBody>
      </p:sp>
      <p:sp>
        <p:nvSpPr>
          <p:cNvPr id="21" name="Text 19"/>
          <p:cNvSpPr txBox="1"/>
          <p:nvPr/>
        </p:nvSpPr>
        <p:spPr>
          <a:xfrm>
            <a:off x="9025128" y="2011680"/>
            <a:ext cx="2560320" cy="457200"/>
          </a:xfrm>
          <a:prstGeom prst="rect">
            <a:avLst/>
          </a:prstGeom>
          <a:noFill/>
          <a:ln/>
        </p:spPr>
        <p:txBody>
          <a:bodyPr wrap="square" lIns="0" tIns="0" rIns="0" bIns="0" rtlCol="0" anchor="ctr"/>
          <a:lstStyle/>
          <a:p>
            <a:pPr marL="0" indent="0">
              <a:buNone/>
            </a:pPr>
            <a:r>
              <a:rPr lang="en-US" sz="2000" b="1" dirty="0">
                <a:solidFill>
                  <a:srgbClr val="00E5FF"/>
                </a:solidFill>
                <a:latin typeface="Consolas" pitchFamily="34" charset="0"/>
                <a:ea typeface="Consolas" pitchFamily="34" charset="-122"/>
                <a:cs typeface="Consolas" pitchFamily="34" charset="-120"/>
              </a:rPr>
              <a:t>waitpid()</a:t>
            </a:r>
            <a:endParaRPr lang="en-US" sz="2000" dirty="0"/>
          </a:p>
        </p:txBody>
      </p:sp>
      <p:sp>
        <p:nvSpPr>
          <p:cNvPr id="22" name="Text 20"/>
          <p:cNvSpPr txBox="1"/>
          <p:nvPr/>
        </p:nvSpPr>
        <p:spPr>
          <a:xfrm>
            <a:off x="8385048" y="2697480"/>
            <a:ext cx="3108960" cy="1737360"/>
          </a:xfrm>
          <a:prstGeom prst="rect">
            <a:avLst/>
          </a:prstGeom>
          <a:noFill/>
          <a:ln/>
        </p:spPr>
        <p:txBody>
          <a:bodyPr wrap="square" lIns="0" tIns="0" rIns="0" bIns="0" rtlCol="0" anchor="t"/>
          <a:lstStyle/>
          <a:p>
            <a:pPr marL="0" indent="0">
              <a:buNone/>
            </a:pPr>
            <a:r>
              <a:rPr lang="en-US" sz="1600" dirty="0">
                <a:solidFill>
                  <a:srgbClr val="CBD5E1"/>
                </a:solidFill>
                <a:latin typeface="Calibri" pitchFamily="34" charset="0"/>
                <a:ea typeface="Calibri" pitchFamily="34" charset="-122"/>
                <a:cs typeface="Calibri" pitchFamily="34" charset="-120"/>
              </a:rPr>
              <a:t>Parent blocks until the child ends, reading exit status (0) via WEXITSTATUS — preventing zombie processes.</a:t>
            </a:r>
            <a:endParaRPr lang="en-US" sz="1600" dirty="0"/>
          </a:p>
        </p:txBody>
      </p:sp>
      <p:sp>
        <p:nvSpPr>
          <p:cNvPr id="23" name="Text 21"/>
          <p:cNvSpPr txBox="1"/>
          <p:nvPr/>
        </p:nvSpPr>
        <p:spPr>
          <a:xfrm>
            <a:off x="457200" y="4754880"/>
            <a:ext cx="365760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KEY DISTINCTION</a:t>
            </a:r>
            <a:endParaRPr lang="en-US" sz="1100" dirty="0"/>
          </a:p>
        </p:txBody>
      </p:sp>
      <p:sp>
        <p:nvSpPr>
          <p:cNvPr id="24" name="Card"/>
          <p:cNvSpPr/>
          <p:nvPr/>
        </p:nvSpPr>
        <p:spPr>
          <a:xfrm>
            <a:off x="457200" y="5074920"/>
            <a:ext cx="5532120" cy="1051560"/>
          </a:xfrm>
          <a:prstGeom prst="roundRect">
            <a:avLst>
              <a:gd name="adj" fmla="val 10435"/>
            </a:avLst>
          </a:prstGeom>
          <a:solidFill>
            <a:srgbClr val="112641"/>
          </a:solidFill>
          <a:ln w="12700">
            <a:solidFill>
              <a:srgbClr val="1E3A5F"/>
            </a:solidFill>
            <a:prstDash val="solid"/>
          </a:ln>
        </p:spPr>
      </p:sp>
      <p:sp>
        <p:nvSpPr>
          <p:cNvPr id="25" name="Text 23"/>
          <p:cNvSpPr txBox="1"/>
          <p:nvPr/>
        </p:nvSpPr>
        <p:spPr>
          <a:xfrm>
            <a:off x="731520" y="5074920"/>
            <a:ext cx="5029200" cy="1051560"/>
          </a:xfrm>
          <a:prstGeom prst="rect">
            <a:avLst/>
          </a:prstGeom>
          <a:noFill/>
          <a:ln/>
        </p:spPr>
        <p:txBody>
          <a:bodyPr wrap="square" lIns="0" tIns="0" rIns="0" bIns="0" rtlCol="0" anchor="ctr"/>
          <a:lstStyle/>
          <a:p>
            <a:pPr marL="0" indent="0">
              <a:buNone/>
            </a:pPr>
            <a:r>
              <a:rPr lang="en-US" sz="1400" b="1" dirty="0">
                <a:solidFill>
                  <a:srgbClr val="4ADE80"/>
                </a:solidFill>
                <a:latin typeface="Consolas" pitchFamily="34" charset="0"/>
                <a:ea typeface="Consolas" pitchFamily="34" charset="-122"/>
                <a:cs typeface="Consolas" pitchFamily="34" charset="-120"/>
              </a:rPr>
              <a:t>fork() </a:t>
            </a:r>
            <a:r>
              <a:rPr lang="en-US" sz="1400" dirty="0">
                <a:solidFill>
                  <a:srgbClr val="CBD5E1"/>
                </a:solidFill>
                <a:latin typeface="Calibri" pitchFamily="34" charset="0"/>
                <a:ea typeface="Calibri" pitchFamily="34" charset="-122"/>
                <a:cs typeface="Calibri" pitchFamily="34" charset="-120"/>
              </a:rPr>
              <a:t>creates a new process entity by cloning the parent.</a:t>
            </a:r>
            <a:endParaRPr lang="en-US" sz="1400" dirty="0"/>
          </a:p>
        </p:txBody>
      </p:sp>
      <p:sp>
        <p:nvSpPr>
          <p:cNvPr id="26" name="Card"/>
          <p:cNvSpPr/>
          <p:nvPr/>
        </p:nvSpPr>
        <p:spPr>
          <a:xfrm>
            <a:off x="6199632" y="5074920"/>
            <a:ext cx="5532120" cy="1051560"/>
          </a:xfrm>
          <a:prstGeom prst="roundRect">
            <a:avLst>
              <a:gd name="adj" fmla="val 10435"/>
            </a:avLst>
          </a:prstGeom>
          <a:solidFill>
            <a:srgbClr val="112641"/>
          </a:solidFill>
          <a:ln w="12700">
            <a:solidFill>
              <a:srgbClr val="1E3A5F"/>
            </a:solidFill>
            <a:prstDash val="solid"/>
          </a:ln>
        </p:spPr>
      </p:sp>
      <p:sp>
        <p:nvSpPr>
          <p:cNvPr id="27" name="Text 25"/>
          <p:cNvSpPr txBox="1"/>
          <p:nvPr/>
        </p:nvSpPr>
        <p:spPr>
          <a:xfrm>
            <a:off x="6473952" y="5074920"/>
            <a:ext cx="5029200" cy="1051560"/>
          </a:xfrm>
          <a:prstGeom prst="rect">
            <a:avLst/>
          </a:prstGeom>
          <a:noFill/>
          <a:ln/>
        </p:spPr>
        <p:txBody>
          <a:bodyPr wrap="square" lIns="0" tIns="0" rIns="0" bIns="0" rtlCol="0" anchor="ctr"/>
          <a:lstStyle/>
          <a:p>
            <a:pPr marL="0" indent="0">
              <a:buNone/>
            </a:pPr>
            <a:r>
              <a:rPr lang="en-US" sz="1400" b="1" dirty="0">
                <a:solidFill>
                  <a:srgbClr val="FBBF24"/>
                </a:solidFill>
                <a:latin typeface="Consolas" pitchFamily="34" charset="0"/>
                <a:ea typeface="Consolas" pitchFamily="34" charset="-122"/>
                <a:cs typeface="Consolas" pitchFamily="34" charset="-120"/>
              </a:rPr>
              <a:t>exec() </a:t>
            </a:r>
            <a:r>
              <a:rPr lang="en-US" sz="1400" dirty="0">
                <a:solidFill>
                  <a:srgbClr val="CBD5E1"/>
                </a:solidFill>
                <a:latin typeface="Calibri" pitchFamily="34" charset="0"/>
                <a:ea typeface="Calibri" pitchFamily="34" charset="-122"/>
                <a:cs typeface="Calibri" pitchFamily="34" charset="-120"/>
              </a:rPr>
              <a:t>overlays the program image inside an existing process.</a:t>
            </a:r>
            <a:endParaRPr lang="en-US" sz="1400" dirty="0"/>
          </a:p>
        </p:txBody>
      </p:sp>
      <p:sp>
        <p:nvSpPr>
          <p:cNvPr id="28"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ill"/>
          <p:cNvSpPr/>
          <p:nvPr/>
        </p:nvSpPr>
        <p:spPr>
          <a:xfrm>
            <a:off x="457200" y="274320"/>
            <a:ext cx="1711757"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 4 · IPC</a:t>
            </a:r>
            <a:endParaRPr lang="en-US" sz="1100" dirty="0"/>
          </a:p>
        </p:txBody>
      </p:sp>
      <p:sp>
        <p:nvSpPr>
          <p:cNvPr id="3" name="Pill"/>
          <p:cNvSpPr/>
          <p:nvPr/>
        </p:nvSpPr>
        <p:spPr>
          <a:xfrm>
            <a:off x="10201961" y="274320"/>
            <a:ext cx="1532534"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Kernel Pipes</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Inter-Process Communication</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Anonymous pipes stream bytes between parent and child entirely in kernel memory</a:t>
            </a:r>
            <a:endParaRPr lang="en-US" sz="1400" dirty="0"/>
          </a:p>
        </p:txBody>
      </p:sp>
      <p:sp>
        <p:nvSpPr>
          <p:cNvPr id="6" name="Card"/>
          <p:cNvSpPr/>
          <p:nvPr/>
        </p:nvSpPr>
        <p:spPr>
          <a:xfrm>
            <a:off x="457200" y="1828800"/>
            <a:ext cx="2926080" cy="2011680"/>
          </a:xfrm>
          <a:prstGeom prst="roundRect">
            <a:avLst>
              <a:gd name="adj" fmla="val 5455"/>
            </a:avLst>
          </a:prstGeom>
          <a:solidFill>
            <a:srgbClr val="112641"/>
          </a:solidFill>
          <a:ln w="12700">
            <a:solidFill>
              <a:srgbClr val="1E3A5F"/>
            </a:solidFill>
            <a:prstDash val="solid"/>
          </a:ln>
        </p:spPr>
      </p:sp>
      <p:sp>
        <p:nvSpPr>
          <p:cNvPr id="7" name="Text 5"/>
          <p:cNvSpPr txBox="1"/>
          <p:nvPr/>
        </p:nvSpPr>
        <p:spPr>
          <a:xfrm>
            <a:off x="457200" y="1965960"/>
            <a:ext cx="2926080" cy="274320"/>
          </a:xfrm>
          <a:prstGeom prst="rect">
            <a:avLst/>
          </a:prstGeom>
          <a:noFill/>
          <a:ln/>
        </p:spPr>
        <p:txBody>
          <a:bodyPr wrap="square" lIns="0" tIns="0" rIns="0" bIns="0" rtlCol="0" anchor="t"/>
          <a:lstStyle/>
          <a:p>
            <a:pPr marL="0" indent="0" algn="ctr">
              <a:buNone/>
            </a:pPr>
            <a:r>
              <a:rPr lang="en-US" sz="1400" b="1" dirty="0">
                <a:solidFill>
                  <a:srgbClr val="F8FAFC"/>
                </a:solidFill>
                <a:latin typeface="Calibri" pitchFamily="34" charset="0"/>
                <a:ea typeface="Calibri" pitchFamily="34" charset="-122"/>
                <a:cs typeface="Calibri" pitchFamily="34" charset="-120"/>
              </a:rPr>
              <a:t>CHILD PROCESS</a:t>
            </a:r>
            <a:endParaRPr lang="en-US" sz="1400" dirty="0"/>
          </a:p>
        </p:txBody>
      </p:sp>
      <p:sp>
        <p:nvSpPr>
          <p:cNvPr id="8" name="Text 6"/>
          <p:cNvSpPr txBox="1"/>
          <p:nvPr/>
        </p:nvSpPr>
        <p:spPr>
          <a:xfrm>
            <a:off x="457200" y="2331720"/>
            <a:ext cx="292608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writes payload</a:t>
            </a:r>
            <a:endParaRPr lang="en-US" sz="1300" dirty="0"/>
          </a:p>
        </p:txBody>
      </p:sp>
      <p:sp>
        <p:nvSpPr>
          <p:cNvPr id="9" name="Text 7"/>
          <p:cNvSpPr/>
          <p:nvPr/>
        </p:nvSpPr>
        <p:spPr>
          <a:xfrm>
            <a:off x="960120" y="2880360"/>
            <a:ext cx="1920240" cy="457200"/>
          </a:xfrm>
          <a:prstGeom prst="roundRect">
            <a:avLst>
              <a:gd name="adj" fmla="val 16000"/>
            </a:avLst>
          </a:prstGeom>
          <a:solidFill>
            <a:srgbClr val="0F2A44"/>
          </a:solidFill>
          <a:ln w="12700">
            <a:solidFill>
              <a:srgbClr val="38BDF8"/>
            </a:solidFill>
          </a:ln>
        </p:spPr>
        <p:txBody>
          <a:bodyPr wrap="square" lIns="0" tIns="0" rIns="0" bIns="0" rtlCol="0" anchor="ctr"/>
          <a:lstStyle/>
          <a:p>
            <a:pPr marL="0" indent="0" algn="ctr">
              <a:buNone/>
            </a:pPr>
            <a:r>
              <a:rPr lang="en-US" sz="1400" b="1" dirty="0">
                <a:solidFill>
                  <a:srgbClr val="00E5FF"/>
                </a:solidFill>
                <a:latin typeface="Consolas" pitchFamily="34" charset="0"/>
                <a:ea typeface="Consolas" pitchFamily="34" charset="-122"/>
                <a:cs typeface="Consolas" pitchFamily="34" charset="-120"/>
              </a:rPr>
              <a:t>pipefd[1]</a:t>
            </a:r>
            <a:endParaRPr lang="en-US" sz="1400" dirty="0"/>
          </a:p>
        </p:txBody>
      </p:sp>
      <p:sp>
        <p:nvSpPr>
          <p:cNvPr id="10" name="Card"/>
          <p:cNvSpPr/>
          <p:nvPr/>
        </p:nvSpPr>
        <p:spPr>
          <a:xfrm>
            <a:off x="4572000" y="1828800"/>
            <a:ext cx="3044952" cy="2011680"/>
          </a:xfrm>
          <a:prstGeom prst="roundRect">
            <a:avLst>
              <a:gd name="adj" fmla="val 5455"/>
            </a:avLst>
          </a:prstGeom>
          <a:solidFill>
            <a:srgbClr val="0D1B2E"/>
          </a:solidFill>
          <a:ln w="12700">
            <a:solidFill>
              <a:srgbClr val="38BDF8"/>
            </a:solidFill>
            <a:prstDash val="solid"/>
          </a:ln>
        </p:spPr>
      </p:sp>
      <p:sp>
        <p:nvSpPr>
          <p:cNvPr id="11" name="Text 9"/>
          <p:cNvSpPr txBox="1"/>
          <p:nvPr/>
        </p:nvSpPr>
        <p:spPr>
          <a:xfrm>
            <a:off x="4572000" y="1965960"/>
            <a:ext cx="3044952" cy="274320"/>
          </a:xfrm>
          <a:prstGeom prst="rect">
            <a:avLst/>
          </a:prstGeom>
          <a:noFill/>
          <a:ln/>
        </p:spPr>
        <p:txBody>
          <a:bodyPr wrap="square" lIns="0" tIns="0" rIns="0" bIns="0" rtlCol="0" anchor="t"/>
          <a:lstStyle/>
          <a:p>
            <a:pPr marL="0" indent="0" algn="ctr">
              <a:buNone/>
            </a:pPr>
            <a:r>
              <a:rPr lang="en-US" sz="1400" b="1" dirty="0">
                <a:solidFill>
                  <a:srgbClr val="00E5FF"/>
                </a:solidFill>
                <a:latin typeface="Calibri" pitchFamily="34" charset="0"/>
                <a:ea typeface="Calibri" pitchFamily="34" charset="-122"/>
                <a:cs typeface="Calibri" pitchFamily="34" charset="-120"/>
              </a:rPr>
              <a:t>KERNEL PIPE BUFFER</a:t>
            </a:r>
            <a:endParaRPr lang="en-US" sz="1400" dirty="0"/>
          </a:p>
        </p:txBody>
      </p:sp>
      <p:sp>
        <p:nvSpPr>
          <p:cNvPr id="12" name="Shape 10"/>
          <p:cNvSpPr/>
          <p:nvPr/>
        </p:nvSpPr>
        <p:spPr>
          <a:xfrm>
            <a:off x="4846320" y="2514600"/>
            <a:ext cx="457200" cy="457200"/>
          </a:xfrm>
          <a:prstGeom prst="roundRect">
            <a:avLst>
              <a:gd name="adj" fmla="val 10000"/>
            </a:avLst>
          </a:prstGeom>
          <a:solidFill>
            <a:srgbClr val="0F2A26"/>
          </a:solidFill>
          <a:ln w="12700">
            <a:solidFill>
              <a:srgbClr val="4ADE80"/>
            </a:solidFill>
            <a:prstDash val="solid"/>
          </a:ln>
        </p:spPr>
      </p:sp>
      <p:sp>
        <p:nvSpPr>
          <p:cNvPr id="13" name="Shape 11"/>
          <p:cNvSpPr/>
          <p:nvPr/>
        </p:nvSpPr>
        <p:spPr>
          <a:xfrm>
            <a:off x="5367528" y="2514600"/>
            <a:ext cx="457200" cy="457200"/>
          </a:xfrm>
          <a:prstGeom prst="roundRect">
            <a:avLst>
              <a:gd name="adj" fmla="val 10000"/>
            </a:avLst>
          </a:prstGeom>
          <a:solidFill>
            <a:srgbClr val="0F2A26"/>
          </a:solidFill>
          <a:ln w="12700">
            <a:solidFill>
              <a:srgbClr val="4ADE80"/>
            </a:solidFill>
            <a:prstDash val="solid"/>
          </a:ln>
        </p:spPr>
      </p:sp>
      <p:sp>
        <p:nvSpPr>
          <p:cNvPr id="14" name="Shape 12"/>
          <p:cNvSpPr/>
          <p:nvPr/>
        </p:nvSpPr>
        <p:spPr>
          <a:xfrm>
            <a:off x="5888736" y="2514600"/>
            <a:ext cx="457200" cy="457200"/>
          </a:xfrm>
          <a:prstGeom prst="roundRect">
            <a:avLst>
              <a:gd name="adj" fmla="val 10000"/>
            </a:avLst>
          </a:prstGeom>
          <a:solidFill>
            <a:srgbClr val="0F2A26"/>
          </a:solidFill>
          <a:ln w="12700">
            <a:solidFill>
              <a:srgbClr val="4ADE80"/>
            </a:solidFill>
            <a:prstDash val="solid"/>
          </a:ln>
        </p:spPr>
      </p:sp>
      <p:sp>
        <p:nvSpPr>
          <p:cNvPr id="15" name="Shape 13"/>
          <p:cNvSpPr/>
          <p:nvPr/>
        </p:nvSpPr>
        <p:spPr>
          <a:xfrm>
            <a:off x="6409944" y="2514600"/>
            <a:ext cx="457200" cy="457200"/>
          </a:xfrm>
          <a:prstGeom prst="roundRect">
            <a:avLst>
              <a:gd name="adj" fmla="val 10000"/>
            </a:avLst>
          </a:prstGeom>
          <a:solidFill>
            <a:srgbClr val="112641"/>
          </a:solidFill>
          <a:ln w="12700">
            <a:solidFill>
              <a:srgbClr val="1E3A5F"/>
            </a:solidFill>
            <a:prstDash val="solid"/>
          </a:ln>
        </p:spPr>
      </p:sp>
      <p:sp>
        <p:nvSpPr>
          <p:cNvPr id="16" name="Shape 14"/>
          <p:cNvSpPr/>
          <p:nvPr/>
        </p:nvSpPr>
        <p:spPr>
          <a:xfrm>
            <a:off x="6931152" y="2514600"/>
            <a:ext cx="457200" cy="457200"/>
          </a:xfrm>
          <a:prstGeom prst="roundRect">
            <a:avLst>
              <a:gd name="adj" fmla="val 10000"/>
            </a:avLst>
          </a:prstGeom>
          <a:solidFill>
            <a:srgbClr val="112641"/>
          </a:solidFill>
          <a:ln w="12700">
            <a:solidFill>
              <a:srgbClr val="1E3A5F"/>
            </a:solidFill>
            <a:prstDash val="solid"/>
          </a:ln>
        </p:spPr>
      </p:sp>
      <p:sp>
        <p:nvSpPr>
          <p:cNvPr id="17" name="Text 15"/>
          <p:cNvSpPr txBox="1"/>
          <p:nvPr/>
        </p:nvSpPr>
        <p:spPr>
          <a:xfrm>
            <a:off x="4572000" y="3200400"/>
            <a:ext cx="3044952"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unidirectional FIFO</a:t>
            </a:r>
            <a:endParaRPr lang="en-US" sz="1300" dirty="0"/>
          </a:p>
        </p:txBody>
      </p:sp>
      <p:sp>
        <p:nvSpPr>
          <p:cNvPr id="18" name="Card"/>
          <p:cNvSpPr/>
          <p:nvPr/>
        </p:nvSpPr>
        <p:spPr>
          <a:xfrm>
            <a:off x="8805672" y="1828800"/>
            <a:ext cx="2926080" cy="2011680"/>
          </a:xfrm>
          <a:prstGeom prst="roundRect">
            <a:avLst>
              <a:gd name="adj" fmla="val 5455"/>
            </a:avLst>
          </a:prstGeom>
          <a:solidFill>
            <a:srgbClr val="112641"/>
          </a:solidFill>
          <a:ln w="12700">
            <a:solidFill>
              <a:srgbClr val="1E3A5F"/>
            </a:solidFill>
            <a:prstDash val="solid"/>
          </a:ln>
        </p:spPr>
      </p:sp>
      <p:sp>
        <p:nvSpPr>
          <p:cNvPr id="19" name="Text 17"/>
          <p:cNvSpPr txBox="1"/>
          <p:nvPr/>
        </p:nvSpPr>
        <p:spPr>
          <a:xfrm>
            <a:off x="8805672" y="1965960"/>
            <a:ext cx="2926080" cy="274320"/>
          </a:xfrm>
          <a:prstGeom prst="rect">
            <a:avLst/>
          </a:prstGeom>
          <a:noFill/>
          <a:ln/>
        </p:spPr>
        <p:txBody>
          <a:bodyPr wrap="square" lIns="0" tIns="0" rIns="0" bIns="0" rtlCol="0" anchor="t"/>
          <a:lstStyle/>
          <a:p>
            <a:pPr marL="0" indent="0" algn="ctr">
              <a:buNone/>
            </a:pPr>
            <a:r>
              <a:rPr lang="en-US" sz="1400" b="1" dirty="0">
                <a:solidFill>
                  <a:srgbClr val="F8FAFC"/>
                </a:solidFill>
                <a:latin typeface="Calibri" pitchFamily="34" charset="0"/>
                <a:ea typeface="Calibri" pitchFamily="34" charset="-122"/>
                <a:cs typeface="Calibri" pitchFamily="34" charset="-120"/>
              </a:rPr>
              <a:t>PARENT PROCESS</a:t>
            </a:r>
            <a:endParaRPr lang="en-US" sz="1400" dirty="0"/>
          </a:p>
        </p:txBody>
      </p:sp>
      <p:sp>
        <p:nvSpPr>
          <p:cNvPr id="20" name="Text 18"/>
          <p:cNvSpPr txBox="1"/>
          <p:nvPr/>
        </p:nvSpPr>
        <p:spPr>
          <a:xfrm>
            <a:off x="8805672" y="2331720"/>
            <a:ext cx="2926080" cy="274320"/>
          </a:xfrm>
          <a:prstGeom prst="rect">
            <a:avLst/>
          </a:prstGeom>
          <a:noFill/>
          <a:ln/>
        </p:spPr>
        <p:txBody>
          <a:bodyPr wrap="square" lIns="0" tIns="0" rIns="0" bIns="0" rtlCol="0" anchor="t"/>
          <a:lstStyle/>
          <a:p>
            <a:pPr marL="0" indent="0" algn="ctr">
              <a:buNone/>
            </a:pPr>
            <a:r>
              <a:rPr lang="en-US" sz="1300" dirty="0">
                <a:solidFill>
                  <a:srgbClr val="94A3B8"/>
                </a:solidFill>
                <a:latin typeface="Calibri" pitchFamily="34" charset="0"/>
                <a:ea typeface="Calibri" pitchFamily="34" charset="-122"/>
                <a:cs typeface="Calibri" pitchFamily="34" charset="-120"/>
              </a:rPr>
              <a:t>reads payload</a:t>
            </a:r>
            <a:endParaRPr lang="en-US" sz="1300" dirty="0"/>
          </a:p>
        </p:txBody>
      </p:sp>
      <p:sp>
        <p:nvSpPr>
          <p:cNvPr id="21" name="Text 19"/>
          <p:cNvSpPr/>
          <p:nvPr/>
        </p:nvSpPr>
        <p:spPr>
          <a:xfrm>
            <a:off x="9308592" y="2880360"/>
            <a:ext cx="1920240" cy="457200"/>
          </a:xfrm>
          <a:prstGeom prst="roundRect">
            <a:avLst>
              <a:gd name="adj" fmla="val 16000"/>
            </a:avLst>
          </a:prstGeom>
          <a:solidFill>
            <a:srgbClr val="0F2A44"/>
          </a:solidFill>
          <a:ln w="12700">
            <a:solidFill>
              <a:srgbClr val="38BDF8"/>
            </a:solidFill>
          </a:ln>
        </p:spPr>
        <p:txBody>
          <a:bodyPr wrap="square" lIns="0" tIns="0" rIns="0" bIns="0" rtlCol="0" anchor="ctr"/>
          <a:lstStyle/>
          <a:p>
            <a:pPr marL="0" indent="0" algn="ctr">
              <a:buNone/>
            </a:pPr>
            <a:r>
              <a:rPr lang="en-US" sz="1400" b="1" dirty="0">
                <a:solidFill>
                  <a:srgbClr val="00E5FF"/>
                </a:solidFill>
                <a:latin typeface="Consolas" pitchFamily="34" charset="0"/>
                <a:ea typeface="Consolas" pitchFamily="34" charset="-122"/>
                <a:cs typeface="Consolas" pitchFamily="34" charset="-120"/>
              </a:rPr>
              <a:t>pipefd[0]</a:t>
            </a:r>
            <a:endParaRPr lang="en-US" sz="1400" dirty="0"/>
          </a:p>
        </p:txBody>
      </p:sp>
      <p:sp>
        <p:nvSpPr>
          <p:cNvPr id="22" name="Shape 20"/>
          <p:cNvSpPr/>
          <p:nvPr/>
        </p:nvSpPr>
        <p:spPr>
          <a:xfrm>
            <a:off x="3456432" y="2834640"/>
            <a:ext cx="1069848" cy="0"/>
          </a:xfrm>
          <a:prstGeom prst="line">
            <a:avLst/>
          </a:prstGeom>
          <a:noFill/>
          <a:ln w="25400">
            <a:solidFill>
              <a:srgbClr val="4ADE80"/>
            </a:solidFill>
            <a:prstDash val="solid"/>
            <a:tailEnd type="triangle"/>
          </a:ln>
        </p:spPr>
      </p:sp>
      <p:sp>
        <p:nvSpPr>
          <p:cNvPr id="23" name="Text 21"/>
          <p:cNvSpPr txBox="1"/>
          <p:nvPr/>
        </p:nvSpPr>
        <p:spPr>
          <a:xfrm>
            <a:off x="3456432" y="2468880"/>
            <a:ext cx="1069848" cy="274320"/>
          </a:xfrm>
          <a:prstGeom prst="rect">
            <a:avLst/>
          </a:prstGeom>
          <a:noFill/>
          <a:ln/>
        </p:spPr>
        <p:txBody>
          <a:bodyPr wrap="square" lIns="0" tIns="0" rIns="0" bIns="0" rtlCol="0" anchor="t"/>
          <a:lstStyle/>
          <a:p>
            <a:pPr marL="0" indent="0" algn="ctr">
              <a:buNone/>
            </a:pPr>
            <a:r>
              <a:rPr lang="en-US" sz="1200" dirty="0">
                <a:solidFill>
                  <a:srgbClr val="4ADE80"/>
                </a:solidFill>
                <a:latin typeface="Consolas" pitchFamily="34" charset="0"/>
                <a:ea typeface="Consolas" pitchFamily="34" charset="-122"/>
                <a:cs typeface="Consolas" pitchFamily="34" charset="-120"/>
              </a:rPr>
              <a:t>write()</a:t>
            </a:r>
            <a:endParaRPr lang="en-US" sz="1200" dirty="0"/>
          </a:p>
        </p:txBody>
      </p:sp>
      <p:sp>
        <p:nvSpPr>
          <p:cNvPr id="24" name="Shape 22"/>
          <p:cNvSpPr/>
          <p:nvPr/>
        </p:nvSpPr>
        <p:spPr>
          <a:xfrm>
            <a:off x="7690104" y="2834640"/>
            <a:ext cx="1042416" cy="0"/>
          </a:xfrm>
          <a:prstGeom prst="line">
            <a:avLst/>
          </a:prstGeom>
          <a:noFill/>
          <a:ln w="25400">
            <a:solidFill>
              <a:srgbClr val="4ADE80"/>
            </a:solidFill>
            <a:prstDash val="solid"/>
            <a:tailEnd type="triangle"/>
          </a:ln>
        </p:spPr>
      </p:sp>
      <p:sp>
        <p:nvSpPr>
          <p:cNvPr id="25" name="Text 23"/>
          <p:cNvSpPr txBox="1"/>
          <p:nvPr/>
        </p:nvSpPr>
        <p:spPr>
          <a:xfrm>
            <a:off x="7690104" y="2468880"/>
            <a:ext cx="1042416" cy="274320"/>
          </a:xfrm>
          <a:prstGeom prst="rect">
            <a:avLst/>
          </a:prstGeom>
          <a:noFill/>
          <a:ln/>
        </p:spPr>
        <p:txBody>
          <a:bodyPr wrap="square" lIns="0" tIns="0" rIns="0" bIns="0" rtlCol="0" anchor="t"/>
          <a:lstStyle/>
          <a:p>
            <a:pPr marL="0" indent="0" algn="ctr">
              <a:buNone/>
            </a:pPr>
            <a:r>
              <a:rPr lang="en-US" sz="1200" dirty="0">
                <a:solidFill>
                  <a:srgbClr val="4ADE80"/>
                </a:solidFill>
                <a:latin typeface="Consolas" pitchFamily="34" charset="0"/>
                <a:ea typeface="Consolas" pitchFamily="34" charset="-122"/>
                <a:cs typeface="Consolas" pitchFamily="34" charset="-120"/>
              </a:rPr>
              <a:t>read()</a:t>
            </a:r>
            <a:endParaRPr lang="en-US" sz="1200" dirty="0"/>
          </a:p>
        </p:txBody>
      </p:sp>
      <p:sp>
        <p:nvSpPr>
          <p:cNvPr id="26" name="Card"/>
          <p:cNvSpPr/>
          <p:nvPr/>
        </p:nvSpPr>
        <p:spPr>
          <a:xfrm>
            <a:off x="457200" y="4114800"/>
            <a:ext cx="3575304" cy="2011680"/>
          </a:xfrm>
          <a:prstGeom prst="roundRect">
            <a:avLst>
              <a:gd name="adj" fmla="val 5455"/>
            </a:avLst>
          </a:prstGeom>
          <a:solidFill>
            <a:srgbClr val="0D1B2E"/>
          </a:solidFill>
          <a:ln w="12700">
            <a:solidFill>
              <a:srgbClr val="1E3A5F"/>
            </a:solidFill>
            <a:prstDash val="solid"/>
          </a:ln>
        </p:spPr>
      </p:sp>
      <p:sp>
        <p:nvSpPr>
          <p:cNvPr id="27" name="IconCircle"/>
          <p:cNvSpPr/>
          <p:nvPr/>
        </p:nvSpPr>
        <p:spPr>
          <a:xfrm>
            <a:off x="685800" y="4297680"/>
            <a:ext cx="457200" cy="457200"/>
          </a:xfrm>
          <a:prstGeom prst="ellipse">
            <a:avLst/>
          </a:prstGeom>
          <a:solidFill>
            <a:srgbClr val="0F2A44"/>
          </a:solidFill>
          <a:ln w="12700">
            <a:solidFill>
              <a:srgbClr val="1E3A5F"/>
            </a:solidFill>
            <a:prstDash val="solid"/>
          </a:ln>
        </p:spPr>
      </p:sp>
      <p:pic>
        <p:nvPicPr>
          <p:cNvPr id="28" name="Image 0" descr="FaExchangeAlt"/>
          <p:cNvPicPr>
            <a:picLocks noChangeAspect="1"/>
          </p:cNvPicPr>
          <p:nvPr/>
        </p:nvPicPr>
        <p:blipFill>
          <a:blip r:embed="rId3"/>
          <a:stretch>
            <a:fillRect/>
          </a:stretch>
        </p:blipFill>
        <p:spPr>
          <a:xfrm>
            <a:off x="809244" y="4421124"/>
            <a:ext cx="210312" cy="210312"/>
          </a:xfrm>
          <a:prstGeom prst="rect">
            <a:avLst/>
          </a:prstGeom>
        </p:spPr>
      </p:pic>
      <p:sp>
        <p:nvSpPr>
          <p:cNvPr id="29" name="Text 26"/>
          <p:cNvSpPr txBox="1"/>
          <p:nvPr/>
        </p:nvSpPr>
        <p:spPr>
          <a:xfrm>
            <a:off x="1325880" y="4297680"/>
            <a:ext cx="2560320" cy="457200"/>
          </a:xfrm>
          <a:prstGeom prst="rect">
            <a:avLst/>
          </a:prstGeom>
          <a:noFill/>
          <a:ln/>
        </p:spPr>
        <p:txBody>
          <a:bodyPr wrap="square" lIns="0" tIns="0" rIns="0" bIns="0" rtlCol="0" anchor="ctr"/>
          <a:lstStyle/>
          <a:p>
            <a:pPr marL="0" indent="0">
              <a:buNone/>
            </a:pPr>
            <a:r>
              <a:rPr lang="en-US" sz="1600" b="1" dirty="0">
                <a:solidFill>
                  <a:srgbClr val="F8FAFC"/>
                </a:solidFill>
                <a:latin typeface="Calibri" pitchFamily="34" charset="0"/>
                <a:ea typeface="Calibri" pitchFamily="34" charset="-122"/>
                <a:cs typeface="Calibri" pitchFamily="34" charset="-120"/>
              </a:rPr>
              <a:t>Unidirectional FIFO</a:t>
            </a:r>
            <a:endParaRPr lang="en-US" sz="1600" dirty="0"/>
          </a:p>
        </p:txBody>
      </p:sp>
      <p:sp>
        <p:nvSpPr>
          <p:cNvPr id="30" name="Text 27"/>
          <p:cNvSpPr txBox="1"/>
          <p:nvPr/>
        </p:nvSpPr>
        <p:spPr>
          <a:xfrm>
            <a:off x="685800" y="4983480"/>
            <a:ext cx="3108960" cy="100584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pipe(pipefd) allocates a one-way ring buffer in kernel memory.</a:t>
            </a:r>
            <a:endParaRPr lang="en-US" sz="1400" dirty="0"/>
          </a:p>
        </p:txBody>
      </p:sp>
      <p:sp>
        <p:nvSpPr>
          <p:cNvPr id="31" name="Card"/>
          <p:cNvSpPr/>
          <p:nvPr/>
        </p:nvSpPr>
        <p:spPr>
          <a:xfrm>
            <a:off x="4306824" y="4114800"/>
            <a:ext cx="3575304" cy="2011680"/>
          </a:xfrm>
          <a:prstGeom prst="roundRect">
            <a:avLst>
              <a:gd name="adj" fmla="val 5455"/>
            </a:avLst>
          </a:prstGeom>
          <a:solidFill>
            <a:srgbClr val="0D1B2E"/>
          </a:solidFill>
          <a:ln w="12700">
            <a:solidFill>
              <a:srgbClr val="1E3A5F"/>
            </a:solidFill>
            <a:prstDash val="solid"/>
          </a:ln>
        </p:spPr>
      </p:sp>
      <p:sp>
        <p:nvSpPr>
          <p:cNvPr id="32" name="IconCircle"/>
          <p:cNvSpPr/>
          <p:nvPr/>
        </p:nvSpPr>
        <p:spPr>
          <a:xfrm>
            <a:off x="4535424" y="4297680"/>
            <a:ext cx="457200" cy="457200"/>
          </a:xfrm>
          <a:prstGeom prst="ellipse">
            <a:avLst/>
          </a:prstGeom>
          <a:solidFill>
            <a:srgbClr val="0F2A44"/>
          </a:solidFill>
          <a:ln w="12700">
            <a:solidFill>
              <a:srgbClr val="1E3A5F"/>
            </a:solidFill>
            <a:prstDash val="solid"/>
          </a:ln>
        </p:spPr>
      </p:sp>
      <p:pic>
        <p:nvPicPr>
          <p:cNvPr id="33" name="Image 1" descr="FaBolt"/>
          <p:cNvPicPr>
            <a:picLocks noChangeAspect="1"/>
          </p:cNvPicPr>
          <p:nvPr/>
        </p:nvPicPr>
        <p:blipFill>
          <a:blip r:embed="rId4"/>
          <a:stretch>
            <a:fillRect/>
          </a:stretch>
        </p:blipFill>
        <p:spPr>
          <a:xfrm>
            <a:off x="4658868" y="4421124"/>
            <a:ext cx="210312" cy="210312"/>
          </a:xfrm>
          <a:prstGeom prst="rect">
            <a:avLst/>
          </a:prstGeom>
        </p:spPr>
      </p:pic>
      <p:sp>
        <p:nvSpPr>
          <p:cNvPr id="34" name="Text 30"/>
          <p:cNvSpPr txBox="1"/>
          <p:nvPr/>
        </p:nvSpPr>
        <p:spPr>
          <a:xfrm>
            <a:off x="5175504" y="4297680"/>
            <a:ext cx="2560320" cy="457200"/>
          </a:xfrm>
          <a:prstGeom prst="rect">
            <a:avLst/>
          </a:prstGeom>
          <a:noFill/>
          <a:ln/>
        </p:spPr>
        <p:txBody>
          <a:bodyPr wrap="square" lIns="0" tIns="0" rIns="0" bIns="0" rtlCol="0" anchor="ctr"/>
          <a:lstStyle/>
          <a:p>
            <a:pPr marL="0" indent="0">
              <a:buNone/>
            </a:pPr>
            <a:r>
              <a:rPr lang="en-US" sz="1600" b="1" dirty="0">
                <a:solidFill>
                  <a:srgbClr val="F8FAFC"/>
                </a:solidFill>
                <a:latin typeface="Calibri" pitchFamily="34" charset="0"/>
                <a:ea typeface="Calibri" pitchFamily="34" charset="-122"/>
                <a:cs typeface="Calibri" pitchFamily="34" charset="-120"/>
              </a:rPr>
              <a:t>Zero Disk I/O</a:t>
            </a:r>
            <a:endParaRPr lang="en-US" sz="1600" dirty="0"/>
          </a:p>
        </p:txBody>
      </p:sp>
      <p:sp>
        <p:nvSpPr>
          <p:cNvPr id="35" name="Text 31"/>
          <p:cNvSpPr txBox="1"/>
          <p:nvPr/>
        </p:nvSpPr>
        <p:spPr>
          <a:xfrm>
            <a:off x="4535424" y="4983480"/>
            <a:ext cx="3108960" cy="100584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Data flows through kernel memory across process address spaces.</a:t>
            </a:r>
            <a:endParaRPr lang="en-US" sz="1400" dirty="0"/>
          </a:p>
        </p:txBody>
      </p:sp>
      <p:sp>
        <p:nvSpPr>
          <p:cNvPr id="36" name="Card"/>
          <p:cNvSpPr/>
          <p:nvPr/>
        </p:nvSpPr>
        <p:spPr>
          <a:xfrm>
            <a:off x="8156448" y="4114800"/>
            <a:ext cx="3575304" cy="2011680"/>
          </a:xfrm>
          <a:prstGeom prst="roundRect">
            <a:avLst>
              <a:gd name="adj" fmla="val 5455"/>
            </a:avLst>
          </a:prstGeom>
          <a:solidFill>
            <a:srgbClr val="0D1B2E"/>
          </a:solidFill>
          <a:ln w="12700">
            <a:solidFill>
              <a:srgbClr val="1E3A5F"/>
            </a:solidFill>
            <a:prstDash val="solid"/>
          </a:ln>
        </p:spPr>
      </p:sp>
      <p:sp>
        <p:nvSpPr>
          <p:cNvPr id="37" name="IconCircle"/>
          <p:cNvSpPr/>
          <p:nvPr/>
        </p:nvSpPr>
        <p:spPr>
          <a:xfrm>
            <a:off x="8385048" y="4297680"/>
            <a:ext cx="457200" cy="457200"/>
          </a:xfrm>
          <a:prstGeom prst="ellipse">
            <a:avLst/>
          </a:prstGeom>
          <a:solidFill>
            <a:srgbClr val="0F2A44"/>
          </a:solidFill>
          <a:ln w="12700">
            <a:solidFill>
              <a:srgbClr val="1E3A5F"/>
            </a:solidFill>
            <a:prstDash val="solid"/>
          </a:ln>
        </p:spPr>
      </p:sp>
      <p:pic>
        <p:nvPicPr>
          <p:cNvPr id="38" name="Image 2" descr="FaCheckCircle"/>
          <p:cNvPicPr>
            <a:picLocks noChangeAspect="1"/>
          </p:cNvPicPr>
          <p:nvPr/>
        </p:nvPicPr>
        <p:blipFill>
          <a:blip r:embed="rId5"/>
          <a:stretch>
            <a:fillRect/>
          </a:stretch>
        </p:blipFill>
        <p:spPr>
          <a:xfrm>
            <a:off x="8508492" y="4421124"/>
            <a:ext cx="210312" cy="210312"/>
          </a:xfrm>
          <a:prstGeom prst="rect">
            <a:avLst/>
          </a:prstGeom>
        </p:spPr>
      </p:pic>
      <p:sp>
        <p:nvSpPr>
          <p:cNvPr id="39" name="Text 34"/>
          <p:cNvSpPr txBox="1"/>
          <p:nvPr/>
        </p:nvSpPr>
        <p:spPr>
          <a:xfrm>
            <a:off x="9025128" y="4297680"/>
            <a:ext cx="2560320" cy="457200"/>
          </a:xfrm>
          <a:prstGeom prst="rect">
            <a:avLst/>
          </a:prstGeom>
          <a:noFill/>
          <a:ln/>
        </p:spPr>
        <p:txBody>
          <a:bodyPr wrap="square" lIns="0" tIns="0" rIns="0" bIns="0" rtlCol="0" anchor="ctr"/>
          <a:lstStyle/>
          <a:p>
            <a:pPr marL="0" indent="0">
              <a:buNone/>
            </a:pPr>
            <a:r>
              <a:rPr lang="en-US" sz="1600" b="1" dirty="0">
                <a:solidFill>
                  <a:srgbClr val="F8FAFC"/>
                </a:solidFill>
                <a:latin typeface="Calibri" pitchFamily="34" charset="0"/>
                <a:ea typeface="Calibri" pitchFamily="34" charset="-122"/>
                <a:cs typeface="Calibri" pitchFamily="34" charset="-120"/>
              </a:rPr>
              <a:t>Clean Teardown</a:t>
            </a:r>
            <a:endParaRPr lang="en-US" sz="1600" dirty="0"/>
          </a:p>
        </p:txBody>
      </p:sp>
      <p:sp>
        <p:nvSpPr>
          <p:cNvPr id="40" name="Text 35"/>
          <p:cNvSpPr txBox="1"/>
          <p:nvPr/>
        </p:nvSpPr>
        <p:spPr>
          <a:xfrm>
            <a:off x="8385048" y="4983480"/>
            <a:ext cx="3108960" cy="100584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Unused descriptor ends are closed so the reader detects EOF.</a:t>
            </a:r>
            <a:endParaRPr lang="en-US" sz="1400" dirty="0"/>
          </a:p>
        </p:txBody>
      </p:sp>
      <p:sp>
        <p:nvSpPr>
          <p:cNvPr id="41"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ill"/>
          <p:cNvSpPr/>
          <p:nvPr/>
        </p:nvSpPr>
        <p:spPr>
          <a:xfrm>
            <a:off x="457200" y="274320"/>
            <a:ext cx="2070202"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 4 · SIGNALS</a:t>
            </a:r>
            <a:endParaRPr lang="en-US" sz="1100" dirty="0"/>
          </a:p>
        </p:txBody>
      </p:sp>
      <p:sp>
        <p:nvSpPr>
          <p:cNvPr id="3" name="Pill"/>
          <p:cNvSpPr/>
          <p:nvPr/>
        </p:nvSpPr>
        <p:spPr>
          <a:xfrm>
            <a:off x="10201961" y="274320"/>
            <a:ext cx="1532534"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Async Events</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POSIX Signal Handling</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Asynchronous interrupts delivered straight to a target process</a:t>
            </a:r>
            <a:endParaRPr lang="en-US" sz="1400" dirty="0"/>
          </a:p>
        </p:txBody>
      </p:sp>
      <p:sp>
        <p:nvSpPr>
          <p:cNvPr id="6" name="Card"/>
          <p:cNvSpPr/>
          <p:nvPr/>
        </p:nvSpPr>
        <p:spPr>
          <a:xfrm>
            <a:off x="457200" y="1828800"/>
            <a:ext cx="6675120" cy="1234440"/>
          </a:xfrm>
          <a:prstGeom prst="roundRect">
            <a:avLst>
              <a:gd name="adj" fmla="val 8889"/>
            </a:avLst>
          </a:prstGeom>
          <a:solidFill>
            <a:srgbClr val="0D1B2E"/>
          </a:solidFill>
          <a:ln w="12700">
            <a:solidFill>
              <a:srgbClr val="1E3A5F"/>
            </a:solidFill>
            <a:prstDash val="solid"/>
          </a:ln>
        </p:spPr>
      </p:sp>
      <p:sp>
        <p:nvSpPr>
          <p:cNvPr id="7" name="Shape 5"/>
          <p:cNvSpPr/>
          <p:nvPr/>
        </p:nvSpPr>
        <p:spPr>
          <a:xfrm>
            <a:off x="731520" y="2212848"/>
            <a:ext cx="457200" cy="457200"/>
          </a:xfrm>
          <a:prstGeom prst="ellipse">
            <a:avLst/>
          </a:prstGeom>
          <a:solidFill>
            <a:srgbClr val="0F2A44"/>
          </a:solidFill>
          <a:ln w="12700">
            <a:solidFill>
              <a:srgbClr val="38BDF8"/>
            </a:solidFill>
            <a:prstDash val="solid"/>
          </a:ln>
        </p:spPr>
      </p:sp>
      <p:sp>
        <p:nvSpPr>
          <p:cNvPr id="8" name="Text 6"/>
          <p:cNvSpPr txBox="1"/>
          <p:nvPr/>
        </p:nvSpPr>
        <p:spPr>
          <a:xfrm>
            <a:off x="731520" y="2212848"/>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1</a:t>
            </a:r>
            <a:endParaRPr lang="en-US" sz="1500" dirty="0"/>
          </a:p>
        </p:txBody>
      </p:sp>
      <p:sp>
        <p:nvSpPr>
          <p:cNvPr id="9" name="Text 7"/>
          <p:cNvSpPr txBox="1"/>
          <p:nvPr/>
        </p:nvSpPr>
        <p:spPr>
          <a:xfrm>
            <a:off x="1463040" y="1965960"/>
            <a:ext cx="5394960" cy="320040"/>
          </a:xfrm>
          <a:prstGeom prst="rect">
            <a:avLst/>
          </a:prstGeom>
          <a:noFill/>
          <a:ln/>
        </p:spPr>
        <p:txBody>
          <a:bodyPr wrap="square" lIns="0" tIns="0" rIns="0" bIns="0" rtlCol="0" anchor="t"/>
          <a:lstStyle/>
          <a:p>
            <a:pPr marL="0" indent="0">
              <a:buNone/>
            </a:pPr>
            <a:r>
              <a:rPr lang="en-US" sz="1600" b="1" dirty="0">
                <a:solidFill>
                  <a:srgbClr val="00E5FF"/>
                </a:solidFill>
                <a:latin typeface="Consolas" pitchFamily="34" charset="0"/>
                <a:ea typeface="Consolas" pitchFamily="34" charset="-122"/>
                <a:cs typeface="Consolas" pitchFamily="34" charset="-120"/>
              </a:rPr>
              <a:t>sigaction()</a:t>
            </a:r>
            <a:endParaRPr lang="en-US" sz="1600" dirty="0"/>
          </a:p>
        </p:txBody>
      </p:sp>
      <p:sp>
        <p:nvSpPr>
          <p:cNvPr id="10" name="Text 8"/>
          <p:cNvSpPr txBox="1"/>
          <p:nvPr/>
        </p:nvSpPr>
        <p:spPr>
          <a:xfrm>
            <a:off x="1463040" y="2331720"/>
            <a:ext cx="53949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Installs a reliable SIGUSR1 handler with explicit mask flags — preferred over the legacy signal() API.</a:t>
            </a:r>
            <a:endParaRPr lang="en-US" sz="1400" dirty="0"/>
          </a:p>
        </p:txBody>
      </p:sp>
      <p:sp>
        <p:nvSpPr>
          <p:cNvPr id="11" name="Card"/>
          <p:cNvSpPr/>
          <p:nvPr/>
        </p:nvSpPr>
        <p:spPr>
          <a:xfrm>
            <a:off x="457200" y="3246120"/>
            <a:ext cx="6675120" cy="1234440"/>
          </a:xfrm>
          <a:prstGeom prst="roundRect">
            <a:avLst>
              <a:gd name="adj" fmla="val 8889"/>
            </a:avLst>
          </a:prstGeom>
          <a:solidFill>
            <a:srgbClr val="0D1B2E"/>
          </a:solidFill>
          <a:ln w="12700">
            <a:solidFill>
              <a:srgbClr val="1E3A5F"/>
            </a:solidFill>
            <a:prstDash val="solid"/>
          </a:ln>
        </p:spPr>
      </p:sp>
      <p:sp>
        <p:nvSpPr>
          <p:cNvPr id="12" name="Shape 10"/>
          <p:cNvSpPr/>
          <p:nvPr/>
        </p:nvSpPr>
        <p:spPr>
          <a:xfrm>
            <a:off x="731520" y="3630168"/>
            <a:ext cx="457200" cy="457200"/>
          </a:xfrm>
          <a:prstGeom prst="ellipse">
            <a:avLst/>
          </a:prstGeom>
          <a:solidFill>
            <a:srgbClr val="0F2A44"/>
          </a:solidFill>
          <a:ln w="12700">
            <a:solidFill>
              <a:srgbClr val="38BDF8"/>
            </a:solidFill>
            <a:prstDash val="solid"/>
          </a:ln>
        </p:spPr>
      </p:sp>
      <p:sp>
        <p:nvSpPr>
          <p:cNvPr id="13" name="Text 11"/>
          <p:cNvSpPr txBox="1"/>
          <p:nvPr/>
        </p:nvSpPr>
        <p:spPr>
          <a:xfrm>
            <a:off x="731520" y="3630168"/>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2</a:t>
            </a:r>
            <a:endParaRPr lang="en-US" sz="1500" dirty="0"/>
          </a:p>
        </p:txBody>
      </p:sp>
      <p:sp>
        <p:nvSpPr>
          <p:cNvPr id="14" name="Text 12"/>
          <p:cNvSpPr txBox="1"/>
          <p:nvPr/>
        </p:nvSpPr>
        <p:spPr>
          <a:xfrm>
            <a:off x="1463040" y="3383280"/>
            <a:ext cx="5394960" cy="320040"/>
          </a:xfrm>
          <a:prstGeom prst="rect">
            <a:avLst/>
          </a:prstGeom>
          <a:noFill/>
          <a:ln/>
        </p:spPr>
        <p:txBody>
          <a:bodyPr wrap="square" lIns="0" tIns="0" rIns="0" bIns="0" rtlCol="0" anchor="t"/>
          <a:lstStyle/>
          <a:p>
            <a:pPr marL="0" indent="0">
              <a:buNone/>
            </a:pPr>
            <a:r>
              <a:rPr lang="en-US" sz="1600" b="1" dirty="0">
                <a:solidFill>
                  <a:srgbClr val="00E5FF"/>
                </a:solidFill>
                <a:latin typeface="Consolas" pitchFamily="34" charset="0"/>
                <a:ea typeface="Consolas" pitchFamily="34" charset="-122"/>
                <a:cs typeface="Consolas" pitchFamily="34" charset="-120"/>
              </a:rPr>
              <a:t>kill(pid, SIGUSR1)</a:t>
            </a:r>
            <a:endParaRPr lang="en-US" sz="1600" dirty="0"/>
          </a:p>
        </p:txBody>
      </p:sp>
      <p:sp>
        <p:nvSpPr>
          <p:cNvPr id="15" name="Text 13"/>
          <p:cNvSpPr txBox="1"/>
          <p:nvPr/>
        </p:nvSpPr>
        <p:spPr>
          <a:xfrm>
            <a:off x="1463040" y="3749040"/>
            <a:ext cx="53949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Dispatches an asynchronous software interrupt to the target PID without terminating it.</a:t>
            </a:r>
            <a:endParaRPr lang="en-US" sz="1400" dirty="0"/>
          </a:p>
        </p:txBody>
      </p:sp>
      <p:sp>
        <p:nvSpPr>
          <p:cNvPr id="16" name="Card"/>
          <p:cNvSpPr/>
          <p:nvPr/>
        </p:nvSpPr>
        <p:spPr>
          <a:xfrm>
            <a:off x="457200" y="4663440"/>
            <a:ext cx="6675120" cy="1234440"/>
          </a:xfrm>
          <a:prstGeom prst="roundRect">
            <a:avLst>
              <a:gd name="adj" fmla="val 8889"/>
            </a:avLst>
          </a:prstGeom>
          <a:solidFill>
            <a:srgbClr val="0D1B2E"/>
          </a:solidFill>
          <a:ln w="12700">
            <a:solidFill>
              <a:srgbClr val="1E3A5F"/>
            </a:solidFill>
            <a:prstDash val="solid"/>
          </a:ln>
        </p:spPr>
      </p:sp>
      <p:sp>
        <p:nvSpPr>
          <p:cNvPr id="17" name="Shape 15"/>
          <p:cNvSpPr/>
          <p:nvPr/>
        </p:nvSpPr>
        <p:spPr>
          <a:xfrm>
            <a:off x="731520" y="5047488"/>
            <a:ext cx="457200" cy="457200"/>
          </a:xfrm>
          <a:prstGeom prst="ellipse">
            <a:avLst/>
          </a:prstGeom>
          <a:solidFill>
            <a:srgbClr val="0F2A44"/>
          </a:solidFill>
          <a:ln w="12700">
            <a:solidFill>
              <a:srgbClr val="38BDF8"/>
            </a:solidFill>
            <a:prstDash val="solid"/>
          </a:ln>
        </p:spPr>
      </p:sp>
      <p:sp>
        <p:nvSpPr>
          <p:cNvPr id="18" name="Text 16"/>
          <p:cNvSpPr txBox="1"/>
          <p:nvPr/>
        </p:nvSpPr>
        <p:spPr>
          <a:xfrm>
            <a:off x="731520" y="5047488"/>
            <a:ext cx="457200" cy="457200"/>
          </a:xfrm>
          <a:prstGeom prst="rect">
            <a:avLst/>
          </a:prstGeom>
          <a:noFill/>
          <a:ln/>
        </p:spPr>
        <p:txBody>
          <a:bodyPr wrap="square" lIns="0" tIns="0" rIns="0" bIns="0" rtlCol="0" anchor="ctr"/>
          <a:lstStyle/>
          <a:p>
            <a:pPr marL="0" indent="0" algn="ctr">
              <a:buNone/>
            </a:pPr>
            <a:r>
              <a:rPr lang="en-US" sz="1500" b="1" dirty="0">
                <a:solidFill>
                  <a:srgbClr val="00E5FF"/>
                </a:solidFill>
                <a:latin typeface="Consolas" pitchFamily="34" charset="0"/>
                <a:ea typeface="Consolas" pitchFamily="34" charset="-122"/>
                <a:cs typeface="Consolas" pitchFamily="34" charset="-120"/>
              </a:rPr>
              <a:t>3</a:t>
            </a:r>
            <a:endParaRPr lang="en-US" sz="1500" dirty="0"/>
          </a:p>
        </p:txBody>
      </p:sp>
      <p:sp>
        <p:nvSpPr>
          <p:cNvPr id="19" name="Text 17"/>
          <p:cNvSpPr txBox="1"/>
          <p:nvPr/>
        </p:nvSpPr>
        <p:spPr>
          <a:xfrm>
            <a:off x="1463040" y="4800600"/>
            <a:ext cx="5394960" cy="320040"/>
          </a:xfrm>
          <a:prstGeom prst="rect">
            <a:avLst/>
          </a:prstGeom>
          <a:noFill/>
          <a:ln/>
        </p:spPr>
        <p:txBody>
          <a:bodyPr wrap="square" lIns="0" tIns="0" rIns="0" bIns="0" rtlCol="0" anchor="t"/>
          <a:lstStyle/>
          <a:p>
            <a:pPr marL="0" indent="0">
              <a:buNone/>
            </a:pPr>
            <a:r>
              <a:rPr lang="en-US" sz="1600" b="1" dirty="0">
                <a:solidFill>
                  <a:srgbClr val="00E5FF"/>
                </a:solidFill>
                <a:latin typeface="Consolas" pitchFamily="34" charset="0"/>
                <a:ea typeface="Consolas" pitchFamily="34" charset="-122"/>
                <a:cs typeface="Consolas" pitchFamily="34" charset="-120"/>
              </a:rPr>
              <a:t>handler runs</a:t>
            </a:r>
            <a:endParaRPr lang="en-US" sz="1600" dirty="0"/>
          </a:p>
        </p:txBody>
      </p:sp>
      <p:sp>
        <p:nvSpPr>
          <p:cNvPr id="20" name="Text 18"/>
          <p:cNvSpPr txBox="1"/>
          <p:nvPr/>
        </p:nvSpPr>
        <p:spPr>
          <a:xfrm>
            <a:off x="1463040" y="5166360"/>
            <a:ext cx="5394960" cy="6400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The custom handler sets a flag; the main flow verifies it and reports delivery.</a:t>
            </a:r>
            <a:endParaRPr lang="en-US" sz="1400" dirty="0"/>
          </a:p>
        </p:txBody>
      </p:sp>
      <p:sp>
        <p:nvSpPr>
          <p:cNvPr id="21" name="Card"/>
          <p:cNvSpPr/>
          <p:nvPr/>
        </p:nvSpPr>
        <p:spPr>
          <a:xfrm>
            <a:off x="7406640" y="1828800"/>
            <a:ext cx="4325112" cy="4114800"/>
          </a:xfrm>
          <a:prstGeom prst="roundRect">
            <a:avLst>
              <a:gd name="adj" fmla="val 2667"/>
            </a:avLst>
          </a:prstGeom>
          <a:solidFill>
            <a:srgbClr val="0D1B2E"/>
          </a:solidFill>
          <a:ln w="12700">
            <a:solidFill>
              <a:srgbClr val="1E3A5F"/>
            </a:solidFill>
            <a:prstDash val="solid"/>
          </a:ln>
        </p:spPr>
      </p:sp>
      <p:sp>
        <p:nvSpPr>
          <p:cNvPr id="22" name="IconCircle"/>
          <p:cNvSpPr/>
          <p:nvPr/>
        </p:nvSpPr>
        <p:spPr>
          <a:xfrm>
            <a:off x="7680960" y="2011680"/>
            <a:ext cx="457200" cy="457200"/>
          </a:xfrm>
          <a:prstGeom prst="ellipse">
            <a:avLst/>
          </a:prstGeom>
          <a:solidFill>
            <a:srgbClr val="0F2A44"/>
          </a:solidFill>
          <a:ln w="12700">
            <a:solidFill>
              <a:srgbClr val="1E3A5F"/>
            </a:solidFill>
            <a:prstDash val="solid"/>
          </a:ln>
        </p:spPr>
      </p:sp>
      <p:pic>
        <p:nvPicPr>
          <p:cNvPr id="23" name="Image 0" descr="FaCode"/>
          <p:cNvPicPr>
            <a:picLocks noChangeAspect="1"/>
          </p:cNvPicPr>
          <p:nvPr/>
        </p:nvPicPr>
        <p:blipFill>
          <a:blip r:embed="rId3"/>
          <a:stretch>
            <a:fillRect/>
          </a:stretch>
        </p:blipFill>
        <p:spPr>
          <a:xfrm>
            <a:off x="7804404" y="2135124"/>
            <a:ext cx="210312" cy="210312"/>
          </a:xfrm>
          <a:prstGeom prst="rect">
            <a:avLst/>
          </a:prstGeom>
        </p:spPr>
      </p:pic>
      <p:sp>
        <p:nvSpPr>
          <p:cNvPr id="24" name="Text 21"/>
          <p:cNvSpPr txBox="1"/>
          <p:nvPr/>
        </p:nvSpPr>
        <p:spPr>
          <a:xfrm>
            <a:off x="8321040" y="2011680"/>
            <a:ext cx="3291840" cy="457200"/>
          </a:xfrm>
          <a:prstGeom prst="rect">
            <a:avLst/>
          </a:prstGeom>
          <a:noFill/>
          <a:ln/>
        </p:spPr>
        <p:txBody>
          <a:bodyPr wrap="square" lIns="0" tIns="0" rIns="0" bIns="0" rtlCol="0" anchor="ctr"/>
          <a:lstStyle/>
          <a:p>
            <a:pPr marL="0" indent="0">
              <a:buNone/>
            </a:pPr>
            <a:r>
              <a:rPr lang="en-US" sz="1600" b="1" dirty="0">
                <a:solidFill>
                  <a:srgbClr val="00E5FF"/>
                </a:solidFill>
                <a:latin typeface="Calibri" pitchFamily="34" charset="0"/>
                <a:ea typeface="Calibri" pitchFamily="34" charset="-122"/>
                <a:cs typeface="Calibri" pitchFamily="34" charset="-120"/>
              </a:rPr>
              <a:t>Atomic flag pattern</a:t>
            </a:r>
            <a:endParaRPr lang="en-US" sz="1600" dirty="0"/>
          </a:p>
        </p:txBody>
      </p:sp>
      <p:sp>
        <p:nvSpPr>
          <p:cNvPr id="25" name="Shape 22"/>
          <p:cNvSpPr/>
          <p:nvPr/>
        </p:nvSpPr>
        <p:spPr>
          <a:xfrm>
            <a:off x="7680960" y="2697480"/>
            <a:ext cx="3776472" cy="914400"/>
          </a:xfrm>
          <a:prstGeom prst="roundRect">
            <a:avLst>
              <a:gd name="adj" fmla="val 8000"/>
            </a:avLst>
          </a:prstGeom>
          <a:solidFill>
            <a:srgbClr val="0B111D"/>
          </a:solidFill>
          <a:ln w="12700">
            <a:solidFill>
              <a:srgbClr val="1E3A5F"/>
            </a:solidFill>
            <a:prstDash val="solid"/>
          </a:ln>
        </p:spPr>
      </p:sp>
      <p:sp>
        <p:nvSpPr>
          <p:cNvPr id="26" name="Text 23"/>
          <p:cNvSpPr txBox="1"/>
          <p:nvPr/>
        </p:nvSpPr>
        <p:spPr>
          <a:xfrm>
            <a:off x="7818120" y="2788920"/>
            <a:ext cx="3566160" cy="731520"/>
          </a:xfrm>
          <a:prstGeom prst="rect">
            <a:avLst/>
          </a:prstGeom>
          <a:noFill/>
          <a:ln/>
        </p:spPr>
        <p:txBody>
          <a:bodyPr wrap="square" lIns="0" tIns="0" rIns="0" bIns="0" rtlCol="0" anchor="ctr"/>
          <a:lstStyle/>
          <a:p>
            <a:pPr marL="0" indent="0">
              <a:buNone/>
            </a:pPr>
            <a:r>
              <a:rPr lang="en-US" sz="1200" dirty="0">
                <a:solidFill>
                  <a:srgbClr val="4ADE80"/>
                </a:solidFill>
                <a:latin typeface="Consolas" pitchFamily="34" charset="0"/>
                <a:ea typeface="Consolas" pitchFamily="34" charset="-122"/>
                <a:cs typeface="Consolas" pitchFamily="34" charset="-120"/>
              </a:rPr>
              <a:t>static volatile sig_atomic_t got;</a:t>
            </a:r>
            <a:endParaRPr lang="en-US" sz="1200" dirty="0"/>
          </a:p>
          <a:p>
            <a:pPr marL="0" indent="0">
              <a:buNone/>
            </a:pPr>
            <a:r>
              <a:rPr lang="en-US" sz="1200" dirty="0">
                <a:solidFill>
                  <a:srgbClr val="4ADE80"/>
                </a:solidFill>
                <a:latin typeface="Consolas" pitchFamily="34" charset="0"/>
                <a:ea typeface="Consolas" pitchFamily="34" charset="-122"/>
                <a:cs typeface="Consolas" pitchFamily="34" charset="-120"/>
              </a:rPr>
              <a:t>void handler(int s) { got = 1; }</a:t>
            </a:r>
            <a:endParaRPr lang="en-US" sz="1200" dirty="0"/>
          </a:p>
        </p:txBody>
      </p:sp>
      <p:sp>
        <p:nvSpPr>
          <p:cNvPr id="27" name="Text 24"/>
          <p:cNvSpPr txBox="1"/>
          <p:nvPr/>
        </p:nvSpPr>
        <p:spPr>
          <a:xfrm>
            <a:off x="7680960" y="3886200"/>
            <a:ext cx="3749040" cy="192024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rgbClr val="F8FAFC"/>
                </a:solidFill>
                <a:latin typeface="Calibri" pitchFamily="34" charset="0"/>
                <a:ea typeface="Calibri" pitchFamily="34" charset="-122"/>
                <a:cs typeface="Calibri" pitchFamily="34" charset="-120"/>
              </a:rPr>
              <a:t>volatile sig_atomic_t </a:t>
            </a:r>
            <a:r>
              <a:rPr lang="en-US" sz="1400" dirty="0">
                <a:solidFill>
                  <a:srgbClr val="CBD5E1"/>
                </a:solidFill>
                <a:latin typeface="Calibri" pitchFamily="34" charset="0"/>
                <a:ea typeface="Calibri" pitchFamily="34" charset="-122"/>
                <a:cs typeface="Calibri" pitchFamily="34" charset="-120"/>
              </a:rPr>
              <a:t>guarantees atomic, signal-safe reads and writes of the flag.</a:t>
            </a:r>
            <a:endParaRPr lang="en-US" sz="1400" dirty="0"/>
          </a:p>
          <a:p>
            <a:pPr marL="203200" indent="-203200">
              <a:spcAft>
                <a:spcPts val="800"/>
              </a:spcAft>
              <a:buSzPct val="100000"/>
              <a:buChar char="•"/>
            </a:pPr>
            <a:r>
              <a:rPr lang="en-US" sz="1400" b="1" dirty="0">
                <a:solidFill>
                  <a:srgbClr val="F8FAFC"/>
                </a:solidFill>
                <a:latin typeface="Calibri" pitchFamily="34" charset="0"/>
                <a:ea typeface="Calibri" pitchFamily="34" charset="-122"/>
                <a:cs typeface="Calibri" pitchFamily="34" charset="-120"/>
              </a:rPr>
              <a:t>SIGUSR1 </a:t>
            </a:r>
            <a:r>
              <a:rPr lang="en-US" sz="1400" dirty="0">
                <a:solidFill>
                  <a:srgbClr val="CBD5E1"/>
                </a:solidFill>
                <a:latin typeface="Calibri" pitchFamily="34" charset="0"/>
                <a:ea typeface="Calibri" pitchFamily="34" charset="-122"/>
                <a:cs typeface="Calibri" pitchFamily="34" charset="-120"/>
              </a:rPr>
              <a:t>is a user-defined software interrupt.</a:t>
            </a:r>
            <a:endParaRPr lang="en-US" sz="1400" dirty="0"/>
          </a:p>
        </p:txBody>
      </p:sp>
      <p:sp>
        <p:nvSpPr>
          <p:cNvPr id="28"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Pill"/>
          <p:cNvSpPr/>
          <p:nvPr/>
        </p:nvSpPr>
        <p:spPr>
          <a:xfrm>
            <a:off x="457200" y="274320"/>
            <a:ext cx="1174090"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 5</a:t>
            </a:r>
            <a:endParaRPr lang="en-US" sz="1100" dirty="0"/>
          </a:p>
        </p:txBody>
      </p:sp>
      <p:sp>
        <p:nvSpPr>
          <p:cNvPr id="3" name="Pill"/>
          <p:cNvSpPr/>
          <p:nvPr/>
        </p:nvSpPr>
        <p:spPr>
          <a:xfrm>
            <a:off x="10022738" y="274320"/>
            <a:ext cx="1711757"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Virtual Memory</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Memory Analysis &amp; /proc Telemetry</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x86_64 virtual address space on the left, live metrics from /proc/self/status on the right</a:t>
            </a:r>
            <a:endParaRPr lang="en-US" sz="1400" dirty="0"/>
          </a:p>
        </p:txBody>
      </p:sp>
      <p:sp>
        <p:nvSpPr>
          <p:cNvPr id="6" name="Shape 4"/>
          <p:cNvSpPr/>
          <p:nvPr/>
        </p:nvSpPr>
        <p:spPr>
          <a:xfrm>
            <a:off x="457200" y="1828800"/>
            <a:ext cx="5212080" cy="594360"/>
          </a:xfrm>
          <a:prstGeom prst="roundRect">
            <a:avLst>
              <a:gd name="adj" fmla="val 12308"/>
            </a:avLst>
          </a:prstGeom>
          <a:solidFill>
            <a:srgbClr val="0D1B2E"/>
          </a:solidFill>
          <a:ln w="15875">
            <a:solidFill>
              <a:srgbClr val="64748B"/>
            </a:solidFill>
            <a:prstDash val="solid"/>
          </a:ln>
        </p:spPr>
      </p:sp>
      <p:sp>
        <p:nvSpPr>
          <p:cNvPr id="7" name="Text 5"/>
          <p:cNvSpPr txBox="1"/>
          <p:nvPr/>
        </p:nvSpPr>
        <p:spPr>
          <a:xfrm>
            <a:off x="685800" y="1828800"/>
            <a:ext cx="1828800" cy="594360"/>
          </a:xfrm>
          <a:prstGeom prst="rect">
            <a:avLst/>
          </a:prstGeom>
          <a:noFill/>
          <a:ln/>
        </p:spPr>
        <p:txBody>
          <a:bodyPr wrap="square" lIns="0" tIns="0" rIns="0" bIns="0"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Kernel Space</a:t>
            </a:r>
            <a:endParaRPr lang="en-US" sz="1400" dirty="0"/>
          </a:p>
        </p:txBody>
      </p:sp>
      <p:sp>
        <p:nvSpPr>
          <p:cNvPr id="8" name="Text 6"/>
          <p:cNvSpPr txBox="1"/>
          <p:nvPr/>
        </p:nvSpPr>
        <p:spPr>
          <a:xfrm>
            <a:off x="2514600" y="18288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Protected high addresses</a:t>
            </a:r>
            <a:endParaRPr lang="en-US" sz="1200" dirty="0"/>
          </a:p>
        </p:txBody>
      </p:sp>
      <p:sp>
        <p:nvSpPr>
          <p:cNvPr id="9" name="Shape 7"/>
          <p:cNvSpPr/>
          <p:nvPr/>
        </p:nvSpPr>
        <p:spPr>
          <a:xfrm>
            <a:off x="457200" y="2514600"/>
            <a:ext cx="5212080" cy="594360"/>
          </a:xfrm>
          <a:prstGeom prst="roundRect">
            <a:avLst>
              <a:gd name="adj" fmla="val 12308"/>
            </a:avLst>
          </a:prstGeom>
          <a:solidFill>
            <a:srgbClr val="0D1B2E"/>
          </a:solidFill>
          <a:ln w="15875">
            <a:solidFill>
              <a:srgbClr val="38BDF8"/>
            </a:solidFill>
            <a:prstDash val="solid"/>
          </a:ln>
        </p:spPr>
      </p:sp>
      <p:sp>
        <p:nvSpPr>
          <p:cNvPr id="10" name="Text 8"/>
          <p:cNvSpPr txBox="1"/>
          <p:nvPr/>
        </p:nvSpPr>
        <p:spPr>
          <a:xfrm>
            <a:off x="685800" y="2514600"/>
            <a:ext cx="1828800" cy="59436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Stack</a:t>
            </a:r>
            <a:endParaRPr lang="en-US" sz="1400" dirty="0"/>
          </a:p>
        </p:txBody>
      </p:sp>
      <p:sp>
        <p:nvSpPr>
          <p:cNvPr id="11" name="Text 9"/>
          <p:cNvSpPr txBox="1"/>
          <p:nvPr/>
        </p:nvSpPr>
        <p:spPr>
          <a:xfrm>
            <a:off x="2514600" y="25146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Grows downward • locals &amp; frames</a:t>
            </a:r>
            <a:endParaRPr lang="en-US" sz="1200" dirty="0"/>
          </a:p>
        </p:txBody>
      </p:sp>
      <p:sp>
        <p:nvSpPr>
          <p:cNvPr id="12" name="Shape 10"/>
          <p:cNvSpPr/>
          <p:nvPr/>
        </p:nvSpPr>
        <p:spPr>
          <a:xfrm>
            <a:off x="457200" y="3200400"/>
            <a:ext cx="5212080" cy="594360"/>
          </a:xfrm>
          <a:prstGeom prst="roundRect">
            <a:avLst>
              <a:gd name="adj" fmla="val 12308"/>
            </a:avLst>
          </a:prstGeom>
          <a:solidFill>
            <a:srgbClr val="0D1B2E"/>
          </a:solidFill>
          <a:ln w="15875">
            <a:solidFill>
              <a:srgbClr val="00E5FF"/>
            </a:solidFill>
            <a:prstDash val="solid"/>
          </a:ln>
        </p:spPr>
      </p:sp>
      <p:sp>
        <p:nvSpPr>
          <p:cNvPr id="13" name="Text 11"/>
          <p:cNvSpPr txBox="1"/>
          <p:nvPr/>
        </p:nvSpPr>
        <p:spPr>
          <a:xfrm>
            <a:off x="685800" y="3200400"/>
            <a:ext cx="1828800" cy="594360"/>
          </a:xfrm>
          <a:prstGeom prst="rect">
            <a:avLst/>
          </a:prstGeom>
          <a:noFill/>
          <a:ln/>
        </p:spPr>
        <p:txBody>
          <a:bodyPr wrap="square" lIns="0" tIns="0" rIns="0" bIns="0" rtlCol="0" anchor="ctr"/>
          <a:lstStyle/>
          <a:p>
            <a:pPr marL="0" indent="0">
              <a:buNone/>
            </a:pPr>
            <a:r>
              <a:rPr lang="en-US" sz="1400" b="1" dirty="0">
                <a:solidFill>
                  <a:srgbClr val="00E5FF"/>
                </a:solidFill>
                <a:latin typeface="Calibri" pitchFamily="34" charset="0"/>
                <a:ea typeface="Calibri" pitchFamily="34" charset="-122"/>
                <a:cs typeface="Calibri" pitchFamily="34" charset="-120"/>
              </a:rPr>
              <a:t>Memory Mapping</a:t>
            </a:r>
            <a:endParaRPr lang="en-US" sz="1400" dirty="0"/>
          </a:p>
        </p:txBody>
      </p:sp>
      <p:sp>
        <p:nvSpPr>
          <p:cNvPr id="14" name="Text 12"/>
          <p:cNvSpPr txBox="1"/>
          <p:nvPr/>
        </p:nvSpPr>
        <p:spPr>
          <a:xfrm>
            <a:off x="2514600" y="32004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Shared libraries, e.g. libc.so</a:t>
            </a:r>
            <a:endParaRPr lang="en-US" sz="1200" dirty="0"/>
          </a:p>
        </p:txBody>
      </p:sp>
      <p:sp>
        <p:nvSpPr>
          <p:cNvPr id="15" name="Shape 13"/>
          <p:cNvSpPr/>
          <p:nvPr/>
        </p:nvSpPr>
        <p:spPr>
          <a:xfrm>
            <a:off x="457200" y="3886200"/>
            <a:ext cx="5212080" cy="594360"/>
          </a:xfrm>
          <a:prstGeom prst="roundRect">
            <a:avLst>
              <a:gd name="adj" fmla="val 12308"/>
            </a:avLst>
          </a:prstGeom>
          <a:solidFill>
            <a:srgbClr val="0D1B2E"/>
          </a:solidFill>
          <a:ln w="15875">
            <a:solidFill>
              <a:srgbClr val="4ADE80"/>
            </a:solidFill>
            <a:prstDash val="solid"/>
          </a:ln>
        </p:spPr>
      </p:sp>
      <p:sp>
        <p:nvSpPr>
          <p:cNvPr id="16" name="Text 14"/>
          <p:cNvSpPr txBox="1"/>
          <p:nvPr/>
        </p:nvSpPr>
        <p:spPr>
          <a:xfrm>
            <a:off x="685800" y="3886200"/>
            <a:ext cx="1828800" cy="594360"/>
          </a:xfrm>
          <a:prstGeom prst="rect">
            <a:avLst/>
          </a:prstGeom>
          <a:noFill/>
          <a:ln/>
        </p:spPr>
        <p:txBody>
          <a:bodyPr wrap="square" lIns="0" tIns="0" rIns="0" bIns="0" rtlCol="0" anchor="ctr"/>
          <a:lstStyle/>
          <a:p>
            <a:pPr marL="0" indent="0">
              <a:buNone/>
            </a:pPr>
            <a:r>
              <a:rPr lang="en-US" sz="1400" b="1" dirty="0">
                <a:solidFill>
                  <a:srgbClr val="4ADE80"/>
                </a:solidFill>
                <a:latin typeface="Calibri" pitchFamily="34" charset="0"/>
                <a:ea typeface="Calibri" pitchFamily="34" charset="-122"/>
                <a:cs typeface="Calibri" pitchFamily="34" charset="-120"/>
              </a:rPr>
              <a:t>Heap</a:t>
            </a:r>
            <a:endParaRPr lang="en-US" sz="1400" dirty="0"/>
          </a:p>
        </p:txBody>
      </p:sp>
      <p:sp>
        <p:nvSpPr>
          <p:cNvPr id="17" name="Text 15"/>
          <p:cNvSpPr txBox="1"/>
          <p:nvPr/>
        </p:nvSpPr>
        <p:spPr>
          <a:xfrm>
            <a:off x="2514600" y="38862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Grows upward • malloc() / brk()</a:t>
            </a:r>
            <a:endParaRPr lang="en-US" sz="1200" dirty="0"/>
          </a:p>
        </p:txBody>
      </p:sp>
      <p:sp>
        <p:nvSpPr>
          <p:cNvPr id="18" name="Shape 16"/>
          <p:cNvSpPr/>
          <p:nvPr/>
        </p:nvSpPr>
        <p:spPr>
          <a:xfrm>
            <a:off x="457200" y="4572000"/>
            <a:ext cx="5212080" cy="594360"/>
          </a:xfrm>
          <a:prstGeom prst="roundRect">
            <a:avLst>
              <a:gd name="adj" fmla="val 12308"/>
            </a:avLst>
          </a:prstGeom>
          <a:solidFill>
            <a:srgbClr val="0D1B2E"/>
          </a:solidFill>
          <a:ln w="15875">
            <a:solidFill>
              <a:srgbClr val="FBBF24"/>
            </a:solidFill>
            <a:prstDash val="solid"/>
          </a:ln>
        </p:spPr>
      </p:sp>
      <p:sp>
        <p:nvSpPr>
          <p:cNvPr id="19" name="Text 17"/>
          <p:cNvSpPr txBox="1"/>
          <p:nvPr/>
        </p:nvSpPr>
        <p:spPr>
          <a:xfrm>
            <a:off x="685800" y="4572000"/>
            <a:ext cx="1828800" cy="594360"/>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BSS &amp; Data</a:t>
            </a:r>
            <a:endParaRPr lang="en-US" sz="1400" dirty="0"/>
          </a:p>
        </p:txBody>
      </p:sp>
      <p:sp>
        <p:nvSpPr>
          <p:cNvPr id="20" name="Text 18"/>
          <p:cNvSpPr txBox="1"/>
          <p:nvPr/>
        </p:nvSpPr>
        <p:spPr>
          <a:xfrm>
            <a:off x="2514600" y="45720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Uninitialized &amp; initialized globals</a:t>
            </a:r>
            <a:endParaRPr lang="en-US" sz="1200" dirty="0"/>
          </a:p>
        </p:txBody>
      </p:sp>
      <p:sp>
        <p:nvSpPr>
          <p:cNvPr id="21" name="Shape 19"/>
          <p:cNvSpPr/>
          <p:nvPr/>
        </p:nvSpPr>
        <p:spPr>
          <a:xfrm>
            <a:off x="457200" y="5257800"/>
            <a:ext cx="5212080" cy="594360"/>
          </a:xfrm>
          <a:prstGeom prst="roundRect">
            <a:avLst>
              <a:gd name="adj" fmla="val 12308"/>
            </a:avLst>
          </a:prstGeom>
          <a:solidFill>
            <a:srgbClr val="0D1B2E"/>
          </a:solidFill>
          <a:ln w="15875">
            <a:solidFill>
              <a:srgbClr val="F87171"/>
            </a:solidFill>
            <a:prstDash val="solid"/>
          </a:ln>
        </p:spPr>
      </p:sp>
      <p:sp>
        <p:nvSpPr>
          <p:cNvPr id="22" name="Text 20"/>
          <p:cNvSpPr txBox="1"/>
          <p:nvPr/>
        </p:nvSpPr>
        <p:spPr>
          <a:xfrm>
            <a:off x="685800" y="5257800"/>
            <a:ext cx="1828800" cy="594360"/>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Text</a:t>
            </a:r>
            <a:endParaRPr lang="en-US" sz="1400" dirty="0"/>
          </a:p>
        </p:txBody>
      </p:sp>
      <p:sp>
        <p:nvSpPr>
          <p:cNvPr id="23" name="Text 21"/>
          <p:cNvSpPr txBox="1"/>
          <p:nvPr/>
        </p:nvSpPr>
        <p:spPr>
          <a:xfrm>
            <a:off x="2514600" y="5257800"/>
            <a:ext cx="3063240" cy="59436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Executable code • read/exec only</a:t>
            </a:r>
            <a:endParaRPr lang="en-US" sz="1200" dirty="0"/>
          </a:p>
        </p:txBody>
      </p:sp>
      <p:sp>
        <p:nvSpPr>
          <p:cNvPr id="24" name="Text 22"/>
          <p:cNvSpPr txBox="1"/>
          <p:nvPr/>
        </p:nvSpPr>
        <p:spPr>
          <a:xfrm>
            <a:off x="457200" y="5943600"/>
            <a:ext cx="5212080" cy="228600"/>
          </a:xfrm>
          <a:prstGeom prst="rect">
            <a:avLst/>
          </a:prstGeom>
          <a:noFill/>
          <a:ln/>
        </p:spPr>
        <p:txBody>
          <a:bodyPr wrap="square" lIns="0" tIns="0" rIns="0" bIns="0" rtlCol="0" anchor="t"/>
          <a:lstStyle/>
          <a:p>
            <a:pPr marL="0" indent="0" algn="ctr">
              <a:buNone/>
            </a:pPr>
            <a:r>
              <a:rPr lang="en-US" sz="1000" dirty="0">
                <a:solidFill>
                  <a:srgbClr val="64748B"/>
                </a:solidFill>
                <a:latin typeface="Consolas" pitchFamily="34" charset="0"/>
                <a:ea typeface="Consolas" pitchFamily="34" charset="-122"/>
                <a:cs typeface="Consolas" pitchFamily="34" charset="-120"/>
              </a:rPr>
              <a:t>HIGH ADDRESS ▲  to  ▼ LOW ADDRESS</a:t>
            </a:r>
            <a:endParaRPr lang="en-US" sz="1000" dirty="0"/>
          </a:p>
        </p:txBody>
      </p:sp>
      <p:sp>
        <p:nvSpPr>
          <p:cNvPr id="25" name="Card"/>
          <p:cNvSpPr/>
          <p:nvPr/>
        </p:nvSpPr>
        <p:spPr>
          <a:xfrm>
            <a:off x="5943600" y="1828800"/>
            <a:ext cx="2798064" cy="1664208"/>
          </a:xfrm>
          <a:prstGeom prst="roundRect">
            <a:avLst>
              <a:gd name="adj" fmla="val 6593"/>
            </a:avLst>
          </a:prstGeom>
          <a:solidFill>
            <a:srgbClr val="0D1B2E"/>
          </a:solidFill>
          <a:ln w="12700">
            <a:solidFill>
              <a:srgbClr val="1E3A5F"/>
            </a:solidFill>
            <a:prstDash val="solid"/>
          </a:ln>
        </p:spPr>
      </p:sp>
      <p:sp>
        <p:nvSpPr>
          <p:cNvPr id="26" name="Text 24"/>
          <p:cNvSpPr txBox="1"/>
          <p:nvPr/>
        </p:nvSpPr>
        <p:spPr>
          <a:xfrm>
            <a:off x="6172200" y="2029968"/>
            <a:ext cx="2377440" cy="320040"/>
          </a:xfrm>
          <a:prstGeom prst="rect">
            <a:avLst/>
          </a:prstGeom>
          <a:noFill/>
          <a:ln/>
        </p:spPr>
        <p:txBody>
          <a:bodyPr wrap="square" lIns="0" tIns="0" rIns="0" bIns="0" rtlCol="0" anchor="t"/>
          <a:lstStyle/>
          <a:p>
            <a:pPr marL="0" indent="0">
              <a:buNone/>
            </a:pPr>
            <a:r>
              <a:rPr lang="en-US" sz="1500" b="1" dirty="0">
                <a:solidFill>
                  <a:srgbClr val="00E5FF"/>
                </a:solidFill>
                <a:latin typeface="Consolas" pitchFamily="34" charset="0"/>
                <a:ea typeface="Consolas" pitchFamily="34" charset="-122"/>
                <a:cs typeface="Consolas" pitchFamily="34" charset="-120"/>
              </a:rPr>
              <a:t>VmSize</a:t>
            </a:r>
            <a:endParaRPr lang="en-US" sz="1500" dirty="0"/>
          </a:p>
        </p:txBody>
      </p:sp>
      <p:sp>
        <p:nvSpPr>
          <p:cNvPr id="27" name="Text 25"/>
          <p:cNvSpPr txBox="1"/>
          <p:nvPr/>
        </p:nvSpPr>
        <p:spPr>
          <a:xfrm>
            <a:off x="6172200" y="2468880"/>
            <a:ext cx="237744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Total virtual address space requested.</a:t>
            </a:r>
            <a:endParaRPr lang="en-US" sz="1400" dirty="0"/>
          </a:p>
        </p:txBody>
      </p:sp>
      <p:sp>
        <p:nvSpPr>
          <p:cNvPr id="28" name="Card"/>
          <p:cNvSpPr/>
          <p:nvPr/>
        </p:nvSpPr>
        <p:spPr>
          <a:xfrm>
            <a:off x="8933688" y="1828800"/>
            <a:ext cx="2798064" cy="1664208"/>
          </a:xfrm>
          <a:prstGeom prst="roundRect">
            <a:avLst>
              <a:gd name="adj" fmla="val 6593"/>
            </a:avLst>
          </a:prstGeom>
          <a:solidFill>
            <a:srgbClr val="0D1B2E"/>
          </a:solidFill>
          <a:ln w="12700">
            <a:solidFill>
              <a:srgbClr val="1E3A5F"/>
            </a:solidFill>
            <a:prstDash val="solid"/>
          </a:ln>
        </p:spPr>
      </p:sp>
      <p:sp>
        <p:nvSpPr>
          <p:cNvPr id="29" name="Text 27"/>
          <p:cNvSpPr txBox="1"/>
          <p:nvPr/>
        </p:nvSpPr>
        <p:spPr>
          <a:xfrm>
            <a:off x="9162288" y="2029968"/>
            <a:ext cx="2377440" cy="320040"/>
          </a:xfrm>
          <a:prstGeom prst="rect">
            <a:avLst/>
          </a:prstGeom>
          <a:noFill/>
          <a:ln/>
        </p:spPr>
        <p:txBody>
          <a:bodyPr wrap="square" lIns="0" tIns="0" rIns="0" bIns="0" rtlCol="0" anchor="t"/>
          <a:lstStyle/>
          <a:p>
            <a:pPr marL="0" indent="0">
              <a:buNone/>
            </a:pPr>
            <a:r>
              <a:rPr lang="en-US" sz="1500" b="1" dirty="0">
                <a:solidFill>
                  <a:srgbClr val="00E5FF"/>
                </a:solidFill>
                <a:latin typeface="Consolas" pitchFamily="34" charset="0"/>
                <a:ea typeface="Consolas" pitchFamily="34" charset="-122"/>
                <a:cs typeface="Consolas" pitchFamily="34" charset="-120"/>
              </a:rPr>
              <a:t>VmRSS</a:t>
            </a:r>
            <a:endParaRPr lang="en-US" sz="1500" dirty="0"/>
          </a:p>
        </p:txBody>
      </p:sp>
      <p:sp>
        <p:nvSpPr>
          <p:cNvPr id="30" name="Text 28"/>
          <p:cNvSpPr txBox="1"/>
          <p:nvPr/>
        </p:nvSpPr>
        <p:spPr>
          <a:xfrm>
            <a:off x="9162288" y="2468880"/>
            <a:ext cx="237744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Resident Set Size — physical RAM frames actually mapped.</a:t>
            </a:r>
            <a:endParaRPr lang="en-US" sz="1400" dirty="0"/>
          </a:p>
        </p:txBody>
      </p:sp>
      <p:sp>
        <p:nvSpPr>
          <p:cNvPr id="31" name="Card"/>
          <p:cNvSpPr/>
          <p:nvPr/>
        </p:nvSpPr>
        <p:spPr>
          <a:xfrm>
            <a:off x="5943600" y="3657600"/>
            <a:ext cx="2798064" cy="1664208"/>
          </a:xfrm>
          <a:prstGeom prst="roundRect">
            <a:avLst>
              <a:gd name="adj" fmla="val 6593"/>
            </a:avLst>
          </a:prstGeom>
          <a:solidFill>
            <a:srgbClr val="0D1B2E"/>
          </a:solidFill>
          <a:ln w="12700">
            <a:solidFill>
              <a:srgbClr val="1E3A5F"/>
            </a:solidFill>
            <a:prstDash val="solid"/>
          </a:ln>
        </p:spPr>
      </p:sp>
      <p:sp>
        <p:nvSpPr>
          <p:cNvPr id="32" name="Text 30"/>
          <p:cNvSpPr txBox="1"/>
          <p:nvPr/>
        </p:nvSpPr>
        <p:spPr>
          <a:xfrm>
            <a:off x="6172200" y="3858768"/>
            <a:ext cx="2377440" cy="320040"/>
          </a:xfrm>
          <a:prstGeom prst="rect">
            <a:avLst/>
          </a:prstGeom>
          <a:noFill/>
          <a:ln/>
        </p:spPr>
        <p:txBody>
          <a:bodyPr wrap="square" lIns="0" tIns="0" rIns="0" bIns="0" rtlCol="0" anchor="t"/>
          <a:lstStyle/>
          <a:p>
            <a:pPr marL="0" indent="0">
              <a:buNone/>
            </a:pPr>
            <a:r>
              <a:rPr lang="en-US" sz="1500" b="1" dirty="0">
                <a:solidFill>
                  <a:srgbClr val="00E5FF"/>
                </a:solidFill>
                <a:latin typeface="Consolas" pitchFamily="34" charset="0"/>
                <a:ea typeface="Consolas" pitchFamily="34" charset="-122"/>
                <a:cs typeface="Consolas" pitchFamily="34" charset="-120"/>
              </a:rPr>
              <a:t>VmPeak</a:t>
            </a:r>
            <a:endParaRPr lang="en-US" sz="1500" dirty="0"/>
          </a:p>
        </p:txBody>
      </p:sp>
      <p:sp>
        <p:nvSpPr>
          <p:cNvPr id="33" name="Text 31"/>
          <p:cNvSpPr txBox="1"/>
          <p:nvPr/>
        </p:nvSpPr>
        <p:spPr>
          <a:xfrm>
            <a:off x="6172200" y="4297680"/>
            <a:ext cx="237744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Peak virtual memory consumption.</a:t>
            </a:r>
            <a:endParaRPr lang="en-US" sz="1400" dirty="0"/>
          </a:p>
        </p:txBody>
      </p:sp>
      <p:sp>
        <p:nvSpPr>
          <p:cNvPr id="34" name="Card"/>
          <p:cNvSpPr/>
          <p:nvPr/>
        </p:nvSpPr>
        <p:spPr>
          <a:xfrm>
            <a:off x="8933688" y="3657600"/>
            <a:ext cx="2798064" cy="1664208"/>
          </a:xfrm>
          <a:prstGeom prst="roundRect">
            <a:avLst>
              <a:gd name="adj" fmla="val 6593"/>
            </a:avLst>
          </a:prstGeom>
          <a:solidFill>
            <a:srgbClr val="0D1B2E"/>
          </a:solidFill>
          <a:ln w="12700">
            <a:solidFill>
              <a:srgbClr val="1E3A5F"/>
            </a:solidFill>
            <a:prstDash val="solid"/>
          </a:ln>
        </p:spPr>
      </p:sp>
      <p:sp>
        <p:nvSpPr>
          <p:cNvPr id="35" name="Text 33"/>
          <p:cNvSpPr txBox="1"/>
          <p:nvPr/>
        </p:nvSpPr>
        <p:spPr>
          <a:xfrm>
            <a:off x="9162288" y="3858768"/>
            <a:ext cx="2377440" cy="320040"/>
          </a:xfrm>
          <a:prstGeom prst="rect">
            <a:avLst/>
          </a:prstGeom>
          <a:noFill/>
          <a:ln/>
        </p:spPr>
        <p:txBody>
          <a:bodyPr wrap="square" lIns="0" tIns="0" rIns="0" bIns="0" rtlCol="0" anchor="t"/>
          <a:lstStyle/>
          <a:p>
            <a:pPr marL="0" indent="0">
              <a:buNone/>
            </a:pPr>
            <a:r>
              <a:rPr lang="en-US" sz="1500" b="1" dirty="0">
                <a:solidFill>
                  <a:srgbClr val="00E5FF"/>
                </a:solidFill>
                <a:latin typeface="Consolas" pitchFamily="34" charset="0"/>
                <a:ea typeface="Consolas" pitchFamily="34" charset="-122"/>
                <a:cs typeface="Consolas" pitchFamily="34" charset="-120"/>
              </a:rPr>
              <a:t>VmData &amp; VmStk</a:t>
            </a:r>
            <a:endParaRPr lang="en-US" sz="1500" dirty="0"/>
          </a:p>
        </p:txBody>
      </p:sp>
      <p:sp>
        <p:nvSpPr>
          <p:cNvPr id="36" name="Text 34"/>
          <p:cNvSpPr txBox="1"/>
          <p:nvPr/>
        </p:nvSpPr>
        <p:spPr>
          <a:xfrm>
            <a:off x="9162288" y="4297680"/>
            <a:ext cx="237744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Memory for the data segment and the process stack.</a:t>
            </a:r>
            <a:endParaRPr lang="en-US" sz="1400" dirty="0"/>
          </a:p>
        </p:txBody>
      </p:sp>
      <p:sp>
        <p:nvSpPr>
          <p:cNvPr id="37" name="Card"/>
          <p:cNvSpPr/>
          <p:nvPr/>
        </p:nvSpPr>
        <p:spPr>
          <a:xfrm>
            <a:off x="5943600" y="5532120"/>
            <a:ext cx="5788152" cy="594360"/>
          </a:xfrm>
          <a:prstGeom prst="roundRect">
            <a:avLst>
              <a:gd name="adj" fmla="val 18462"/>
            </a:avLst>
          </a:prstGeom>
          <a:solidFill>
            <a:srgbClr val="0F2A26"/>
          </a:solidFill>
          <a:ln w="12700">
            <a:solidFill>
              <a:srgbClr val="1F6B4A"/>
            </a:solidFill>
            <a:prstDash val="solid"/>
          </a:ln>
        </p:spPr>
      </p:sp>
      <p:sp>
        <p:nvSpPr>
          <p:cNvPr id="38" name="Text 36"/>
          <p:cNvSpPr txBox="1"/>
          <p:nvPr/>
        </p:nvSpPr>
        <p:spPr>
          <a:xfrm>
            <a:off x="6217920" y="5532120"/>
            <a:ext cx="5303520" cy="5943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Page Size: </a:t>
            </a:r>
            <a:r>
              <a:rPr lang="en-US" sz="1400" b="1" dirty="0">
                <a:solidFill>
                  <a:srgbClr val="4ADE80"/>
                </a:solidFill>
                <a:latin typeface="Calibri" pitchFamily="34" charset="0"/>
                <a:ea typeface="Calibri" pitchFamily="34" charset="-122"/>
                <a:cs typeface="Calibri" pitchFamily="34" charset="-120"/>
              </a:rPr>
              <a:t>4096 bytes via sysconf(_SC_PAGESIZE)</a:t>
            </a:r>
            <a:endParaRPr lang="en-US" sz="1400" dirty="0"/>
          </a:p>
        </p:txBody>
      </p:sp>
      <p:sp>
        <p:nvSpPr>
          <p:cNvPr id="39"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ill"/>
          <p:cNvSpPr/>
          <p:nvPr/>
        </p:nvSpPr>
        <p:spPr>
          <a:xfrm>
            <a:off x="457200" y="274320"/>
            <a:ext cx="1174090"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MODULE 6</a:t>
            </a:r>
            <a:endParaRPr lang="en-US" sz="1100" dirty="0"/>
          </a:p>
        </p:txBody>
      </p:sp>
      <p:sp>
        <p:nvSpPr>
          <p:cNvPr id="3" name="Pill"/>
          <p:cNvSpPr/>
          <p:nvPr/>
        </p:nvSpPr>
        <p:spPr>
          <a:xfrm>
            <a:off x="9843516" y="274320"/>
            <a:ext cx="1890979"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pthreads + mutex</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Concurrency &amp; Mutex Race Conditions</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pthread_create() threads share the process heap and globals — which is exactly the danger</a:t>
            </a:r>
            <a:endParaRPr lang="en-US" sz="1400" dirty="0"/>
          </a:p>
        </p:txBody>
      </p:sp>
      <p:sp>
        <p:nvSpPr>
          <p:cNvPr id="6" name="Card"/>
          <p:cNvSpPr/>
          <p:nvPr/>
        </p:nvSpPr>
        <p:spPr>
          <a:xfrm>
            <a:off x="457200" y="1828800"/>
            <a:ext cx="11274552" cy="640080"/>
          </a:xfrm>
          <a:prstGeom prst="roundRect">
            <a:avLst>
              <a:gd name="adj" fmla="val 17143"/>
            </a:avLst>
          </a:prstGeom>
          <a:solidFill>
            <a:srgbClr val="112641"/>
          </a:solidFill>
          <a:ln w="12700">
            <a:solidFill>
              <a:srgbClr val="1E3A5F"/>
            </a:solidFill>
            <a:prstDash val="solid"/>
          </a:ln>
        </p:spPr>
      </p:sp>
      <p:sp>
        <p:nvSpPr>
          <p:cNvPr id="7" name="Text 5"/>
          <p:cNvSpPr txBox="1"/>
          <p:nvPr/>
        </p:nvSpPr>
        <p:spPr>
          <a:xfrm>
            <a:off x="731520" y="1828800"/>
            <a:ext cx="10789920" cy="640080"/>
          </a:xfrm>
          <a:prstGeom prst="rect">
            <a:avLst/>
          </a:prstGeom>
          <a:noFill/>
          <a:ln/>
        </p:spPr>
        <p:txBody>
          <a:bodyPr wrap="square" lIns="0" tIns="0" rIns="0" bIns="0" rtlCol="0" anchor="ctr"/>
          <a:lstStyle/>
          <a:p>
            <a:pPr marL="0" indent="0">
              <a:buNone/>
            </a:pPr>
            <a:r>
              <a:rPr lang="en-US" sz="1100" dirty="0">
                <a:solidFill>
                  <a:srgbClr val="38BDF8"/>
                </a:solidFill>
                <a:latin typeface="Consolas" pitchFamily="34" charset="0"/>
                <a:ea typeface="Consolas" pitchFamily="34" charset="-122"/>
                <a:cs typeface="Consolas" pitchFamily="34" charset="-120"/>
              </a:rPr>
              <a:t>EXPERIMENT  </a:t>
            </a:r>
            <a:r>
              <a:rPr lang="en-US" sz="1400" dirty="0">
                <a:solidFill>
                  <a:srgbClr val="CBD5E1"/>
                </a:solidFill>
                <a:latin typeface="Calibri" pitchFamily="34" charset="0"/>
                <a:ea typeface="Calibri" pitchFamily="34" charset="-122"/>
                <a:cs typeface="Calibri" pitchFamily="34" charset="-120"/>
              </a:rPr>
              <a:t>2 worker threads each increment a shared counter 100,000 times  →  expected total </a:t>
            </a:r>
            <a:r>
              <a:rPr lang="en-US" sz="1400" b="1" dirty="0">
                <a:solidFill>
                  <a:srgbClr val="F8FAFC"/>
                </a:solidFill>
                <a:latin typeface="Calibri" pitchFamily="34" charset="0"/>
                <a:ea typeface="Calibri" pitchFamily="34" charset="-122"/>
                <a:cs typeface="Calibri" pitchFamily="34" charset="-120"/>
              </a:rPr>
              <a:t>200,000</a:t>
            </a:r>
            <a:endParaRPr lang="en-US" sz="1400" dirty="0"/>
          </a:p>
        </p:txBody>
      </p:sp>
      <p:sp>
        <p:nvSpPr>
          <p:cNvPr id="8" name="Card"/>
          <p:cNvSpPr/>
          <p:nvPr/>
        </p:nvSpPr>
        <p:spPr>
          <a:xfrm>
            <a:off x="457200" y="2697480"/>
            <a:ext cx="5532120" cy="3429000"/>
          </a:xfrm>
          <a:prstGeom prst="roundRect">
            <a:avLst>
              <a:gd name="adj" fmla="val 3200"/>
            </a:avLst>
          </a:prstGeom>
          <a:solidFill>
            <a:srgbClr val="0D1B2E"/>
          </a:solidFill>
          <a:ln w="12700">
            <a:solidFill>
              <a:srgbClr val="7F2D2D"/>
            </a:solidFill>
            <a:prstDash val="solid"/>
          </a:ln>
        </p:spPr>
      </p:sp>
      <p:sp>
        <p:nvSpPr>
          <p:cNvPr id="9" name="Text 7"/>
          <p:cNvSpPr txBox="1"/>
          <p:nvPr/>
        </p:nvSpPr>
        <p:spPr>
          <a:xfrm>
            <a:off x="731520" y="2852928"/>
            <a:ext cx="4937760" cy="228600"/>
          </a:xfrm>
          <a:prstGeom prst="rect">
            <a:avLst/>
          </a:prstGeom>
          <a:noFill/>
          <a:ln/>
        </p:spPr>
        <p:txBody>
          <a:bodyPr wrap="square" lIns="0" tIns="0" rIns="0" bIns="0" rtlCol="0" anchor="t"/>
          <a:lstStyle/>
          <a:p>
            <a:pPr marL="0" indent="0">
              <a:buNone/>
            </a:pPr>
            <a:r>
              <a:rPr lang="en-US" sz="1100" b="1" dirty="0">
                <a:solidFill>
                  <a:srgbClr val="F87171"/>
                </a:solidFill>
                <a:latin typeface="Consolas" pitchFamily="34" charset="0"/>
                <a:ea typeface="Consolas" pitchFamily="34" charset="-122"/>
                <a:cs typeface="Consolas" pitchFamily="34" charset="-120"/>
              </a:rPr>
              <a:t>WITHOUT MUTEX</a:t>
            </a:r>
            <a:endParaRPr lang="en-US" sz="1100" dirty="0"/>
          </a:p>
        </p:txBody>
      </p:sp>
      <p:sp>
        <p:nvSpPr>
          <p:cNvPr id="10" name="Text 8"/>
          <p:cNvSpPr txBox="1"/>
          <p:nvPr/>
        </p:nvSpPr>
        <p:spPr>
          <a:xfrm>
            <a:off x="731520" y="3108960"/>
            <a:ext cx="4937760" cy="320040"/>
          </a:xfrm>
          <a:prstGeom prst="rect">
            <a:avLst/>
          </a:prstGeom>
          <a:noFill/>
          <a:ln/>
        </p:spPr>
        <p:txBody>
          <a:bodyPr wrap="square" lIns="0" tIns="0" rIns="0" bIns="0" rtlCol="0" anchor="t"/>
          <a:lstStyle/>
          <a:p>
            <a:pPr marL="0" indent="0">
              <a:buNone/>
            </a:pPr>
            <a:r>
              <a:rPr lang="en-US" sz="1700" b="1" dirty="0">
                <a:solidFill>
                  <a:srgbClr val="F8FAFC"/>
                </a:solidFill>
                <a:latin typeface="Calibri" pitchFamily="34" charset="0"/>
                <a:ea typeface="Calibri" pitchFamily="34" charset="-122"/>
                <a:cs typeface="Calibri" pitchFamily="34" charset="-120"/>
              </a:rPr>
              <a:t>Race Condition</a:t>
            </a:r>
            <a:endParaRPr lang="en-US" sz="1700" dirty="0"/>
          </a:p>
        </p:txBody>
      </p:sp>
      <p:sp>
        <p:nvSpPr>
          <p:cNvPr id="11" name="Text 9"/>
          <p:cNvSpPr txBox="1"/>
          <p:nvPr/>
        </p:nvSpPr>
        <p:spPr>
          <a:xfrm>
            <a:off x="731520" y="3520440"/>
            <a:ext cx="4937760" cy="868680"/>
          </a:xfrm>
          <a:prstGeom prst="rect">
            <a:avLst/>
          </a:prstGeom>
          <a:noFill/>
          <a:ln/>
        </p:spPr>
        <p:txBody>
          <a:bodyPr wrap="square" lIns="0" tIns="0" rIns="0" bIns="0" rtlCol="0" anchor="ctr"/>
          <a:lstStyle/>
          <a:p>
            <a:pPr marL="0" indent="0">
              <a:buNone/>
            </a:pPr>
            <a:r>
              <a:rPr lang="en-US" sz="5400" b="1" dirty="0">
                <a:solidFill>
                  <a:srgbClr val="F87171"/>
                </a:solidFill>
                <a:latin typeface="Calibri" pitchFamily="34" charset="0"/>
                <a:ea typeface="Calibri" pitchFamily="34" charset="-122"/>
                <a:cs typeface="Calibri" pitchFamily="34" charset="-120"/>
              </a:rPr>
              <a:t>~140,000</a:t>
            </a:r>
            <a:endParaRPr lang="en-US" sz="5400" dirty="0"/>
          </a:p>
        </p:txBody>
      </p:sp>
      <p:sp>
        <p:nvSpPr>
          <p:cNvPr id="12" name="Text 10"/>
          <p:cNvSpPr txBox="1"/>
          <p:nvPr/>
        </p:nvSpPr>
        <p:spPr>
          <a:xfrm>
            <a:off x="731520" y="4389120"/>
            <a:ext cx="4937760" cy="27432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typical result, 140K–170K, varies per run • lost increments</a:t>
            </a:r>
            <a:endParaRPr lang="en-US" sz="1300" dirty="0"/>
          </a:p>
        </p:txBody>
      </p:sp>
      <p:sp>
        <p:nvSpPr>
          <p:cNvPr id="13" name="Shape 11"/>
          <p:cNvSpPr/>
          <p:nvPr/>
        </p:nvSpPr>
        <p:spPr>
          <a:xfrm>
            <a:off x="731520" y="4754880"/>
            <a:ext cx="4983480" cy="182880"/>
          </a:xfrm>
          <a:prstGeom prst="roundRect">
            <a:avLst>
              <a:gd name="adj" fmla="val 50000"/>
            </a:avLst>
          </a:prstGeom>
          <a:solidFill>
            <a:srgbClr val="0B111D"/>
          </a:solidFill>
          <a:ln w="9525">
            <a:solidFill>
              <a:srgbClr val="1E3A5F"/>
            </a:solidFill>
            <a:prstDash val="solid"/>
          </a:ln>
        </p:spPr>
      </p:sp>
      <p:sp>
        <p:nvSpPr>
          <p:cNvPr id="14" name="Shape 12"/>
          <p:cNvSpPr/>
          <p:nvPr/>
        </p:nvSpPr>
        <p:spPr>
          <a:xfrm>
            <a:off x="731520" y="4754880"/>
            <a:ext cx="3488436" cy="182880"/>
          </a:xfrm>
          <a:prstGeom prst="roundRect">
            <a:avLst>
              <a:gd name="adj" fmla="val 50000"/>
            </a:avLst>
          </a:prstGeom>
          <a:solidFill>
            <a:srgbClr val="F87171"/>
          </a:solidFill>
          <a:ln w="6350">
            <a:solidFill>
              <a:srgbClr val="F87171"/>
            </a:solidFill>
            <a:prstDash val="solid"/>
          </a:ln>
        </p:spPr>
      </p:sp>
      <p:sp>
        <p:nvSpPr>
          <p:cNvPr id="15" name="Text 13"/>
          <p:cNvSpPr txBox="1"/>
          <p:nvPr/>
        </p:nvSpPr>
        <p:spPr>
          <a:xfrm>
            <a:off x="731520" y="5120640"/>
            <a:ext cx="498348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Read-Modify-Write instructions from both threads interleave on the CPU, so updates overwrite each other.</a:t>
            </a:r>
            <a:endParaRPr lang="en-US" sz="1400" dirty="0"/>
          </a:p>
        </p:txBody>
      </p:sp>
      <p:sp>
        <p:nvSpPr>
          <p:cNvPr id="16" name="Card"/>
          <p:cNvSpPr/>
          <p:nvPr/>
        </p:nvSpPr>
        <p:spPr>
          <a:xfrm>
            <a:off x="6199632" y="2697480"/>
            <a:ext cx="5532120" cy="3429000"/>
          </a:xfrm>
          <a:prstGeom prst="roundRect">
            <a:avLst>
              <a:gd name="adj" fmla="val 3200"/>
            </a:avLst>
          </a:prstGeom>
          <a:solidFill>
            <a:srgbClr val="0D1B2E"/>
          </a:solidFill>
          <a:ln w="12700">
            <a:solidFill>
              <a:srgbClr val="1F6B4A"/>
            </a:solidFill>
            <a:prstDash val="solid"/>
          </a:ln>
        </p:spPr>
      </p:sp>
      <p:sp>
        <p:nvSpPr>
          <p:cNvPr id="17" name="Text 15"/>
          <p:cNvSpPr txBox="1"/>
          <p:nvPr/>
        </p:nvSpPr>
        <p:spPr>
          <a:xfrm>
            <a:off x="6473952" y="2852928"/>
            <a:ext cx="4937760" cy="228600"/>
          </a:xfrm>
          <a:prstGeom prst="rect">
            <a:avLst/>
          </a:prstGeom>
          <a:noFill/>
          <a:ln/>
        </p:spPr>
        <p:txBody>
          <a:bodyPr wrap="square" lIns="0" tIns="0" rIns="0" bIns="0" rtlCol="0" anchor="t"/>
          <a:lstStyle/>
          <a:p>
            <a:pPr marL="0" indent="0">
              <a:buNone/>
            </a:pPr>
            <a:r>
              <a:rPr lang="en-US" sz="1100" b="1" dirty="0">
                <a:solidFill>
                  <a:srgbClr val="4ADE80"/>
                </a:solidFill>
                <a:latin typeface="Consolas" pitchFamily="34" charset="0"/>
                <a:ea typeface="Consolas" pitchFamily="34" charset="-122"/>
                <a:cs typeface="Consolas" pitchFamily="34" charset="-120"/>
              </a:rPr>
              <a:t>WITH MUTEX</a:t>
            </a:r>
            <a:endParaRPr lang="en-US" sz="1100" dirty="0"/>
          </a:p>
        </p:txBody>
      </p:sp>
      <p:sp>
        <p:nvSpPr>
          <p:cNvPr id="18" name="Text 16"/>
          <p:cNvSpPr txBox="1"/>
          <p:nvPr/>
        </p:nvSpPr>
        <p:spPr>
          <a:xfrm>
            <a:off x="6473952" y="3108960"/>
            <a:ext cx="4937760" cy="320040"/>
          </a:xfrm>
          <a:prstGeom prst="rect">
            <a:avLst/>
          </a:prstGeom>
          <a:noFill/>
          <a:ln/>
        </p:spPr>
        <p:txBody>
          <a:bodyPr wrap="square" lIns="0" tIns="0" rIns="0" bIns="0" rtlCol="0" anchor="t"/>
          <a:lstStyle/>
          <a:p>
            <a:pPr marL="0" indent="0">
              <a:buNone/>
            </a:pPr>
            <a:r>
              <a:rPr lang="en-US" sz="1700" b="1" dirty="0">
                <a:solidFill>
                  <a:srgbClr val="F8FAFC"/>
                </a:solidFill>
                <a:latin typeface="Calibri" pitchFamily="34" charset="0"/>
                <a:ea typeface="Calibri" pitchFamily="34" charset="-122"/>
                <a:cs typeface="Calibri" pitchFamily="34" charset="-120"/>
              </a:rPr>
              <a:t>Mutual Exclusion</a:t>
            </a:r>
            <a:endParaRPr lang="en-US" sz="1700" dirty="0"/>
          </a:p>
        </p:txBody>
      </p:sp>
      <p:sp>
        <p:nvSpPr>
          <p:cNvPr id="19" name="Text 17"/>
          <p:cNvSpPr txBox="1"/>
          <p:nvPr/>
        </p:nvSpPr>
        <p:spPr>
          <a:xfrm>
            <a:off x="6473952" y="3520440"/>
            <a:ext cx="4937760" cy="868680"/>
          </a:xfrm>
          <a:prstGeom prst="rect">
            <a:avLst/>
          </a:prstGeom>
          <a:noFill/>
          <a:ln/>
        </p:spPr>
        <p:txBody>
          <a:bodyPr wrap="square" lIns="0" tIns="0" rIns="0" bIns="0" rtlCol="0" anchor="ctr"/>
          <a:lstStyle/>
          <a:p>
            <a:pPr marL="0" indent="0">
              <a:buNone/>
            </a:pPr>
            <a:r>
              <a:rPr lang="en-US" sz="5400" b="1" dirty="0">
                <a:solidFill>
                  <a:srgbClr val="4ADE80"/>
                </a:solidFill>
                <a:latin typeface="Calibri" pitchFamily="34" charset="0"/>
                <a:ea typeface="Calibri" pitchFamily="34" charset="-122"/>
                <a:cs typeface="Calibri" pitchFamily="34" charset="-120"/>
              </a:rPr>
              <a:t>200,000</a:t>
            </a:r>
            <a:endParaRPr lang="en-US" sz="5400" dirty="0"/>
          </a:p>
        </p:txBody>
      </p:sp>
      <p:sp>
        <p:nvSpPr>
          <p:cNvPr id="20" name="Text 18"/>
          <p:cNvSpPr txBox="1"/>
          <p:nvPr/>
        </p:nvSpPr>
        <p:spPr>
          <a:xfrm>
            <a:off x="6473952" y="4389120"/>
            <a:ext cx="4937760" cy="274320"/>
          </a:xfrm>
          <a:prstGeom prst="rect">
            <a:avLst/>
          </a:prstGeom>
          <a:noFill/>
          <a:ln/>
        </p:spPr>
        <p:txBody>
          <a:bodyPr wrap="square" lIns="0" tIns="0" rIns="0" bIns="0" rtlCol="0" anchor="t"/>
          <a:lstStyle/>
          <a:p>
            <a:pPr marL="0" indent="0">
              <a:buNone/>
            </a:pPr>
            <a:r>
              <a:rPr lang="en-US" sz="1300" dirty="0">
                <a:solidFill>
                  <a:srgbClr val="94A3B8"/>
                </a:solidFill>
                <a:latin typeface="Calibri" pitchFamily="34" charset="0"/>
                <a:ea typeface="Calibri" pitchFamily="34" charset="-122"/>
                <a:cs typeface="Calibri" pitchFamily="34" charset="-120"/>
              </a:rPr>
              <a:t>exact result every run • 100% data integrity</a:t>
            </a:r>
            <a:endParaRPr lang="en-US" sz="1300" dirty="0"/>
          </a:p>
        </p:txBody>
      </p:sp>
      <p:sp>
        <p:nvSpPr>
          <p:cNvPr id="21" name="Shape 19"/>
          <p:cNvSpPr/>
          <p:nvPr/>
        </p:nvSpPr>
        <p:spPr>
          <a:xfrm>
            <a:off x="6473952" y="4754880"/>
            <a:ext cx="4983480" cy="182880"/>
          </a:xfrm>
          <a:prstGeom prst="roundRect">
            <a:avLst>
              <a:gd name="adj" fmla="val 50000"/>
            </a:avLst>
          </a:prstGeom>
          <a:solidFill>
            <a:srgbClr val="0B111D"/>
          </a:solidFill>
          <a:ln w="9525">
            <a:solidFill>
              <a:srgbClr val="1E3A5F"/>
            </a:solidFill>
            <a:prstDash val="solid"/>
          </a:ln>
        </p:spPr>
      </p:sp>
      <p:sp>
        <p:nvSpPr>
          <p:cNvPr id="22" name="Shape 20"/>
          <p:cNvSpPr/>
          <p:nvPr/>
        </p:nvSpPr>
        <p:spPr>
          <a:xfrm>
            <a:off x="6473952" y="4754880"/>
            <a:ext cx="4983480" cy="182880"/>
          </a:xfrm>
          <a:prstGeom prst="roundRect">
            <a:avLst>
              <a:gd name="adj" fmla="val 50000"/>
            </a:avLst>
          </a:prstGeom>
          <a:solidFill>
            <a:srgbClr val="4ADE80"/>
          </a:solidFill>
          <a:ln w="6350">
            <a:solidFill>
              <a:srgbClr val="4ADE80"/>
            </a:solidFill>
            <a:prstDash val="solid"/>
          </a:ln>
        </p:spPr>
      </p:sp>
      <p:sp>
        <p:nvSpPr>
          <p:cNvPr id="23" name="Text 21"/>
          <p:cNvSpPr txBox="1"/>
          <p:nvPr/>
        </p:nvSpPr>
        <p:spPr>
          <a:xfrm>
            <a:off x="6473952" y="5120640"/>
            <a:ext cx="4983480" cy="91440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pthread_mutex_lock() / unlock() let only one thread inside the critical section at a time.</a:t>
            </a:r>
            <a:endParaRPr lang="en-US" sz="1400" dirty="0"/>
          </a:p>
        </p:txBody>
      </p:sp>
      <p:sp>
        <p:nvSpPr>
          <p:cNvPr id="25"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ill"/>
          <p:cNvSpPr/>
          <p:nvPr/>
        </p:nvSpPr>
        <p:spPr>
          <a:xfrm>
            <a:off x="457200" y="274320"/>
            <a:ext cx="1532534" cy="310896"/>
          </a:xfrm>
          <a:prstGeom prst="roundRect">
            <a:avLst>
              <a:gd name="adj" fmla="val 23529"/>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itchFamily="34" charset="0"/>
                <a:ea typeface="Consolas" pitchFamily="34" charset="-122"/>
                <a:cs typeface="Consolas" pitchFamily="34" charset="-120"/>
              </a:rPr>
              <a:t>VERIFICATION</a:t>
            </a:r>
            <a:endParaRPr lang="en-US" sz="1100" dirty="0"/>
          </a:p>
        </p:txBody>
      </p:sp>
      <p:sp>
        <p:nvSpPr>
          <p:cNvPr id="3" name="Pill"/>
          <p:cNvSpPr/>
          <p:nvPr/>
        </p:nvSpPr>
        <p:spPr>
          <a:xfrm>
            <a:off x="9753905" y="274320"/>
            <a:ext cx="1980590" cy="310896"/>
          </a:xfrm>
          <a:prstGeom prst="roundRect">
            <a:avLst>
              <a:gd name="adj" fmla="val 23529"/>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itchFamily="34" charset="0"/>
                <a:ea typeface="Consolas" pitchFamily="34" charset="-122"/>
                <a:cs typeface="Consolas" pitchFamily="34" charset="-120"/>
              </a:rPr>
              <a:t>Verified on Linux</a:t>
            </a:r>
            <a:endParaRPr lang="en-US" sz="1100" dirty="0"/>
          </a:p>
        </p:txBody>
      </p:sp>
      <p:sp>
        <p:nvSpPr>
          <p:cNvPr id="4" name="Text 2"/>
          <p:cNvSpPr txBox="1"/>
          <p:nvPr/>
        </p:nvSpPr>
        <p:spPr>
          <a:xfrm>
            <a:off x="457200" y="713232"/>
            <a:ext cx="11247120" cy="548640"/>
          </a:xfrm>
          <a:prstGeom prst="rect">
            <a:avLst/>
          </a:prstGeom>
          <a:noFill/>
          <a:ln/>
        </p:spPr>
        <p:txBody>
          <a:bodyPr wrap="square" lIns="0" tIns="0" rIns="0" bIns="0" rtlCol="0" anchor="ctr"/>
          <a:lstStyle/>
          <a:p>
            <a:pPr marL="0" indent="0">
              <a:buNone/>
            </a:pPr>
            <a:r>
              <a:rPr lang="en-US" sz="3000" dirty="0">
                <a:solidFill>
                  <a:srgbClr val="F8FAFC"/>
                </a:solidFill>
                <a:latin typeface="Calibri" pitchFamily="34" charset="0"/>
                <a:ea typeface="Calibri" pitchFamily="34" charset="-122"/>
                <a:cs typeface="Calibri" pitchFamily="34" charset="-120"/>
              </a:rPr>
              <a:t>Demonstration, Results &amp; Limitations</a:t>
            </a:r>
            <a:endParaRPr lang="en-US" sz="3000" dirty="0"/>
          </a:p>
        </p:txBody>
      </p:sp>
      <p:sp>
        <p:nvSpPr>
          <p:cNvPr id="5" name="Text 3"/>
          <p:cNvSpPr txBox="1"/>
          <p:nvPr/>
        </p:nvSpPr>
        <p:spPr>
          <a:xfrm>
            <a:off x="457200" y="1280160"/>
            <a:ext cx="11247120" cy="32004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Expected observations for the live demo, shown alongside the companion visual dashboard</a:t>
            </a:r>
            <a:endParaRPr lang="en-US" sz="1400" dirty="0"/>
          </a:p>
        </p:txBody>
      </p:sp>
      <p:sp>
        <p:nvSpPr>
          <p:cNvPr id="6" name="Card"/>
          <p:cNvSpPr/>
          <p:nvPr/>
        </p:nvSpPr>
        <p:spPr>
          <a:xfrm>
            <a:off x="457200" y="1828800"/>
            <a:ext cx="7223760" cy="4297680"/>
          </a:xfrm>
          <a:prstGeom prst="roundRect">
            <a:avLst>
              <a:gd name="adj" fmla="val 2553"/>
            </a:avLst>
          </a:prstGeom>
          <a:solidFill>
            <a:srgbClr val="0D1B2E"/>
          </a:solidFill>
          <a:ln w="12700">
            <a:solidFill>
              <a:srgbClr val="1E3A5F"/>
            </a:solidFill>
            <a:prstDash val="solid"/>
          </a:ln>
        </p:spPr>
      </p:sp>
      <p:sp>
        <p:nvSpPr>
          <p:cNvPr id="7" name="Text 5"/>
          <p:cNvSpPr txBox="1"/>
          <p:nvPr/>
        </p:nvSpPr>
        <p:spPr>
          <a:xfrm>
            <a:off x="731520" y="2011680"/>
            <a:ext cx="201168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COMMAND</a:t>
            </a:r>
            <a:endParaRPr lang="en-US" sz="1100" dirty="0"/>
          </a:p>
        </p:txBody>
      </p:sp>
      <p:sp>
        <p:nvSpPr>
          <p:cNvPr id="8" name="Text 6"/>
          <p:cNvSpPr txBox="1"/>
          <p:nvPr/>
        </p:nvSpPr>
        <p:spPr>
          <a:xfrm>
            <a:off x="2926080" y="2011680"/>
            <a:ext cx="4572000" cy="228600"/>
          </a:xfrm>
          <a:prstGeom prst="rect">
            <a:avLst/>
          </a:prstGeom>
          <a:noFill/>
          <a:ln/>
        </p:spPr>
        <p:txBody>
          <a:bodyPr wrap="square" lIns="0" tIns="0" rIns="0" bIns="0" rtlCol="0" anchor="t"/>
          <a:lstStyle/>
          <a:p>
            <a:pPr marL="0" indent="0">
              <a:buNone/>
            </a:pPr>
            <a:r>
              <a:rPr lang="en-US" sz="1100" dirty="0">
                <a:solidFill>
                  <a:srgbClr val="38BDF8"/>
                </a:solidFill>
                <a:latin typeface="Consolas" pitchFamily="34" charset="0"/>
                <a:ea typeface="Consolas" pitchFamily="34" charset="-122"/>
                <a:cs typeface="Consolas" pitchFamily="34" charset="-120"/>
              </a:rPr>
              <a:t>EXPECTED OBSERVATION</a:t>
            </a:r>
            <a:endParaRPr lang="en-US" sz="1100" dirty="0"/>
          </a:p>
        </p:txBody>
      </p:sp>
      <p:sp>
        <p:nvSpPr>
          <p:cNvPr id="9" name="Shape 7"/>
          <p:cNvSpPr/>
          <p:nvPr/>
        </p:nvSpPr>
        <p:spPr>
          <a:xfrm>
            <a:off x="731520" y="2331720"/>
            <a:ext cx="6675120" cy="0"/>
          </a:xfrm>
          <a:prstGeom prst="line">
            <a:avLst/>
          </a:prstGeom>
          <a:noFill/>
          <a:ln w="12700">
            <a:solidFill>
              <a:srgbClr val="1E3A5F"/>
            </a:solidFill>
            <a:prstDash val="solid"/>
          </a:ln>
        </p:spPr>
      </p:sp>
      <p:sp>
        <p:nvSpPr>
          <p:cNvPr id="10" name="Text 8"/>
          <p:cNvSpPr txBox="1"/>
          <p:nvPr/>
        </p:nvSpPr>
        <p:spPr>
          <a:xfrm>
            <a:off x="731520" y="2468880"/>
            <a:ext cx="2103120" cy="54864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system-info</a:t>
            </a:r>
            <a:endParaRPr lang="en-US" sz="1300" dirty="0"/>
          </a:p>
        </p:txBody>
      </p:sp>
      <p:sp>
        <p:nvSpPr>
          <p:cNvPr id="11" name="Text 9"/>
          <p:cNvSpPr txBox="1"/>
          <p:nvPr/>
        </p:nvSpPr>
        <p:spPr>
          <a:xfrm>
            <a:off x="2926080" y="2468880"/>
            <a:ext cx="4572000" cy="54864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Kernel version and CPU count accurately reported</a:t>
            </a:r>
            <a:endParaRPr lang="en-US" sz="1400" dirty="0"/>
          </a:p>
        </p:txBody>
      </p:sp>
      <p:sp>
        <p:nvSpPr>
          <p:cNvPr id="12" name="Shape 10"/>
          <p:cNvSpPr/>
          <p:nvPr/>
        </p:nvSpPr>
        <p:spPr>
          <a:xfrm>
            <a:off x="731520" y="3090672"/>
            <a:ext cx="6675120" cy="0"/>
          </a:xfrm>
          <a:prstGeom prst="line">
            <a:avLst/>
          </a:prstGeom>
          <a:noFill/>
          <a:ln w="9525">
            <a:solidFill>
              <a:srgbClr val="15283F"/>
            </a:solidFill>
            <a:prstDash val="solid"/>
          </a:ln>
        </p:spPr>
      </p:sp>
      <p:sp>
        <p:nvSpPr>
          <p:cNvPr id="13" name="Text 11"/>
          <p:cNvSpPr txBox="1"/>
          <p:nvPr/>
        </p:nvSpPr>
        <p:spPr>
          <a:xfrm>
            <a:off x="731520" y="3172968"/>
            <a:ext cx="2103120" cy="54864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processes</a:t>
            </a:r>
            <a:endParaRPr lang="en-US" sz="1300" dirty="0"/>
          </a:p>
        </p:txBody>
      </p:sp>
      <p:sp>
        <p:nvSpPr>
          <p:cNvPr id="14" name="Text 12"/>
          <p:cNvSpPr txBox="1"/>
          <p:nvPr/>
        </p:nvSpPr>
        <p:spPr>
          <a:xfrm>
            <a:off x="2926080" y="3172968"/>
            <a:ext cx="4572000" cy="54864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Child clones, runs echo; parent reaps exit status 0</a:t>
            </a:r>
            <a:endParaRPr lang="en-US" sz="1400" dirty="0"/>
          </a:p>
        </p:txBody>
      </p:sp>
      <p:sp>
        <p:nvSpPr>
          <p:cNvPr id="15" name="Shape 13"/>
          <p:cNvSpPr/>
          <p:nvPr/>
        </p:nvSpPr>
        <p:spPr>
          <a:xfrm>
            <a:off x="731520" y="3794760"/>
            <a:ext cx="6675120" cy="0"/>
          </a:xfrm>
          <a:prstGeom prst="line">
            <a:avLst/>
          </a:prstGeom>
          <a:noFill/>
          <a:ln w="9525">
            <a:solidFill>
              <a:srgbClr val="15283F"/>
            </a:solidFill>
            <a:prstDash val="solid"/>
          </a:ln>
        </p:spPr>
      </p:sp>
      <p:sp>
        <p:nvSpPr>
          <p:cNvPr id="16" name="Text 14"/>
          <p:cNvSpPr txBox="1"/>
          <p:nvPr/>
        </p:nvSpPr>
        <p:spPr>
          <a:xfrm>
            <a:off x="731520" y="3877056"/>
            <a:ext cx="2103120" cy="54864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file-info</a:t>
            </a:r>
            <a:endParaRPr lang="en-US" sz="1300" dirty="0"/>
          </a:p>
        </p:txBody>
      </p:sp>
      <p:sp>
        <p:nvSpPr>
          <p:cNvPr id="17" name="Text 15"/>
          <p:cNvSpPr txBox="1"/>
          <p:nvPr/>
        </p:nvSpPr>
        <p:spPr>
          <a:xfrm>
            <a:off x="2926080" y="3877056"/>
            <a:ext cx="4572000" cy="54864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stat() reports 851 bytes, mode 0644 for test.txt</a:t>
            </a:r>
            <a:endParaRPr lang="en-US" sz="1400" dirty="0"/>
          </a:p>
        </p:txBody>
      </p:sp>
      <p:sp>
        <p:nvSpPr>
          <p:cNvPr id="18" name="Shape 16"/>
          <p:cNvSpPr/>
          <p:nvPr/>
        </p:nvSpPr>
        <p:spPr>
          <a:xfrm>
            <a:off x="731520" y="4498848"/>
            <a:ext cx="6675120" cy="0"/>
          </a:xfrm>
          <a:prstGeom prst="line">
            <a:avLst/>
          </a:prstGeom>
          <a:noFill/>
          <a:ln w="9525">
            <a:solidFill>
              <a:srgbClr val="15283F"/>
            </a:solidFill>
            <a:prstDash val="solid"/>
          </a:ln>
        </p:spPr>
      </p:sp>
      <p:sp>
        <p:nvSpPr>
          <p:cNvPr id="19" name="Text 17"/>
          <p:cNvSpPr txBox="1"/>
          <p:nvPr/>
        </p:nvSpPr>
        <p:spPr>
          <a:xfrm>
            <a:off x="731520" y="4581144"/>
            <a:ext cx="2103120" cy="54864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ipc-demo</a:t>
            </a:r>
            <a:endParaRPr lang="en-US" sz="1300" dirty="0"/>
          </a:p>
        </p:txBody>
      </p:sp>
      <p:sp>
        <p:nvSpPr>
          <p:cNvPr id="20" name="Text 18"/>
          <p:cNvSpPr txBox="1"/>
          <p:nvPr/>
        </p:nvSpPr>
        <p:spPr>
          <a:xfrm>
            <a:off x="2926080" y="4581144"/>
            <a:ext cx="4572000" cy="54864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39-byte payload received safely over the pipe</a:t>
            </a:r>
            <a:endParaRPr lang="en-US" sz="1400" dirty="0"/>
          </a:p>
        </p:txBody>
      </p:sp>
      <p:sp>
        <p:nvSpPr>
          <p:cNvPr id="21" name="Shape 19"/>
          <p:cNvSpPr/>
          <p:nvPr/>
        </p:nvSpPr>
        <p:spPr>
          <a:xfrm>
            <a:off x="731520" y="5202936"/>
            <a:ext cx="6675120" cy="0"/>
          </a:xfrm>
          <a:prstGeom prst="line">
            <a:avLst/>
          </a:prstGeom>
          <a:noFill/>
          <a:ln w="9525">
            <a:solidFill>
              <a:srgbClr val="15283F"/>
            </a:solidFill>
            <a:prstDash val="solid"/>
          </a:ln>
        </p:spPr>
      </p:sp>
      <p:sp>
        <p:nvSpPr>
          <p:cNvPr id="22" name="Text 20"/>
          <p:cNvSpPr txBox="1"/>
          <p:nvPr/>
        </p:nvSpPr>
        <p:spPr>
          <a:xfrm>
            <a:off x="731520" y="5285232"/>
            <a:ext cx="2103120" cy="548640"/>
          </a:xfrm>
          <a:prstGeom prst="rect">
            <a:avLst/>
          </a:prstGeom>
          <a:noFill/>
          <a:ln/>
        </p:spPr>
        <p:txBody>
          <a:bodyPr wrap="square" lIns="0" tIns="0" rIns="0" bIns="0" rtlCol="0" anchor="ctr"/>
          <a:lstStyle/>
          <a:p>
            <a:pPr marL="0" indent="0">
              <a:buNone/>
            </a:pPr>
            <a:r>
              <a:rPr lang="en-US" sz="1300" b="1" dirty="0">
                <a:solidFill>
                  <a:srgbClr val="00E5FF"/>
                </a:solidFill>
                <a:latin typeface="Consolas" pitchFamily="34" charset="0"/>
                <a:ea typeface="Consolas" pitchFamily="34" charset="-122"/>
                <a:cs typeface="Consolas" pitchFamily="34" charset="-120"/>
              </a:rPr>
              <a:t>thread-demo</a:t>
            </a:r>
            <a:endParaRPr lang="en-US" sz="1300" dirty="0"/>
          </a:p>
        </p:txBody>
      </p:sp>
      <p:sp>
        <p:nvSpPr>
          <p:cNvPr id="23" name="Text 21"/>
          <p:cNvSpPr txBox="1"/>
          <p:nvPr/>
        </p:nvSpPr>
        <p:spPr>
          <a:xfrm>
            <a:off x="2926080" y="5285232"/>
            <a:ext cx="4572000" cy="54864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Counter reaches 200,000 with no lost increments</a:t>
            </a:r>
            <a:endParaRPr lang="en-US" sz="1400" dirty="0"/>
          </a:p>
        </p:txBody>
      </p:sp>
      <p:sp>
        <p:nvSpPr>
          <p:cNvPr id="24" name="Card"/>
          <p:cNvSpPr/>
          <p:nvPr/>
        </p:nvSpPr>
        <p:spPr>
          <a:xfrm>
            <a:off x="7955280" y="1828800"/>
            <a:ext cx="3776472" cy="4297680"/>
          </a:xfrm>
          <a:prstGeom prst="roundRect">
            <a:avLst>
              <a:gd name="adj" fmla="val 2906"/>
            </a:avLst>
          </a:prstGeom>
          <a:solidFill>
            <a:srgbClr val="0D1B2E"/>
          </a:solidFill>
          <a:ln w="12700">
            <a:solidFill>
              <a:srgbClr val="7A5F14"/>
            </a:solidFill>
            <a:prstDash val="solid"/>
          </a:ln>
        </p:spPr>
      </p:sp>
      <p:sp>
        <p:nvSpPr>
          <p:cNvPr id="25" name="IconCircle"/>
          <p:cNvSpPr/>
          <p:nvPr/>
        </p:nvSpPr>
        <p:spPr>
          <a:xfrm>
            <a:off x="8229600" y="2011680"/>
            <a:ext cx="457200" cy="457200"/>
          </a:xfrm>
          <a:prstGeom prst="ellipse">
            <a:avLst/>
          </a:prstGeom>
          <a:solidFill>
            <a:srgbClr val="2A2210"/>
          </a:solidFill>
          <a:ln w="12700">
            <a:solidFill>
              <a:srgbClr val="1E3A5F"/>
            </a:solidFill>
            <a:prstDash val="solid"/>
          </a:ln>
        </p:spPr>
      </p:sp>
      <p:pic>
        <p:nvPicPr>
          <p:cNvPr id="26" name="Image 0" descr="FaExclamationTriangle"/>
          <p:cNvPicPr>
            <a:picLocks noChangeAspect="1"/>
          </p:cNvPicPr>
          <p:nvPr/>
        </p:nvPicPr>
        <p:blipFill>
          <a:blip r:embed="rId3"/>
          <a:stretch>
            <a:fillRect/>
          </a:stretch>
        </p:blipFill>
        <p:spPr>
          <a:xfrm>
            <a:off x="8353044" y="2135124"/>
            <a:ext cx="210312" cy="210312"/>
          </a:xfrm>
          <a:prstGeom prst="rect">
            <a:avLst/>
          </a:prstGeom>
        </p:spPr>
      </p:pic>
      <p:sp>
        <p:nvSpPr>
          <p:cNvPr id="27" name="Text 24"/>
          <p:cNvSpPr txBox="1"/>
          <p:nvPr/>
        </p:nvSpPr>
        <p:spPr>
          <a:xfrm>
            <a:off x="8869680" y="2011680"/>
            <a:ext cx="2743200" cy="457200"/>
          </a:xfrm>
          <a:prstGeom prst="rect">
            <a:avLst/>
          </a:prstGeom>
          <a:noFill/>
          <a:ln/>
        </p:spPr>
        <p:txBody>
          <a:bodyPr wrap="square" lIns="0" tIns="0" rIns="0" bIns="0" rtlCol="0" anchor="ctr"/>
          <a:lstStyle/>
          <a:p>
            <a:pPr marL="0" indent="0">
              <a:buNone/>
            </a:pPr>
            <a:r>
              <a:rPr lang="en-US" sz="1600" b="1" dirty="0">
                <a:solidFill>
                  <a:srgbClr val="FBBF24"/>
                </a:solidFill>
                <a:latin typeface="Calibri" pitchFamily="34" charset="0"/>
                <a:ea typeface="Calibri" pitchFamily="34" charset="-122"/>
                <a:cs typeface="Calibri" pitchFamily="34" charset="-120"/>
              </a:rPr>
              <a:t>Practical Constraints</a:t>
            </a:r>
            <a:endParaRPr lang="en-US" sz="1600" dirty="0"/>
          </a:p>
        </p:txBody>
      </p:sp>
      <p:sp>
        <p:nvSpPr>
          <p:cNvPr id="28" name="Text 25"/>
          <p:cNvSpPr txBox="1"/>
          <p:nvPr/>
        </p:nvSpPr>
        <p:spPr>
          <a:xfrm>
            <a:off x="8229600" y="2743200"/>
            <a:ext cx="3246120" cy="3200400"/>
          </a:xfrm>
          <a:prstGeom prst="rect">
            <a:avLst/>
          </a:prstGeom>
          <a:noFill/>
          <a:ln/>
        </p:spPr>
        <p:txBody>
          <a:bodyPr wrap="square" lIns="0" tIns="0" rIns="0" bIns="0" rtlCol="0" anchor="t"/>
          <a:lstStyle/>
          <a:p>
            <a:pPr marL="203200" indent="-203200">
              <a:spcAft>
                <a:spcPts val="1400"/>
              </a:spcAft>
              <a:buSzPct val="100000"/>
              <a:buChar char="•"/>
            </a:pPr>
            <a:r>
              <a:rPr lang="en-US" sz="1500" b="1" dirty="0">
                <a:solidFill>
                  <a:srgbClr val="F8FAFC"/>
                </a:solidFill>
                <a:latin typeface="Calibri" pitchFamily="34" charset="0"/>
                <a:ea typeface="Calibri" pitchFamily="34" charset="-122"/>
                <a:cs typeface="Calibri" pitchFamily="34" charset="-120"/>
              </a:rPr>
              <a:t>POSIX-specific: </a:t>
            </a:r>
            <a:r>
              <a:rPr lang="en-US" sz="1500" dirty="0">
                <a:solidFill>
                  <a:srgbClr val="CBD5E1"/>
                </a:solidFill>
                <a:latin typeface="Calibri" pitchFamily="34" charset="0"/>
                <a:ea typeface="Calibri" pitchFamily="34" charset="-122"/>
                <a:cs typeface="Calibri" pitchFamily="34" charset="-120"/>
              </a:rPr>
              <a:t>optimized for Linux / WSL; relies on the /proc filesystem.</a:t>
            </a:r>
            <a:endParaRPr lang="en-US" sz="1400" dirty="0"/>
          </a:p>
          <a:p>
            <a:pPr marL="203200" indent="-203200">
              <a:spcAft>
                <a:spcPts val="1400"/>
              </a:spcAft>
              <a:buSzPct val="100000"/>
              <a:buChar char="•"/>
            </a:pPr>
            <a:r>
              <a:rPr lang="en-US" sz="1500" b="1" dirty="0">
                <a:solidFill>
                  <a:srgbClr val="F8FAFC"/>
                </a:solidFill>
                <a:latin typeface="Calibri" pitchFamily="34" charset="0"/>
                <a:ea typeface="Calibri" pitchFamily="34" charset="-122"/>
                <a:cs typeface="Calibri" pitchFamily="34" charset="-120"/>
              </a:rPr>
              <a:t>File permissions: </a:t>
            </a:r>
            <a:r>
              <a:rPr lang="en-US" sz="1500" dirty="0">
                <a:solidFill>
                  <a:srgbClr val="CBD5E1"/>
                </a:solidFill>
                <a:latin typeface="Calibri" pitchFamily="34" charset="0"/>
                <a:ea typeface="Calibri" pitchFamily="34" charset="-122"/>
                <a:cs typeface="Calibri" pitchFamily="34" charset="-120"/>
              </a:rPr>
              <a:t>limited by the calling user's UID/GID privileges.</a:t>
            </a:r>
            <a:endParaRPr lang="en-US" sz="1400" dirty="0"/>
          </a:p>
          <a:p>
            <a:pPr marL="203200" indent="-203200">
              <a:spcAft>
                <a:spcPts val="1400"/>
              </a:spcAft>
              <a:buSzPct val="100000"/>
              <a:buChar char="•"/>
            </a:pPr>
            <a:r>
              <a:rPr lang="en-US" sz="1500" b="1" dirty="0">
                <a:solidFill>
                  <a:srgbClr val="F8FAFC"/>
                </a:solidFill>
                <a:latin typeface="Calibri" pitchFamily="34" charset="0"/>
                <a:ea typeface="Calibri" pitchFamily="34" charset="-122"/>
                <a:cs typeface="Calibri" pitchFamily="34" charset="-120"/>
              </a:rPr>
              <a:t>Live demo: </a:t>
            </a:r>
            <a:r>
              <a:rPr lang="en-US" sz="1500" dirty="0">
                <a:solidFill>
                  <a:srgbClr val="CBD5E1"/>
                </a:solidFill>
                <a:latin typeface="Calibri" pitchFamily="34" charset="0"/>
                <a:ea typeface="Calibri" pitchFamily="34" charset="-122"/>
                <a:cs typeface="Calibri" pitchFamily="34" charset="-120"/>
              </a:rPr>
              <a:t>terminal commands run alongside the companion visual dashboard.</a:t>
            </a:r>
            <a:endParaRPr lang="en-US" sz="1400" dirty="0"/>
          </a:p>
        </p:txBody>
      </p:sp>
      <p:sp>
        <p:nvSpPr>
          <p:cNvPr id="29" name="Slide Number Placeholder 0"/>
          <p:cNvSpPr>
            <a:spLocks noGrp="1"/>
          </p:cNvSpPr>
          <p:nvPr>
            <p:ph type="sldNum" sz="quarter" idx="4294967295"/>
          </p:nvPr>
        </p:nvSpPr>
        <p:spPr>
          <a:xfrm>
            <a:off x="10835640" y="6428232"/>
            <a:ext cx="45720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100">
                <a:solidFill>
                  <a:srgbClr val="38BDF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p:cNvSpPr/>
          <p:nvPr/>
        </p:nvSpPr>
        <p:spPr>
          <a:xfrm>
            <a:off x="457200" y="256032"/>
            <a:ext cx="1737360" cy="292608"/>
          </a:xfrm>
          <a:prstGeom prst="roundRect">
            <a:avLst>
              <a:gd name="adj" fmla="val 25000"/>
            </a:avLst>
          </a:prstGeom>
          <a:solidFill>
            <a:srgbClr val="0F2A44"/>
          </a:solidFill>
          <a:ln w="12700">
            <a:solidFill>
              <a:srgbClr val="1E3A5F"/>
            </a:solidFill>
          </a:ln>
        </p:spPr>
        <p:txBody>
          <a:bodyPr wrap="square" lIns="0" tIns="0" rIns="0" bIns="0" rtlCol="0" anchor="ctr"/>
          <a:lstStyle/>
          <a:p>
            <a:pPr marL="0" indent="0" algn="ctr">
              <a:buNone/>
            </a:pPr>
            <a:r>
              <a:rPr lang="en-US" sz="1100" dirty="0">
                <a:solidFill>
                  <a:srgbClr val="00E5FF"/>
                </a:solidFill>
                <a:latin typeface="Consolas" panose="020B0609020204030204" pitchFamily="34" charset="0"/>
                <a:ea typeface="Consolas" panose="020B0609020204030204" pitchFamily="34" charset="-122"/>
                <a:cs typeface="Consolas" panose="020B0609020204030204" pitchFamily="34" charset="-120"/>
              </a:rPr>
              <a:t>CONCLUSION</a:t>
            </a:r>
            <a:endParaRPr lang="en-US" sz="1100" dirty="0"/>
          </a:p>
        </p:txBody>
      </p:sp>
      <p:sp>
        <p:nvSpPr>
          <p:cNvPr id="3" name="Pill"/>
          <p:cNvSpPr/>
          <p:nvPr/>
        </p:nvSpPr>
        <p:spPr>
          <a:xfrm>
            <a:off x="9720072" y="256032"/>
            <a:ext cx="2011680" cy="292608"/>
          </a:xfrm>
          <a:prstGeom prst="roundRect">
            <a:avLst>
              <a:gd name="adj" fmla="val 25000"/>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anose="020B0609020204030204" pitchFamily="34" charset="0"/>
                <a:ea typeface="Consolas" panose="020B0609020204030204" pitchFamily="34" charset="-122"/>
                <a:cs typeface="Consolas" panose="020B0609020204030204" pitchFamily="34" charset="-120"/>
              </a:rPr>
              <a:t>PROJECT SUMMARY</a:t>
            </a:r>
            <a:endParaRPr lang="en-US" sz="1100" dirty="0"/>
          </a:p>
        </p:txBody>
      </p:sp>
      <p:sp>
        <p:nvSpPr>
          <p:cNvPr id="4" name="Text 2"/>
          <p:cNvSpPr txBox="1"/>
          <p:nvPr/>
        </p:nvSpPr>
        <p:spPr>
          <a:xfrm>
            <a:off x="457200" y="603504"/>
            <a:ext cx="6858000" cy="475488"/>
          </a:xfrm>
          <a:prstGeom prst="rect">
            <a:avLst/>
          </a:prstGeom>
          <a:noFill/>
        </p:spPr>
        <p:txBody>
          <a:bodyPr wrap="square" lIns="0" tIns="0" rIns="0" bIns="0" rtlCol="0" anchor="ctr"/>
          <a:lstStyle/>
          <a:p>
            <a:pPr marL="0" indent="0">
              <a:buNone/>
            </a:pPr>
            <a:r>
              <a:rPr lang="en-US" sz="3000" dirty="0">
                <a:solidFill>
                  <a:srgbClr val="F8FAFC"/>
                </a:solidFill>
                <a:latin typeface="Calibri" panose="020F0502020204030204" pitchFamily="34" charset="0"/>
                <a:ea typeface="Calibri" panose="020F0502020204030204" pitchFamily="34" charset="-122"/>
                <a:cs typeface="Calibri" panose="020F0502020204030204" pitchFamily="34" charset="-120"/>
              </a:rPr>
              <a:t>Conclusion</a:t>
            </a:r>
            <a:endParaRPr lang="en-US" sz="3000" dirty="0"/>
          </a:p>
        </p:txBody>
      </p:sp>
      <p:sp>
        <p:nvSpPr>
          <p:cNvPr id="5" name="Text 3"/>
          <p:cNvSpPr txBox="1"/>
          <p:nvPr/>
        </p:nvSpPr>
        <p:spPr>
          <a:xfrm>
            <a:off x="457200" y="1097280"/>
            <a:ext cx="7040880" cy="274320"/>
          </a:xfrm>
          <a:prstGeom prst="rect">
            <a:avLst/>
          </a:prstGeom>
          <a:noFill/>
        </p:spPr>
        <p:txBody>
          <a:bodyPr wrap="square" lIns="0" tIns="0" rIns="0" bIns="0" rtlCol="0" anchor="ctr"/>
          <a:lstStyle/>
          <a:p>
            <a:pPr marL="0" indent="0">
              <a:buNone/>
            </a:pPr>
            <a:r>
              <a:rPr lang="en-US" sz="1600" dirty="0">
                <a:solidFill>
                  <a:srgbClr val="38BDF8"/>
                </a:solidFill>
                <a:latin typeface="Calibri" panose="020F0502020204030204" pitchFamily="34" charset="0"/>
                <a:ea typeface="Calibri" panose="020F0502020204030204" pitchFamily="34" charset="-122"/>
                <a:cs typeface="Calibri" panose="020F0502020204030204" pitchFamily="34" charset="-120"/>
              </a:rPr>
              <a:t>One Unified Interface. Six Core OS Utilities.</a:t>
            </a:r>
            <a:endParaRPr lang="en-US" sz="1600" dirty="0"/>
          </a:p>
        </p:txBody>
      </p:sp>
      <p:sp>
        <p:nvSpPr>
          <p:cNvPr id="6" name="Text 4"/>
          <p:cNvSpPr txBox="1"/>
          <p:nvPr/>
        </p:nvSpPr>
        <p:spPr>
          <a:xfrm>
            <a:off x="457200" y="1426464"/>
            <a:ext cx="7040880" cy="438912"/>
          </a:xfrm>
          <a:prstGeom prst="rect">
            <a:avLst/>
          </a:prstGeom>
          <a:noFill/>
        </p:spPr>
        <p:txBody>
          <a:bodyPr wrap="square" lIns="0" tIns="0" rIns="0" bIns="0" rtlCol="0" anchor="t"/>
          <a:lstStyle/>
          <a:p>
            <a:pPr marL="0" indent="0">
              <a:buNone/>
            </a:pPr>
            <a:r>
              <a:rPr lang="en-US" sz="1300" dirty="0">
                <a:solidFill>
                  <a:srgbClr val="94A3B8"/>
                </a:solidFill>
                <a:latin typeface="Calibri" panose="020F0502020204030204" pitchFamily="34" charset="0"/>
                <a:ea typeface="Calibri" panose="020F0502020204030204" pitchFamily="34" charset="-122"/>
                <a:cs typeface="Calibri" panose="020F0502020204030204" pitchFamily="34" charset="-120"/>
              </a:rPr>
              <a:t>UnixSuite is a C-based Linux utility toolkit that brings commonly used operating-system operations together in one interactive command-line application, making them easier to access and understand.</a:t>
            </a:r>
            <a:endParaRPr lang="en-US" sz="1300" dirty="0"/>
          </a:p>
        </p:txBody>
      </p:sp>
      <p:sp>
        <p:nvSpPr>
          <p:cNvPr id="7" name="Metric Tile"/>
          <p:cNvSpPr/>
          <p:nvPr/>
        </p:nvSpPr>
        <p:spPr>
          <a:xfrm>
            <a:off x="7726680" y="658368"/>
            <a:ext cx="1965960" cy="1170432"/>
          </a:xfrm>
          <a:prstGeom prst="roundRect">
            <a:avLst>
              <a:gd name="adj" fmla="val 9375"/>
            </a:avLst>
          </a:prstGeom>
          <a:solidFill>
            <a:srgbClr val="112641"/>
          </a:solidFill>
          <a:ln w="12700">
            <a:solidFill>
              <a:srgbClr val="1E3A5F"/>
            </a:solidFill>
            <a:prstDash val="solid"/>
          </a:ln>
        </p:spPr>
      </p:sp>
      <p:sp>
        <p:nvSpPr>
          <p:cNvPr id="8" name="Text 6"/>
          <p:cNvSpPr txBox="1"/>
          <p:nvPr/>
        </p:nvSpPr>
        <p:spPr>
          <a:xfrm>
            <a:off x="7726680" y="731520"/>
            <a:ext cx="1965960" cy="594360"/>
          </a:xfrm>
          <a:prstGeom prst="rect">
            <a:avLst/>
          </a:prstGeom>
          <a:noFill/>
        </p:spPr>
        <p:txBody>
          <a:bodyPr wrap="square" lIns="0" tIns="0" rIns="0" bIns="0" rtlCol="0" anchor="ctr"/>
          <a:lstStyle/>
          <a:p>
            <a:pPr marL="0" indent="0" algn="ctr">
              <a:buNone/>
            </a:pPr>
            <a:r>
              <a:rPr lang="en-US" sz="3400" b="1" dirty="0">
                <a:solidFill>
                  <a:srgbClr val="00E5FF"/>
                </a:solidFill>
                <a:latin typeface="Calibri" panose="020F0502020204030204" pitchFamily="34" charset="0"/>
                <a:ea typeface="Calibri" panose="020F0502020204030204" pitchFamily="34" charset="-122"/>
                <a:cs typeface="Calibri" panose="020F0502020204030204" pitchFamily="34" charset="-120"/>
              </a:rPr>
              <a:t>6/6</a:t>
            </a:r>
            <a:endParaRPr lang="en-US" sz="3400" dirty="0"/>
          </a:p>
        </p:txBody>
      </p:sp>
      <p:sp>
        <p:nvSpPr>
          <p:cNvPr id="9" name="Text 7"/>
          <p:cNvSpPr txBox="1"/>
          <p:nvPr/>
        </p:nvSpPr>
        <p:spPr>
          <a:xfrm>
            <a:off x="7726680" y="1371600"/>
            <a:ext cx="1965960" cy="274320"/>
          </a:xfrm>
          <a:prstGeom prst="rect">
            <a:avLst/>
          </a:prstGeom>
          <a:noFill/>
        </p:spPr>
        <p:txBody>
          <a:bodyPr wrap="square" lIns="0" tIns="0" rIns="0" bIns="0" rtlCol="0" anchor="ctr"/>
          <a:lstStyle/>
          <a:p>
            <a:pPr marL="0" indent="0" algn="ctr">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Modules Implemented</a:t>
            </a:r>
            <a:endParaRPr lang="en-US" sz="1200" dirty="0"/>
          </a:p>
        </p:txBody>
      </p:sp>
      <p:sp>
        <p:nvSpPr>
          <p:cNvPr id="10" name="Metric Tile"/>
          <p:cNvSpPr/>
          <p:nvPr/>
        </p:nvSpPr>
        <p:spPr>
          <a:xfrm>
            <a:off x="9765792" y="658368"/>
            <a:ext cx="1965960" cy="1170432"/>
          </a:xfrm>
          <a:prstGeom prst="roundRect">
            <a:avLst>
              <a:gd name="adj" fmla="val 9375"/>
            </a:avLst>
          </a:prstGeom>
          <a:solidFill>
            <a:srgbClr val="112641"/>
          </a:solidFill>
          <a:ln w="12700">
            <a:solidFill>
              <a:srgbClr val="1F6B4A"/>
            </a:solidFill>
            <a:prstDash val="solid"/>
          </a:ln>
        </p:spPr>
      </p:sp>
      <p:sp>
        <p:nvSpPr>
          <p:cNvPr id="11" name="Text 9"/>
          <p:cNvSpPr txBox="1"/>
          <p:nvPr/>
        </p:nvSpPr>
        <p:spPr>
          <a:xfrm>
            <a:off x="9765792" y="731520"/>
            <a:ext cx="1965960" cy="594360"/>
          </a:xfrm>
          <a:prstGeom prst="rect">
            <a:avLst/>
          </a:prstGeom>
          <a:noFill/>
        </p:spPr>
        <p:txBody>
          <a:bodyPr wrap="square" lIns="0" tIns="0" rIns="0" bIns="0" rtlCol="0" anchor="ctr"/>
          <a:lstStyle/>
          <a:p>
            <a:pPr marL="0" indent="0" algn="ctr">
              <a:buNone/>
            </a:pPr>
            <a:r>
              <a:rPr lang="en-US" sz="3400" b="1" dirty="0">
                <a:solidFill>
                  <a:srgbClr val="4ADE80"/>
                </a:solidFill>
                <a:latin typeface="Calibri" panose="020F0502020204030204" pitchFamily="34" charset="0"/>
                <a:ea typeface="Calibri" panose="020F0502020204030204" pitchFamily="34" charset="-122"/>
                <a:cs typeface="Calibri" panose="020F0502020204030204" pitchFamily="34" charset="-120"/>
              </a:rPr>
              <a:t>200,000</a:t>
            </a:r>
            <a:endParaRPr lang="en-US" sz="3400" dirty="0"/>
          </a:p>
        </p:txBody>
      </p:sp>
      <p:sp>
        <p:nvSpPr>
          <p:cNvPr id="12" name="Text 10"/>
          <p:cNvSpPr txBox="1"/>
          <p:nvPr/>
        </p:nvSpPr>
        <p:spPr>
          <a:xfrm>
            <a:off x="9765792" y="1371600"/>
            <a:ext cx="1965960" cy="274320"/>
          </a:xfrm>
          <a:prstGeom prst="rect">
            <a:avLst/>
          </a:prstGeom>
          <a:noFill/>
        </p:spPr>
        <p:txBody>
          <a:bodyPr wrap="square" lIns="0" tIns="0" rIns="0" bIns="0" rtlCol="0" anchor="ctr"/>
          <a:lstStyle/>
          <a:p>
            <a:pPr marL="0" indent="0" algn="ctr">
              <a:buNone/>
            </a:pPr>
            <a:r>
              <a:rPr lang="en-US" sz="1200" dirty="0">
                <a:solidFill>
                  <a:srgbClr val="94A3B8"/>
                </a:solidFill>
                <a:latin typeface="Calibri" panose="020F0502020204030204" pitchFamily="34" charset="0"/>
                <a:ea typeface="Calibri" panose="020F0502020204030204" pitchFamily="34" charset="-122"/>
                <a:cs typeface="Calibri" panose="020F0502020204030204" pitchFamily="34" charset="-120"/>
              </a:rPr>
              <a:t>Counter · Mutex-Synced</a:t>
            </a:r>
            <a:endParaRPr lang="en-US" sz="1200" dirty="0"/>
          </a:p>
        </p:txBody>
      </p:sp>
      <p:sp>
        <p:nvSpPr>
          <p:cNvPr id="13" name="Card"/>
          <p:cNvSpPr/>
          <p:nvPr/>
        </p:nvSpPr>
        <p:spPr>
          <a:xfrm>
            <a:off x="457200" y="1965960"/>
            <a:ext cx="3383280" cy="3474720"/>
          </a:xfrm>
          <a:prstGeom prst="roundRect">
            <a:avLst>
              <a:gd name="adj" fmla="val 3243"/>
            </a:avLst>
          </a:prstGeom>
          <a:solidFill>
            <a:srgbClr val="0D1B2E"/>
          </a:solidFill>
          <a:ln w="12700">
            <a:solidFill>
              <a:srgbClr val="1E3A5F"/>
            </a:solidFill>
            <a:prstDash val="solid"/>
          </a:ln>
        </p:spPr>
      </p:sp>
      <p:sp>
        <p:nvSpPr>
          <p:cNvPr id="14" name="Text 12"/>
          <p:cNvSpPr txBox="1"/>
          <p:nvPr/>
        </p:nvSpPr>
        <p:spPr>
          <a:xfrm>
            <a:off x="685800" y="2148840"/>
            <a:ext cx="2377440" cy="365760"/>
          </a:xfrm>
          <a:prstGeom prst="rect">
            <a:avLst/>
          </a:prstGeom>
          <a:noFill/>
        </p:spPr>
        <p:txBody>
          <a:bodyPr wrap="square" lIns="0" tIns="0" rIns="0" bIns="0" rtlCol="0" anchor="ctr"/>
          <a:lstStyle/>
          <a:p>
            <a:pPr marL="0" indent="0">
              <a:buNone/>
            </a:pPr>
            <a:r>
              <a:rPr lang="en-US" sz="1500" b="1" dirty="0">
                <a:solidFill>
                  <a:srgbClr val="00E5FF"/>
                </a:solidFill>
                <a:latin typeface="Calibri" panose="020F0502020204030204" pitchFamily="34" charset="0"/>
                <a:ea typeface="Calibri" panose="020F0502020204030204" pitchFamily="34" charset="-122"/>
                <a:cs typeface="Calibri" panose="020F0502020204030204" pitchFamily="34" charset="-120"/>
              </a:rPr>
              <a:t>Core Modules Implemented</a:t>
            </a:r>
            <a:endParaRPr lang="en-US" sz="1500" dirty="0"/>
          </a:p>
        </p:txBody>
      </p:sp>
      <p:sp>
        <p:nvSpPr>
          <p:cNvPr id="15" name="Pill"/>
          <p:cNvSpPr/>
          <p:nvPr/>
        </p:nvSpPr>
        <p:spPr>
          <a:xfrm>
            <a:off x="3108960" y="2176272"/>
            <a:ext cx="548640" cy="292608"/>
          </a:xfrm>
          <a:prstGeom prst="roundRect">
            <a:avLst>
              <a:gd name="adj" fmla="val 25000"/>
            </a:avLst>
          </a:prstGeom>
          <a:solidFill>
            <a:srgbClr val="0F2A26"/>
          </a:solidFill>
          <a:ln w="12700">
            <a:solidFill>
              <a:srgbClr val="1F6B4A"/>
            </a:solidFill>
          </a:ln>
        </p:spPr>
        <p:txBody>
          <a:bodyPr wrap="square" lIns="0" tIns="0" rIns="0" bIns="0" rtlCol="0" anchor="ctr"/>
          <a:lstStyle/>
          <a:p>
            <a:pPr marL="0" indent="0" algn="ctr">
              <a:buNone/>
            </a:pPr>
            <a:r>
              <a:rPr lang="en-US" sz="1100" dirty="0">
                <a:solidFill>
                  <a:srgbClr val="4ADE80"/>
                </a:solidFill>
                <a:latin typeface="Consolas" panose="020B0609020204030204" pitchFamily="34" charset="0"/>
                <a:ea typeface="Consolas" panose="020B0609020204030204" pitchFamily="34" charset="-122"/>
                <a:cs typeface="Consolas" panose="020B0609020204030204" pitchFamily="34" charset="-120"/>
              </a:rPr>
              <a:t>6/6</a:t>
            </a:r>
            <a:endParaRPr lang="en-US" sz="1100" dirty="0"/>
          </a:p>
        </p:txBody>
      </p:sp>
      <p:sp>
        <p:nvSpPr>
          <p:cNvPr id="16" name="IconCircle"/>
          <p:cNvSpPr/>
          <p:nvPr/>
        </p:nvSpPr>
        <p:spPr>
          <a:xfrm>
            <a:off x="685800" y="2697480"/>
            <a:ext cx="347472" cy="347472"/>
          </a:xfrm>
          <a:prstGeom prst="ellipse">
            <a:avLst/>
          </a:prstGeom>
          <a:solidFill>
            <a:srgbClr val="0F2A44"/>
          </a:solidFill>
          <a:ln w="12700">
            <a:solidFill>
              <a:srgbClr val="1E3A5F"/>
            </a:solidFill>
            <a:prstDash val="solid"/>
          </a:ln>
        </p:spPr>
      </p:sp>
      <p:pic>
        <p:nvPicPr>
          <p:cNvPr id="17" name="Image 0" descr="FaMicrochip"/>
          <p:cNvPicPr>
            <a:picLocks noChangeAspect="1"/>
          </p:cNvPicPr>
          <p:nvPr/>
        </p:nvPicPr>
        <p:blipFill>
          <a:blip r:embed="rId3"/>
          <a:stretch>
            <a:fillRect/>
          </a:stretch>
        </p:blipFill>
        <p:spPr>
          <a:xfrm>
            <a:off x="779617" y="2791297"/>
            <a:ext cx="159837" cy="159837"/>
          </a:xfrm>
          <a:prstGeom prst="rect">
            <a:avLst/>
          </a:prstGeom>
        </p:spPr>
      </p:pic>
      <p:sp>
        <p:nvSpPr>
          <p:cNvPr id="18" name="Text 15"/>
          <p:cNvSpPr txBox="1"/>
          <p:nvPr/>
        </p:nvSpPr>
        <p:spPr>
          <a:xfrm>
            <a:off x="1170432" y="26974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System Information</a:t>
            </a:r>
            <a:endParaRPr lang="en-US" sz="1300" dirty="0"/>
          </a:p>
        </p:txBody>
      </p:sp>
      <p:sp>
        <p:nvSpPr>
          <p:cNvPr id="19" name="IconCircle"/>
          <p:cNvSpPr/>
          <p:nvPr/>
        </p:nvSpPr>
        <p:spPr>
          <a:xfrm>
            <a:off x="685800" y="3154680"/>
            <a:ext cx="347472" cy="347472"/>
          </a:xfrm>
          <a:prstGeom prst="ellipse">
            <a:avLst/>
          </a:prstGeom>
          <a:solidFill>
            <a:srgbClr val="0F2A44"/>
          </a:solidFill>
          <a:ln w="12700">
            <a:solidFill>
              <a:srgbClr val="1E3A5F"/>
            </a:solidFill>
            <a:prstDash val="solid"/>
          </a:ln>
        </p:spPr>
      </p:sp>
      <p:pic>
        <p:nvPicPr>
          <p:cNvPr id="20" name="Image 1" descr="FaCogs"/>
          <p:cNvPicPr>
            <a:picLocks noChangeAspect="1"/>
          </p:cNvPicPr>
          <p:nvPr/>
        </p:nvPicPr>
        <p:blipFill>
          <a:blip r:embed="rId4"/>
          <a:stretch>
            <a:fillRect/>
          </a:stretch>
        </p:blipFill>
        <p:spPr>
          <a:xfrm>
            <a:off x="779617" y="3248497"/>
            <a:ext cx="159837" cy="159837"/>
          </a:xfrm>
          <a:prstGeom prst="rect">
            <a:avLst/>
          </a:prstGeom>
        </p:spPr>
      </p:pic>
      <p:sp>
        <p:nvSpPr>
          <p:cNvPr id="21" name="Text 17"/>
          <p:cNvSpPr txBox="1"/>
          <p:nvPr/>
        </p:nvSpPr>
        <p:spPr>
          <a:xfrm>
            <a:off x="1170432" y="31546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Process Management</a:t>
            </a:r>
            <a:endParaRPr lang="en-US" sz="1300" dirty="0"/>
          </a:p>
        </p:txBody>
      </p:sp>
      <p:sp>
        <p:nvSpPr>
          <p:cNvPr id="22" name="IconCircle"/>
          <p:cNvSpPr/>
          <p:nvPr/>
        </p:nvSpPr>
        <p:spPr>
          <a:xfrm>
            <a:off x="685800" y="3611880"/>
            <a:ext cx="347472" cy="347472"/>
          </a:xfrm>
          <a:prstGeom prst="ellipse">
            <a:avLst/>
          </a:prstGeom>
          <a:solidFill>
            <a:srgbClr val="0F2A44"/>
          </a:solidFill>
          <a:ln w="12700">
            <a:solidFill>
              <a:srgbClr val="1E3A5F"/>
            </a:solidFill>
            <a:prstDash val="solid"/>
          </a:ln>
        </p:spPr>
      </p:sp>
      <p:pic>
        <p:nvPicPr>
          <p:cNvPr id="23" name="Image 2" descr="FaFolderOpen"/>
          <p:cNvPicPr>
            <a:picLocks noChangeAspect="1"/>
          </p:cNvPicPr>
          <p:nvPr/>
        </p:nvPicPr>
        <p:blipFill>
          <a:blip r:embed="rId5"/>
          <a:stretch>
            <a:fillRect/>
          </a:stretch>
        </p:blipFill>
        <p:spPr>
          <a:xfrm>
            <a:off x="779617" y="3705697"/>
            <a:ext cx="159837" cy="159837"/>
          </a:xfrm>
          <a:prstGeom prst="rect">
            <a:avLst/>
          </a:prstGeom>
        </p:spPr>
      </p:pic>
      <p:sp>
        <p:nvSpPr>
          <p:cNvPr id="24" name="Text 19"/>
          <p:cNvSpPr txBox="1"/>
          <p:nvPr/>
        </p:nvSpPr>
        <p:spPr>
          <a:xfrm>
            <a:off x="1170432" y="36118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File System Operations</a:t>
            </a:r>
            <a:endParaRPr lang="en-US" sz="1300" dirty="0"/>
          </a:p>
        </p:txBody>
      </p:sp>
      <p:sp>
        <p:nvSpPr>
          <p:cNvPr id="25" name="IconCircle"/>
          <p:cNvSpPr/>
          <p:nvPr/>
        </p:nvSpPr>
        <p:spPr>
          <a:xfrm>
            <a:off x="685800" y="4069080"/>
            <a:ext cx="347472" cy="347472"/>
          </a:xfrm>
          <a:prstGeom prst="ellipse">
            <a:avLst/>
          </a:prstGeom>
          <a:solidFill>
            <a:srgbClr val="0F2A44"/>
          </a:solidFill>
          <a:ln w="12700">
            <a:solidFill>
              <a:srgbClr val="1E3A5F"/>
            </a:solidFill>
            <a:prstDash val="solid"/>
          </a:ln>
        </p:spPr>
      </p:sp>
      <p:pic>
        <p:nvPicPr>
          <p:cNvPr id="26" name="Image 3" descr="FaExchangeAlt"/>
          <p:cNvPicPr>
            <a:picLocks noChangeAspect="1"/>
          </p:cNvPicPr>
          <p:nvPr/>
        </p:nvPicPr>
        <p:blipFill>
          <a:blip r:embed="rId6"/>
          <a:stretch>
            <a:fillRect/>
          </a:stretch>
        </p:blipFill>
        <p:spPr>
          <a:xfrm>
            <a:off x="779617" y="4162897"/>
            <a:ext cx="159837" cy="159837"/>
          </a:xfrm>
          <a:prstGeom prst="rect">
            <a:avLst/>
          </a:prstGeom>
        </p:spPr>
      </p:pic>
      <p:sp>
        <p:nvSpPr>
          <p:cNvPr id="27" name="Text 21"/>
          <p:cNvSpPr txBox="1"/>
          <p:nvPr/>
        </p:nvSpPr>
        <p:spPr>
          <a:xfrm>
            <a:off x="1170432" y="40690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IPC &amp; Signal Handling</a:t>
            </a:r>
            <a:endParaRPr lang="en-US" sz="1300" dirty="0"/>
          </a:p>
        </p:txBody>
      </p:sp>
      <p:sp>
        <p:nvSpPr>
          <p:cNvPr id="28" name="IconCircle"/>
          <p:cNvSpPr/>
          <p:nvPr/>
        </p:nvSpPr>
        <p:spPr>
          <a:xfrm>
            <a:off x="685800" y="4526280"/>
            <a:ext cx="347472" cy="347472"/>
          </a:xfrm>
          <a:prstGeom prst="ellipse">
            <a:avLst/>
          </a:prstGeom>
          <a:solidFill>
            <a:srgbClr val="0F2A44"/>
          </a:solidFill>
          <a:ln w="12700">
            <a:solidFill>
              <a:srgbClr val="1E3A5F"/>
            </a:solidFill>
            <a:prstDash val="solid"/>
          </a:ln>
        </p:spPr>
      </p:sp>
      <p:pic>
        <p:nvPicPr>
          <p:cNvPr id="29" name="Image 4" descr="FaMemory"/>
          <p:cNvPicPr>
            <a:picLocks noChangeAspect="1"/>
          </p:cNvPicPr>
          <p:nvPr/>
        </p:nvPicPr>
        <p:blipFill>
          <a:blip r:embed="rId7"/>
          <a:stretch>
            <a:fillRect/>
          </a:stretch>
        </p:blipFill>
        <p:spPr>
          <a:xfrm>
            <a:off x="779617" y="4620097"/>
            <a:ext cx="159837" cy="159837"/>
          </a:xfrm>
          <a:prstGeom prst="rect">
            <a:avLst/>
          </a:prstGeom>
        </p:spPr>
      </p:pic>
      <p:sp>
        <p:nvSpPr>
          <p:cNvPr id="30" name="Text 23"/>
          <p:cNvSpPr txBox="1"/>
          <p:nvPr/>
        </p:nvSpPr>
        <p:spPr>
          <a:xfrm>
            <a:off x="1170432" y="45262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Memory Analysis</a:t>
            </a:r>
            <a:endParaRPr lang="en-US" sz="1300" dirty="0"/>
          </a:p>
        </p:txBody>
      </p:sp>
      <p:sp>
        <p:nvSpPr>
          <p:cNvPr id="31" name="IconCircle"/>
          <p:cNvSpPr/>
          <p:nvPr/>
        </p:nvSpPr>
        <p:spPr>
          <a:xfrm>
            <a:off x="685800" y="4983480"/>
            <a:ext cx="347472" cy="347472"/>
          </a:xfrm>
          <a:prstGeom prst="ellipse">
            <a:avLst/>
          </a:prstGeom>
          <a:solidFill>
            <a:srgbClr val="0F2A44"/>
          </a:solidFill>
          <a:ln w="12700">
            <a:solidFill>
              <a:srgbClr val="1E3A5F"/>
            </a:solidFill>
            <a:prstDash val="solid"/>
          </a:ln>
        </p:spPr>
      </p:sp>
      <p:pic>
        <p:nvPicPr>
          <p:cNvPr id="32" name="Image 5" descr="FaProjectDiagram"/>
          <p:cNvPicPr>
            <a:picLocks noChangeAspect="1"/>
          </p:cNvPicPr>
          <p:nvPr/>
        </p:nvPicPr>
        <p:blipFill>
          <a:blip r:embed="rId8"/>
          <a:stretch>
            <a:fillRect/>
          </a:stretch>
        </p:blipFill>
        <p:spPr>
          <a:xfrm>
            <a:off x="779617" y="5077297"/>
            <a:ext cx="159837" cy="159837"/>
          </a:xfrm>
          <a:prstGeom prst="rect">
            <a:avLst/>
          </a:prstGeom>
        </p:spPr>
      </p:pic>
      <p:sp>
        <p:nvSpPr>
          <p:cNvPr id="33" name="Text 25"/>
          <p:cNvSpPr txBox="1"/>
          <p:nvPr/>
        </p:nvSpPr>
        <p:spPr>
          <a:xfrm>
            <a:off x="1170432" y="4983480"/>
            <a:ext cx="2606040" cy="347472"/>
          </a:xfrm>
          <a:prstGeom prst="rect">
            <a:avLst/>
          </a:prstGeom>
          <a:noFill/>
        </p:spPr>
        <p:txBody>
          <a:bodyPr wrap="square" lIns="0" tIns="0" rIns="0" bIns="0" rtlCol="0" anchor="ctr"/>
          <a:lstStyle/>
          <a:p>
            <a:pPr marL="0" indent="0">
              <a:buNone/>
            </a:pPr>
            <a:r>
              <a:rPr lang="en-US" sz="1300" dirty="0">
                <a:solidFill>
                  <a:srgbClr val="F8FAFC"/>
                </a:solidFill>
                <a:latin typeface="Calibri" panose="020F0502020204030204" pitchFamily="34" charset="0"/>
                <a:ea typeface="Calibri" panose="020F0502020204030204" pitchFamily="34" charset="-122"/>
                <a:cs typeface="Calibri" panose="020F0502020204030204" pitchFamily="34" charset="-120"/>
              </a:rPr>
              <a:t>Concurrency &amp; Synchronization</a:t>
            </a:r>
            <a:endParaRPr lang="en-US" sz="1300" dirty="0"/>
          </a:p>
        </p:txBody>
      </p:sp>
      <p:sp>
        <p:nvSpPr>
          <p:cNvPr id="34" name="Diagram Panel"/>
          <p:cNvSpPr/>
          <p:nvPr/>
        </p:nvSpPr>
        <p:spPr>
          <a:xfrm>
            <a:off x="4023360" y="1965960"/>
            <a:ext cx="3520440" cy="3474720"/>
          </a:xfrm>
          <a:prstGeom prst="roundRect">
            <a:avLst>
              <a:gd name="adj" fmla="val 3158"/>
            </a:avLst>
          </a:prstGeom>
          <a:solidFill>
            <a:srgbClr val="0A1526"/>
          </a:solidFill>
          <a:ln w="12700">
            <a:solidFill>
              <a:srgbClr val="1E3A5F"/>
            </a:solidFill>
            <a:prstDash val="solid"/>
          </a:ln>
        </p:spPr>
      </p:sp>
      <p:sp>
        <p:nvSpPr>
          <p:cNvPr id="35" name="Connector"/>
          <p:cNvSpPr/>
          <p:nvPr/>
        </p:nvSpPr>
        <p:spPr>
          <a:xfrm>
            <a:off x="4754880" y="2724912"/>
            <a:ext cx="205740" cy="365760"/>
          </a:xfrm>
          <a:prstGeom prst="line">
            <a:avLst/>
          </a:prstGeom>
          <a:noFill/>
          <a:ln w="15875">
            <a:solidFill>
              <a:srgbClr val="38BDF8"/>
            </a:solidFill>
            <a:prstDash val="dash"/>
          </a:ln>
        </p:spPr>
      </p:sp>
      <p:sp>
        <p:nvSpPr>
          <p:cNvPr id="36" name="Connector"/>
          <p:cNvSpPr/>
          <p:nvPr/>
        </p:nvSpPr>
        <p:spPr>
          <a:xfrm flipH="1">
            <a:off x="4754880" y="4370832"/>
            <a:ext cx="205740" cy="365760"/>
          </a:xfrm>
          <a:prstGeom prst="line">
            <a:avLst/>
          </a:prstGeom>
          <a:noFill/>
          <a:ln w="15875">
            <a:solidFill>
              <a:srgbClr val="38BDF8"/>
            </a:solidFill>
            <a:prstDash val="dash"/>
          </a:ln>
        </p:spPr>
      </p:sp>
      <p:sp>
        <p:nvSpPr>
          <p:cNvPr id="37" name="Connector"/>
          <p:cNvSpPr/>
          <p:nvPr/>
        </p:nvSpPr>
        <p:spPr>
          <a:xfrm>
            <a:off x="5783580" y="2724912"/>
            <a:ext cx="0" cy="365760"/>
          </a:xfrm>
          <a:prstGeom prst="line">
            <a:avLst/>
          </a:prstGeom>
          <a:noFill/>
          <a:ln w="15875">
            <a:solidFill>
              <a:srgbClr val="38BDF8"/>
            </a:solidFill>
            <a:prstDash val="dash"/>
          </a:ln>
        </p:spPr>
      </p:sp>
      <p:sp>
        <p:nvSpPr>
          <p:cNvPr id="38" name="Connector"/>
          <p:cNvSpPr/>
          <p:nvPr/>
        </p:nvSpPr>
        <p:spPr>
          <a:xfrm>
            <a:off x="5783580" y="4370832"/>
            <a:ext cx="0" cy="365760"/>
          </a:xfrm>
          <a:prstGeom prst="line">
            <a:avLst/>
          </a:prstGeom>
          <a:noFill/>
          <a:ln w="15875">
            <a:solidFill>
              <a:srgbClr val="38BDF8"/>
            </a:solidFill>
            <a:prstDash val="dash"/>
          </a:ln>
        </p:spPr>
      </p:sp>
      <p:sp>
        <p:nvSpPr>
          <p:cNvPr id="39" name="Connector"/>
          <p:cNvSpPr/>
          <p:nvPr/>
        </p:nvSpPr>
        <p:spPr>
          <a:xfrm flipH="1">
            <a:off x="6606540" y="2724912"/>
            <a:ext cx="205740" cy="365760"/>
          </a:xfrm>
          <a:prstGeom prst="line">
            <a:avLst/>
          </a:prstGeom>
          <a:noFill/>
          <a:ln w="15875">
            <a:solidFill>
              <a:srgbClr val="38BDF8"/>
            </a:solidFill>
            <a:prstDash val="dash"/>
          </a:ln>
        </p:spPr>
      </p:sp>
      <p:sp>
        <p:nvSpPr>
          <p:cNvPr id="40" name="Connector"/>
          <p:cNvSpPr/>
          <p:nvPr/>
        </p:nvSpPr>
        <p:spPr>
          <a:xfrm>
            <a:off x="6606540" y="4370832"/>
            <a:ext cx="205740" cy="365760"/>
          </a:xfrm>
          <a:prstGeom prst="line">
            <a:avLst/>
          </a:prstGeom>
          <a:noFill/>
          <a:ln w="15875">
            <a:solidFill>
              <a:srgbClr val="38BDF8"/>
            </a:solidFill>
            <a:prstDash val="dash"/>
          </a:ln>
        </p:spPr>
      </p:sp>
      <p:sp>
        <p:nvSpPr>
          <p:cNvPr id="41" name="Terminal"/>
          <p:cNvSpPr/>
          <p:nvPr/>
        </p:nvSpPr>
        <p:spPr>
          <a:xfrm>
            <a:off x="4594860" y="3090672"/>
            <a:ext cx="2377440" cy="1280160"/>
          </a:xfrm>
          <a:prstGeom prst="roundRect">
            <a:avLst>
              <a:gd name="adj" fmla="val 5714"/>
            </a:avLst>
          </a:prstGeom>
          <a:solidFill>
            <a:srgbClr val="06101C"/>
          </a:solidFill>
          <a:ln w="19050">
            <a:solidFill>
              <a:srgbClr val="38BDF8"/>
            </a:solidFill>
            <a:prstDash val="solid"/>
          </a:ln>
        </p:spPr>
      </p:sp>
      <p:sp>
        <p:nvSpPr>
          <p:cNvPr id="42" name="Terminal Bar"/>
          <p:cNvSpPr/>
          <p:nvPr/>
        </p:nvSpPr>
        <p:spPr>
          <a:xfrm>
            <a:off x="4622292" y="3118104"/>
            <a:ext cx="2322576" cy="256032"/>
          </a:xfrm>
          <a:prstGeom prst="rect">
            <a:avLst/>
          </a:prstGeom>
          <a:solidFill>
            <a:srgbClr val="112641"/>
          </a:solidFill>
          <a:ln w="3175">
            <a:solidFill>
              <a:srgbClr val="112641"/>
            </a:solidFill>
            <a:prstDash val="solid"/>
          </a:ln>
        </p:spPr>
      </p:sp>
      <p:sp>
        <p:nvSpPr>
          <p:cNvPr id="43" name="Shape 35"/>
          <p:cNvSpPr/>
          <p:nvPr/>
        </p:nvSpPr>
        <p:spPr>
          <a:xfrm>
            <a:off x="4722876" y="3200400"/>
            <a:ext cx="82296" cy="82296"/>
          </a:xfrm>
          <a:prstGeom prst="ellipse">
            <a:avLst/>
          </a:prstGeom>
          <a:solidFill>
            <a:srgbClr val="F87171"/>
          </a:solidFill>
          <a:ln w="3175">
            <a:solidFill>
              <a:srgbClr val="F87171"/>
            </a:solidFill>
            <a:prstDash val="solid"/>
          </a:ln>
        </p:spPr>
      </p:sp>
      <p:sp>
        <p:nvSpPr>
          <p:cNvPr id="44" name="Shape 36"/>
          <p:cNvSpPr/>
          <p:nvPr/>
        </p:nvSpPr>
        <p:spPr>
          <a:xfrm>
            <a:off x="4869180" y="3200400"/>
            <a:ext cx="82296" cy="82296"/>
          </a:xfrm>
          <a:prstGeom prst="ellipse">
            <a:avLst/>
          </a:prstGeom>
          <a:solidFill>
            <a:srgbClr val="FBBF24"/>
          </a:solidFill>
          <a:ln w="3175">
            <a:solidFill>
              <a:srgbClr val="FBBF24"/>
            </a:solidFill>
            <a:prstDash val="solid"/>
          </a:ln>
        </p:spPr>
      </p:sp>
      <p:sp>
        <p:nvSpPr>
          <p:cNvPr id="45" name="Shape 37"/>
          <p:cNvSpPr/>
          <p:nvPr/>
        </p:nvSpPr>
        <p:spPr>
          <a:xfrm>
            <a:off x="5015484" y="3200400"/>
            <a:ext cx="82296" cy="82296"/>
          </a:xfrm>
          <a:prstGeom prst="ellipse">
            <a:avLst/>
          </a:prstGeom>
          <a:solidFill>
            <a:srgbClr val="4ADE80"/>
          </a:solidFill>
          <a:ln w="3175">
            <a:solidFill>
              <a:srgbClr val="4ADE80"/>
            </a:solidFill>
            <a:prstDash val="solid"/>
          </a:ln>
        </p:spPr>
      </p:sp>
      <p:sp>
        <p:nvSpPr>
          <p:cNvPr id="46" name="Text 38"/>
          <p:cNvSpPr txBox="1"/>
          <p:nvPr/>
        </p:nvSpPr>
        <p:spPr>
          <a:xfrm>
            <a:off x="4594860" y="3118104"/>
            <a:ext cx="2377440" cy="256032"/>
          </a:xfrm>
          <a:prstGeom prst="rect">
            <a:avLst/>
          </a:prstGeom>
          <a:noFill/>
        </p:spPr>
        <p:txBody>
          <a:bodyPr wrap="square" lIns="0" tIns="0" rIns="0" bIns="0" rtlCol="0" anchor="ctr"/>
          <a:lstStyle/>
          <a:p>
            <a:pPr marL="0" indent="0" algn="ctr">
              <a:buNone/>
            </a:pPr>
            <a:r>
              <a:rPr lang="en-US" sz="1100" b="1" dirty="0">
                <a:solidFill>
                  <a:srgbClr val="00E5FF"/>
                </a:solidFill>
                <a:latin typeface="Consolas" panose="020B0609020204030204" pitchFamily="34" charset="0"/>
                <a:ea typeface="Consolas" panose="020B0609020204030204" pitchFamily="34" charset="-122"/>
                <a:cs typeface="Consolas" panose="020B0609020204030204" pitchFamily="34" charset="-120"/>
              </a:rPr>
              <a:t>UnixSuite</a:t>
            </a:r>
            <a:endParaRPr lang="en-US" sz="1100" dirty="0"/>
          </a:p>
        </p:txBody>
      </p:sp>
      <p:sp>
        <p:nvSpPr>
          <p:cNvPr id="47" name="Text 39"/>
          <p:cNvSpPr txBox="1"/>
          <p:nvPr/>
        </p:nvSpPr>
        <p:spPr>
          <a:xfrm>
            <a:off x="4759452" y="3456432"/>
            <a:ext cx="2103120" cy="173736"/>
          </a:xfrm>
          <a:prstGeom prst="rect">
            <a:avLst/>
          </a:prstGeom>
          <a:noFill/>
        </p:spPr>
        <p:txBody>
          <a:bodyPr wrap="square" lIns="0" tIns="0" rIns="0" bIns="0" rtlCol="0" anchor="ctr"/>
          <a:lstStyle/>
          <a:p>
            <a:pPr marL="0" indent="0">
              <a:buNone/>
            </a:pPr>
            <a:r>
              <a:rPr lang="en-US" sz="1050" dirty="0">
                <a:solidFill>
                  <a:srgbClr val="4ADE80"/>
                </a:solidFill>
                <a:latin typeface="Consolas" panose="020B0609020204030204" pitchFamily="34" charset="0"/>
                <a:ea typeface="Consolas" panose="020B0609020204030204" pitchFamily="34" charset="-122"/>
                <a:cs typeface="Consolas" panose="020B0609020204030204" pitchFamily="34" charset="-120"/>
              </a:rPr>
              <a:t>$ ./unixsuite</a:t>
            </a:r>
            <a:endParaRPr lang="en-US" sz="1050" dirty="0"/>
          </a:p>
        </p:txBody>
      </p:sp>
      <p:sp>
        <p:nvSpPr>
          <p:cNvPr id="48" name="Text 40"/>
          <p:cNvSpPr txBox="1"/>
          <p:nvPr/>
        </p:nvSpPr>
        <p:spPr>
          <a:xfrm>
            <a:off x="4759452" y="3630168"/>
            <a:ext cx="2103120" cy="173736"/>
          </a:xfrm>
          <a:prstGeom prst="rect">
            <a:avLst/>
          </a:prstGeom>
          <a:noFill/>
        </p:spPr>
        <p:txBody>
          <a:bodyPr wrap="square" lIns="0" tIns="0" rIns="0" bIns="0" rtlCol="0" anchor="ctr"/>
          <a:lstStyle/>
          <a:p>
            <a:pPr marL="0" indent="0">
              <a:buNone/>
            </a:pPr>
            <a:r>
              <a:rPr lang="en-US" sz="1050" dirty="0">
                <a:solidFill>
                  <a:srgbClr val="CBD5E1"/>
                </a:solidFill>
                <a:latin typeface="Consolas" panose="020B0609020204030204" pitchFamily="34" charset="0"/>
                <a:ea typeface="Consolas" panose="020B0609020204030204" pitchFamily="34" charset="-122"/>
                <a:cs typeface="Consolas" panose="020B0609020204030204" pitchFamily="34" charset="-120"/>
              </a:rPr>
              <a:t>&gt; system-info</a:t>
            </a:r>
            <a:endParaRPr lang="en-US" sz="1050" dirty="0"/>
          </a:p>
        </p:txBody>
      </p:sp>
      <p:sp>
        <p:nvSpPr>
          <p:cNvPr id="49" name="Text 41"/>
          <p:cNvSpPr txBox="1"/>
          <p:nvPr/>
        </p:nvSpPr>
        <p:spPr>
          <a:xfrm>
            <a:off x="4759452" y="3803904"/>
            <a:ext cx="2103120" cy="173736"/>
          </a:xfrm>
          <a:prstGeom prst="rect">
            <a:avLst/>
          </a:prstGeom>
          <a:noFill/>
        </p:spPr>
        <p:txBody>
          <a:bodyPr wrap="square" lIns="0" tIns="0" rIns="0" bIns="0" rtlCol="0" anchor="ctr"/>
          <a:lstStyle/>
          <a:p>
            <a:pPr marL="0" indent="0">
              <a:buNone/>
            </a:pPr>
            <a:r>
              <a:rPr lang="en-US" sz="1050" dirty="0">
                <a:solidFill>
                  <a:srgbClr val="CBD5E1"/>
                </a:solidFill>
                <a:latin typeface="Consolas" panose="020B0609020204030204" pitchFamily="34" charset="0"/>
                <a:ea typeface="Consolas" panose="020B0609020204030204" pitchFamily="34" charset="-122"/>
                <a:cs typeface="Consolas" panose="020B0609020204030204" pitchFamily="34" charset="-120"/>
              </a:rPr>
              <a:t>&gt; processes</a:t>
            </a:r>
            <a:endParaRPr lang="en-US" sz="1050" dirty="0"/>
          </a:p>
        </p:txBody>
      </p:sp>
      <p:sp>
        <p:nvSpPr>
          <p:cNvPr id="50" name="Text 42"/>
          <p:cNvSpPr txBox="1"/>
          <p:nvPr/>
        </p:nvSpPr>
        <p:spPr>
          <a:xfrm>
            <a:off x="4759452" y="3977640"/>
            <a:ext cx="2103120" cy="173736"/>
          </a:xfrm>
          <a:prstGeom prst="rect">
            <a:avLst/>
          </a:prstGeom>
          <a:noFill/>
        </p:spPr>
        <p:txBody>
          <a:bodyPr wrap="square" lIns="0" tIns="0" rIns="0" bIns="0" rtlCol="0" anchor="ctr"/>
          <a:lstStyle/>
          <a:p>
            <a:pPr marL="0" indent="0">
              <a:buNone/>
            </a:pPr>
            <a:r>
              <a:rPr lang="en-US" sz="1050" dirty="0">
                <a:solidFill>
                  <a:srgbClr val="CBD5E1"/>
                </a:solidFill>
                <a:latin typeface="Consolas" panose="020B0609020204030204" pitchFamily="34" charset="0"/>
                <a:ea typeface="Consolas" panose="020B0609020204030204" pitchFamily="34" charset="-122"/>
                <a:cs typeface="Consolas" panose="020B0609020204030204" pitchFamily="34" charset="-120"/>
              </a:rPr>
              <a:t>&gt; memory-info</a:t>
            </a:r>
            <a:endParaRPr lang="en-US" sz="1050" dirty="0"/>
          </a:p>
        </p:txBody>
      </p:sp>
      <p:sp>
        <p:nvSpPr>
          <p:cNvPr id="51" name="Text 43"/>
          <p:cNvSpPr txBox="1"/>
          <p:nvPr/>
        </p:nvSpPr>
        <p:spPr>
          <a:xfrm>
            <a:off x="4759452" y="4151376"/>
            <a:ext cx="2103120" cy="173736"/>
          </a:xfrm>
          <a:prstGeom prst="rect">
            <a:avLst/>
          </a:prstGeom>
          <a:noFill/>
        </p:spPr>
        <p:txBody>
          <a:bodyPr wrap="square" lIns="0" tIns="0" rIns="0" bIns="0" rtlCol="0" anchor="ctr"/>
          <a:lstStyle/>
          <a:p>
            <a:pPr marL="0" indent="0">
              <a:buNone/>
            </a:pPr>
            <a:r>
              <a:rPr lang="en-US" sz="1050" dirty="0">
                <a:solidFill>
                  <a:srgbClr val="CBD5E1"/>
                </a:solidFill>
                <a:latin typeface="Consolas" panose="020B0609020204030204" pitchFamily="34" charset="0"/>
                <a:ea typeface="Consolas" panose="020B0609020204030204" pitchFamily="34" charset="-122"/>
                <a:cs typeface="Consolas" panose="020B0609020204030204" pitchFamily="34" charset="-120"/>
              </a:rPr>
              <a:t>&gt; ipc-demo</a:t>
            </a:r>
            <a:endParaRPr lang="en-US" sz="1050" dirty="0"/>
          </a:p>
        </p:txBody>
      </p:sp>
      <p:sp>
        <p:nvSpPr>
          <p:cNvPr id="52" name="Text 44"/>
          <p:cNvSpPr txBox="1"/>
          <p:nvPr/>
        </p:nvSpPr>
        <p:spPr>
          <a:xfrm>
            <a:off x="4229100" y="2075688"/>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System Info</a:t>
            </a:r>
            <a:endParaRPr lang="en-US" sz="1100" dirty="0"/>
          </a:p>
        </p:txBody>
      </p:sp>
      <p:sp>
        <p:nvSpPr>
          <p:cNvPr id="53" name="IconCircle"/>
          <p:cNvSpPr/>
          <p:nvPr/>
        </p:nvSpPr>
        <p:spPr>
          <a:xfrm>
            <a:off x="4526280" y="2295144"/>
            <a:ext cx="457200" cy="457200"/>
          </a:xfrm>
          <a:prstGeom prst="ellipse">
            <a:avLst/>
          </a:prstGeom>
          <a:solidFill>
            <a:srgbClr val="0F2A44"/>
          </a:solidFill>
          <a:ln w="12700">
            <a:solidFill>
              <a:srgbClr val="38BDF8"/>
            </a:solidFill>
            <a:prstDash val="solid"/>
          </a:ln>
        </p:spPr>
      </p:sp>
      <p:pic>
        <p:nvPicPr>
          <p:cNvPr id="54" name="Image 6" descr="FaMicrochip"/>
          <p:cNvPicPr>
            <a:picLocks noChangeAspect="1"/>
          </p:cNvPicPr>
          <p:nvPr/>
        </p:nvPicPr>
        <p:blipFill>
          <a:blip r:embed="rId3"/>
          <a:stretch>
            <a:fillRect/>
          </a:stretch>
        </p:blipFill>
        <p:spPr>
          <a:xfrm>
            <a:off x="4649724" y="2418588"/>
            <a:ext cx="210312" cy="210312"/>
          </a:xfrm>
          <a:prstGeom prst="rect">
            <a:avLst/>
          </a:prstGeom>
        </p:spPr>
      </p:pic>
      <p:sp>
        <p:nvSpPr>
          <p:cNvPr id="55" name="Text 46"/>
          <p:cNvSpPr txBox="1"/>
          <p:nvPr/>
        </p:nvSpPr>
        <p:spPr>
          <a:xfrm>
            <a:off x="5257800" y="2075688"/>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Processes</a:t>
            </a:r>
            <a:endParaRPr lang="en-US" sz="1100" dirty="0"/>
          </a:p>
        </p:txBody>
      </p:sp>
      <p:sp>
        <p:nvSpPr>
          <p:cNvPr id="56" name="IconCircle"/>
          <p:cNvSpPr/>
          <p:nvPr/>
        </p:nvSpPr>
        <p:spPr>
          <a:xfrm>
            <a:off x="5554980" y="2295144"/>
            <a:ext cx="457200" cy="457200"/>
          </a:xfrm>
          <a:prstGeom prst="ellipse">
            <a:avLst/>
          </a:prstGeom>
          <a:solidFill>
            <a:srgbClr val="0F2A44"/>
          </a:solidFill>
          <a:ln w="12700">
            <a:solidFill>
              <a:srgbClr val="38BDF8"/>
            </a:solidFill>
            <a:prstDash val="solid"/>
          </a:ln>
        </p:spPr>
      </p:sp>
      <p:pic>
        <p:nvPicPr>
          <p:cNvPr id="57" name="Image 7" descr="FaCogs"/>
          <p:cNvPicPr>
            <a:picLocks noChangeAspect="1"/>
          </p:cNvPicPr>
          <p:nvPr/>
        </p:nvPicPr>
        <p:blipFill>
          <a:blip r:embed="rId4"/>
          <a:stretch>
            <a:fillRect/>
          </a:stretch>
        </p:blipFill>
        <p:spPr>
          <a:xfrm>
            <a:off x="5678424" y="2418588"/>
            <a:ext cx="210312" cy="210312"/>
          </a:xfrm>
          <a:prstGeom prst="rect">
            <a:avLst/>
          </a:prstGeom>
        </p:spPr>
      </p:pic>
      <p:sp>
        <p:nvSpPr>
          <p:cNvPr id="58" name="Text 48"/>
          <p:cNvSpPr txBox="1"/>
          <p:nvPr/>
        </p:nvSpPr>
        <p:spPr>
          <a:xfrm>
            <a:off x="6286500" y="2075688"/>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File System</a:t>
            </a:r>
            <a:endParaRPr lang="en-US" sz="1100" dirty="0"/>
          </a:p>
        </p:txBody>
      </p:sp>
      <p:sp>
        <p:nvSpPr>
          <p:cNvPr id="59" name="IconCircle"/>
          <p:cNvSpPr/>
          <p:nvPr/>
        </p:nvSpPr>
        <p:spPr>
          <a:xfrm>
            <a:off x="6583680" y="2295144"/>
            <a:ext cx="457200" cy="457200"/>
          </a:xfrm>
          <a:prstGeom prst="ellipse">
            <a:avLst/>
          </a:prstGeom>
          <a:solidFill>
            <a:srgbClr val="0F2A44"/>
          </a:solidFill>
          <a:ln w="12700">
            <a:solidFill>
              <a:srgbClr val="38BDF8"/>
            </a:solidFill>
            <a:prstDash val="solid"/>
          </a:ln>
        </p:spPr>
      </p:sp>
      <p:pic>
        <p:nvPicPr>
          <p:cNvPr id="60" name="Image 8" descr="FaFolderOpen"/>
          <p:cNvPicPr>
            <a:picLocks noChangeAspect="1"/>
          </p:cNvPicPr>
          <p:nvPr/>
        </p:nvPicPr>
        <p:blipFill>
          <a:blip r:embed="rId5"/>
          <a:stretch>
            <a:fillRect/>
          </a:stretch>
        </p:blipFill>
        <p:spPr>
          <a:xfrm>
            <a:off x="6707124" y="2418588"/>
            <a:ext cx="210312" cy="210312"/>
          </a:xfrm>
          <a:prstGeom prst="rect">
            <a:avLst/>
          </a:prstGeom>
        </p:spPr>
      </p:pic>
      <p:sp>
        <p:nvSpPr>
          <p:cNvPr id="61" name="IconCircle"/>
          <p:cNvSpPr/>
          <p:nvPr/>
        </p:nvSpPr>
        <p:spPr>
          <a:xfrm>
            <a:off x="4526280" y="4736592"/>
            <a:ext cx="457200" cy="457200"/>
          </a:xfrm>
          <a:prstGeom prst="ellipse">
            <a:avLst/>
          </a:prstGeom>
          <a:solidFill>
            <a:srgbClr val="0F2A44"/>
          </a:solidFill>
          <a:ln w="12700">
            <a:solidFill>
              <a:srgbClr val="38BDF8"/>
            </a:solidFill>
            <a:prstDash val="solid"/>
          </a:ln>
        </p:spPr>
      </p:sp>
      <p:pic>
        <p:nvPicPr>
          <p:cNvPr id="62" name="Image 9" descr="FaExchangeAlt"/>
          <p:cNvPicPr>
            <a:picLocks noChangeAspect="1"/>
          </p:cNvPicPr>
          <p:nvPr/>
        </p:nvPicPr>
        <p:blipFill>
          <a:blip r:embed="rId6"/>
          <a:stretch>
            <a:fillRect/>
          </a:stretch>
        </p:blipFill>
        <p:spPr>
          <a:xfrm>
            <a:off x="4649724" y="4860036"/>
            <a:ext cx="210312" cy="210312"/>
          </a:xfrm>
          <a:prstGeom prst="rect">
            <a:avLst/>
          </a:prstGeom>
        </p:spPr>
      </p:pic>
      <p:sp>
        <p:nvSpPr>
          <p:cNvPr id="63" name="Text 51"/>
          <p:cNvSpPr txBox="1"/>
          <p:nvPr/>
        </p:nvSpPr>
        <p:spPr>
          <a:xfrm>
            <a:off x="4229100" y="5221224"/>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IPC &amp; Signals</a:t>
            </a:r>
            <a:endParaRPr lang="en-US" sz="1100" dirty="0"/>
          </a:p>
        </p:txBody>
      </p:sp>
      <p:sp>
        <p:nvSpPr>
          <p:cNvPr id="64" name="IconCircle"/>
          <p:cNvSpPr/>
          <p:nvPr/>
        </p:nvSpPr>
        <p:spPr>
          <a:xfrm>
            <a:off x="5554980" y="4736592"/>
            <a:ext cx="457200" cy="457200"/>
          </a:xfrm>
          <a:prstGeom prst="ellipse">
            <a:avLst/>
          </a:prstGeom>
          <a:solidFill>
            <a:srgbClr val="0F2A44"/>
          </a:solidFill>
          <a:ln w="12700">
            <a:solidFill>
              <a:srgbClr val="38BDF8"/>
            </a:solidFill>
            <a:prstDash val="solid"/>
          </a:ln>
        </p:spPr>
      </p:sp>
      <p:pic>
        <p:nvPicPr>
          <p:cNvPr id="65" name="Image 10" descr="FaMemory"/>
          <p:cNvPicPr>
            <a:picLocks noChangeAspect="1"/>
          </p:cNvPicPr>
          <p:nvPr/>
        </p:nvPicPr>
        <p:blipFill>
          <a:blip r:embed="rId7"/>
          <a:stretch>
            <a:fillRect/>
          </a:stretch>
        </p:blipFill>
        <p:spPr>
          <a:xfrm>
            <a:off x="5678424" y="4860036"/>
            <a:ext cx="210312" cy="210312"/>
          </a:xfrm>
          <a:prstGeom prst="rect">
            <a:avLst/>
          </a:prstGeom>
        </p:spPr>
      </p:pic>
      <p:sp>
        <p:nvSpPr>
          <p:cNvPr id="66" name="Text 53"/>
          <p:cNvSpPr txBox="1"/>
          <p:nvPr/>
        </p:nvSpPr>
        <p:spPr>
          <a:xfrm>
            <a:off x="5257800" y="5221224"/>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Memory</a:t>
            </a:r>
            <a:endParaRPr lang="en-US" sz="1100" dirty="0"/>
          </a:p>
        </p:txBody>
      </p:sp>
      <p:sp>
        <p:nvSpPr>
          <p:cNvPr id="67" name="IconCircle"/>
          <p:cNvSpPr/>
          <p:nvPr/>
        </p:nvSpPr>
        <p:spPr>
          <a:xfrm>
            <a:off x="6583680" y="4736592"/>
            <a:ext cx="457200" cy="457200"/>
          </a:xfrm>
          <a:prstGeom prst="ellipse">
            <a:avLst/>
          </a:prstGeom>
          <a:solidFill>
            <a:srgbClr val="0F2A44"/>
          </a:solidFill>
          <a:ln w="12700">
            <a:solidFill>
              <a:srgbClr val="38BDF8"/>
            </a:solidFill>
            <a:prstDash val="solid"/>
          </a:ln>
        </p:spPr>
      </p:sp>
      <p:pic>
        <p:nvPicPr>
          <p:cNvPr id="68" name="Image 11" descr="FaProjectDiagram"/>
          <p:cNvPicPr>
            <a:picLocks noChangeAspect="1"/>
          </p:cNvPicPr>
          <p:nvPr/>
        </p:nvPicPr>
        <p:blipFill>
          <a:blip r:embed="rId8"/>
          <a:stretch>
            <a:fillRect/>
          </a:stretch>
        </p:blipFill>
        <p:spPr>
          <a:xfrm>
            <a:off x="6707124" y="4860036"/>
            <a:ext cx="210312" cy="210312"/>
          </a:xfrm>
          <a:prstGeom prst="rect">
            <a:avLst/>
          </a:prstGeom>
        </p:spPr>
      </p:pic>
      <p:sp>
        <p:nvSpPr>
          <p:cNvPr id="69" name="Text 55"/>
          <p:cNvSpPr txBox="1"/>
          <p:nvPr/>
        </p:nvSpPr>
        <p:spPr>
          <a:xfrm>
            <a:off x="6286500" y="5221224"/>
            <a:ext cx="1051560" cy="201168"/>
          </a:xfrm>
          <a:prstGeom prst="rect">
            <a:avLst/>
          </a:prstGeom>
          <a:noFill/>
        </p:spPr>
        <p:txBody>
          <a:bodyPr wrap="square" lIns="0" tIns="0" rIns="0" bIns="0" rtlCol="0" anchor="ctr"/>
          <a:lstStyle/>
          <a:p>
            <a:pPr marL="0" indent="0" algn="ctr">
              <a:buNone/>
            </a:pPr>
            <a:r>
              <a:rPr lang="en-US" sz="1100" dirty="0">
                <a:solidFill>
                  <a:srgbClr val="94A3B8"/>
                </a:solidFill>
                <a:latin typeface="Calibri" panose="020F0502020204030204" pitchFamily="34" charset="0"/>
                <a:ea typeface="Calibri" panose="020F0502020204030204" pitchFamily="34" charset="-122"/>
                <a:cs typeface="Calibri" panose="020F0502020204030204" pitchFamily="34" charset="-120"/>
              </a:rPr>
              <a:t>Concurrency</a:t>
            </a:r>
            <a:endParaRPr lang="en-US" sz="1100" dirty="0"/>
          </a:p>
        </p:txBody>
      </p:sp>
      <p:sp>
        <p:nvSpPr>
          <p:cNvPr id="70" name="Card"/>
          <p:cNvSpPr/>
          <p:nvPr/>
        </p:nvSpPr>
        <p:spPr>
          <a:xfrm>
            <a:off x="7726680" y="1965960"/>
            <a:ext cx="4005072" cy="1645920"/>
          </a:xfrm>
          <a:prstGeom prst="roundRect">
            <a:avLst>
              <a:gd name="adj" fmla="val 6667"/>
            </a:avLst>
          </a:prstGeom>
          <a:solidFill>
            <a:srgbClr val="0D1B2E"/>
          </a:solidFill>
          <a:ln w="12700">
            <a:solidFill>
              <a:srgbClr val="1E3A5F"/>
            </a:solidFill>
            <a:prstDash val="solid"/>
          </a:ln>
        </p:spPr>
      </p:sp>
      <p:sp>
        <p:nvSpPr>
          <p:cNvPr id="71" name="IconCircle"/>
          <p:cNvSpPr/>
          <p:nvPr/>
        </p:nvSpPr>
        <p:spPr>
          <a:xfrm>
            <a:off x="7955280" y="2121408"/>
            <a:ext cx="384048" cy="384048"/>
          </a:xfrm>
          <a:prstGeom prst="ellipse">
            <a:avLst/>
          </a:prstGeom>
          <a:solidFill>
            <a:srgbClr val="0F2A44"/>
          </a:solidFill>
          <a:ln w="12700">
            <a:solidFill>
              <a:srgbClr val="1E3A5F"/>
            </a:solidFill>
            <a:prstDash val="solid"/>
          </a:ln>
        </p:spPr>
      </p:sp>
      <p:pic>
        <p:nvPicPr>
          <p:cNvPr id="72" name="Image 12" descr="FaTerminal"/>
          <p:cNvPicPr>
            <a:picLocks noChangeAspect="1"/>
          </p:cNvPicPr>
          <p:nvPr/>
        </p:nvPicPr>
        <p:blipFill>
          <a:blip r:embed="rId9"/>
          <a:stretch>
            <a:fillRect/>
          </a:stretch>
        </p:blipFill>
        <p:spPr>
          <a:xfrm>
            <a:off x="8058973" y="2225101"/>
            <a:ext cx="176662" cy="176662"/>
          </a:xfrm>
          <a:prstGeom prst="rect">
            <a:avLst/>
          </a:prstGeom>
        </p:spPr>
      </p:pic>
      <p:sp>
        <p:nvSpPr>
          <p:cNvPr id="73" name="Text 58"/>
          <p:cNvSpPr txBox="1"/>
          <p:nvPr/>
        </p:nvSpPr>
        <p:spPr>
          <a:xfrm>
            <a:off x="8458200" y="2121408"/>
            <a:ext cx="3108960" cy="384048"/>
          </a:xfrm>
          <a:prstGeom prst="rect">
            <a:avLst/>
          </a:prstGeom>
          <a:noFill/>
        </p:spPr>
        <p:txBody>
          <a:bodyPr wrap="square" lIns="0" tIns="0" rIns="0" bIns="0" rtlCol="0" anchor="ctr"/>
          <a:lstStyle/>
          <a:p>
            <a:pPr marL="0" indent="0">
              <a:buNone/>
            </a:pPr>
            <a:r>
              <a:rPr lang="en-US" sz="1500" b="1" dirty="0">
                <a:solidFill>
                  <a:srgbClr val="00E5FF"/>
                </a:solidFill>
                <a:latin typeface="Calibri" panose="020F0502020204030204" pitchFamily="34" charset="0"/>
                <a:ea typeface="Calibri" panose="020F0502020204030204" pitchFamily="34" charset="-122"/>
                <a:cs typeface="Calibri" panose="020F0502020204030204" pitchFamily="34" charset="-120"/>
              </a:rPr>
              <a:t>Unified Command Interface</a:t>
            </a:r>
            <a:endParaRPr lang="en-US" sz="1500" dirty="0"/>
          </a:p>
        </p:txBody>
      </p:sp>
      <p:sp>
        <p:nvSpPr>
          <p:cNvPr id="74" name="Text 59"/>
          <p:cNvSpPr txBox="1"/>
          <p:nvPr/>
        </p:nvSpPr>
        <p:spPr>
          <a:xfrm>
            <a:off x="7955280" y="2624328"/>
            <a:ext cx="3749040" cy="914400"/>
          </a:xfrm>
          <a:prstGeom prst="rect">
            <a:avLst/>
          </a:prstGeom>
          <a:noFill/>
        </p:spPr>
        <p:txBody>
          <a:bodyPr wrap="square" lIns="0" tIns="0" rIns="0" bIns="0" rtlCol="0" anchor="t"/>
          <a:lstStyle/>
          <a:p>
            <a:pPr marL="203200" indent="-203200">
              <a:spcAft>
                <a:spcPts val="500"/>
              </a:spcAft>
              <a:buSzPct val="100000"/>
              <a:buChar char="•"/>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Launch once with ./unixsuite</a:t>
            </a:r>
            <a:endParaRPr lang="en-US" sz="1400" dirty="0"/>
          </a:p>
          <a:p>
            <a:pPr marL="203200" indent="-203200">
              <a:spcAft>
                <a:spcPts val="500"/>
              </a:spcAft>
              <a:buSzPct val="100000"/>
              <a:buChar char="•"/>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Run system-info, processes, memory-info, ipc-demo</a:t>
            </a:r>
            <a:endParaRPr lang="en-US" sz="1400" dirty="0"/>
          </a:p>
          <a:p>
            <a:pPr marL="203200" indent="-203200">
              <a:spcAft>
                <a:spcPts val="500"/>
              </a:spcAft>
              <a:buSzPct val="100000"/>
              <a:buChar char="•"/>
            </a:pPr>
            <a:r>
              <a:rPr lang="en-US" sz="1250" dirty="0">
                <a:solidFill>
                  <a:srgbClr val="CBD5E1"/>
                </a:solidFill>
                <a:latin typeface="Calibri" panose="020F0502020204030204" pitchFamily="34" charset="0"/>
                <a:ea typeface="Calibri" panose="020F0502020204030204" pitchFamily="34" charset="-122"/>
                <a:cs typeface="Calibri" panose="020F0502020204030204" pitchFamily="34" charset="-120"/>
              </a:rPr>
              <a:t>Internal-working traces explain each OS operation</a:t>
            </a:r>
            <a:endParaRPr lang="en-US" sz="1400" dirty="0"/>
          </a:p>
        </p:txBody>
      </p:sp>
      <p:sp>
        <p:nvSpPr>
          <p:cNvPr id="75" name="Card"/>
          <p:cNvSpPr/>
          <p:nvPr/>
        </p:nvSpPr>
        <p:spPr>
          <a:xfrm>
            <a:off x="7726680" y="3749040"/>
            <a:ext cx="4005072" cy="1691640"/>
          </a:xfrm>
          <a:prstGeom prst="roundRect">
            <a:avLst>
              <a:gd name="adj" fmla="val 6486"/>
            </a:avLst>
          </a:prstGeom>
          <a:solidFill>
            <a:srgbClr val="0D1B2E"/>
          </a:solidFill>
          <a:ln w="12700">
            <a:solidFill>
              <a:srgbClr val="1E3A5F"/>
            </a:solidFill>
            <a:prstDash val="solid"/>
          </a:ln>
        </p:spPr>
      </p:sp>
      <p:sp>
        <p:nvSpPr>
          <p:cNvPr id="76" name="IconCircle"/>
          <p:cNvSpPr/>
          <p:nvPr/>
        </p:nvSpPr>
        <p:spPr>
          <a:xfrm>
            <a:off x="7955280" y="3886200"/>
            <a:ext cx="384048" cy="384048"/>
          </a:xfrm>
          <a:prstGeom prst="ellipse">
            <a:avLst/>
          </a:prstGeom>
          <a:solidFill>
            <a:srgbClr val="0F2A44"/>
          </a:solidFill>
          <a:ln w="12700">
            <a:solidFill>
              <a:srgbClr val="1E3A5F"/>
            </a:solidFill>
            <a:prstDash val="solid"/>
          </a:ln>
        </p:spPr>
      </p:sp>
      <p:pic>
        <p:nvPicPr>
          <p:cNvPr id="77" name="Image 13" descr="FaBolt"/>
          <p:cNvPicPr>
            <a:picLocks noChangeAspect="1"/>
          </p:cNvPicPr>
          <p:nvPr/>
        </p:nvPicPr>
        <p:blipFill>
          <a:blip r:embed="rId10"/>
          <a:stretch>
            <a:fillRect/>
          </a:stretch>
        </p:blipFill>
        <p:spPr>
          <a:xfrm>
            <a:off x="8058973" y="3989893"/>
            <a:ext cx="176662" cy="176662"/>
          </a:xfrm>
          <a:prstGeom prst="rect">
            <a:avLst/>
          </a:prstGeom>
        </p:spPr>
      </p:pic>
      <p:sp>
        <p:nvSpPr>
          <p:cNvPr id="78" name="Text 62"/>
          <p:cNvSpPr txBox="1"/>
          <p:nvPr/>
        </p:nvSpPr>
        <p:spPr>
          <a:xfrm>
            <a:off x="8458200" y="3886200"/>
            <a:ext cx="3108960" cy="384048"/>
          </a:xfrm>
          <a:prstGeom prst="rect">
            <a:avLst/>
          </a:prstGeom>
          <a:noFill/>
        </p:spPr>
        <p:txBody>
          <a:bodyPr wrap="square" lIns="0" tIns="0" rIns="0" bIns="0" rtlCol="0" anchor="ctr"/>
          <a:lstStyle/>
          <a:p>
            <a:pPr marL="0" indent="0">
              <a:buNone/>
            </a:pPr>
            <a:r>
              <a:rPr lang="en-US" sz="1500" b="1" dirty="0">
                <a:solidFill>
                  <a:srgbClr val="00E5FF"/>
                </a:solidFill>
                <a:latin typeface="Calibri" panose="020F0502020204030204" pitchFamily="34" charset="0"/>
                <a:ea typeface="Calibri" panose="020F0502020204030204" pitchFamily="34" charset="-122"/>
                <a:cs typeface="Calibri" panose="020F0502020204030204" pitchFamily="34" charset="-120"/>
              </a:rPr>
              <a:t>Practical OS Demonstrations</a:t>
            </a:r>
            <a:endParaRPr lang="en-US" sz="1500" dirty="0"/>
          </a:p>
        </p:txBody>
      </p:sp>
      <p:sp>
        <p:nvSpPr>
          <p:cNvPr id="79" name="Text 63"/>
          <p:cNvSpPr txBox="1"/>
          <p:nvPr/>
        </p:nvSpPr>
        <p:spPr>
          <a:xfrm>
            <a:off x="7955280" y="4352544"/>
            <a:ext cx="3611880" cy="960120"/>
          </a:xfrm>
          <a:prstGeom prst="rect">
            <a:avLst/>
          </a:prstGeom>
          <a:noFill/>
        </p:spPr>
        <p:txBody>
          <a:bodyPr wrap="square" lIns="0" tIns="0" rIns="0" bIns="0" rtlCol="0" anchor="t"/>
          <a:lstStyle/>
          <a:p>
            <a:pPr marL="203200" indent="-203200">
              <a:spcAft>
                <a:spcPts val="400"/>
              </a:spcAft>
              <a:buSzPct val="100000"/>
              <a:buChar char="•"/>
            </a:pPr>
            <a:r>
              <a:rPr lang="en-US" sz="1300" dirty="0">
                <a:solidFill>
                  <a:srgbClr val="CBD5E1"/>
                </a:solidFill>
                <a:latin typeface="Calibri" panose="020F0502020204030204" pitchFamily="34" charset="0"/>
                <a:ea typeface="Calibri" panose="020F0502020204030204" pitchFamily="34" charset="-122"/>
                <a:cs typeface="Calibri" panose="020F0502020204030204" pitchFamily="34" charset="-120"/>
              </a:rPr>
              <a:t>Process creation with fork() and exec()</a:t>
            </a:r>
            <a:endParaRPr lang="en-US" sz="1400" dirty="0"/>
          </a:p>
          <a:p>
            <a:pPr marL="203200" indent="-203200">
              <a:spcAft>
                <a:spcPts val="400"/>
              </a:spcAft>
              <a:buSzPct val="100000"/>
              <a:buChar char="•"/>
            </a:pPr>
            <a:r>
              <a:rPr lang="en-US" sz="1300" dirty="0">
                <a:solidFill>
                  <a:srgbClr val="CBD5E1"/>
                </a:solidFill>
                <a:latin typeface="Calibri" panose="020F0502020204030204" pitchFamily="34" charset="0"/>
                <a:ea typeface="Calibri" panose="020F0502020204030204" pitchFamily="34" charset="-122"/>
                <a:cs typeface="Calibri" panose="020F0502020204030204" pitchFamily="34" charset="-120"/>
              </a:rPr>
              <a:t>IPC with pipes and signal handling</a:t>
            </a:r>
            <a:endParaRPr lang="en-US" sz="1400" dirty="0"/>
          </a:p>
          <a:p>
            <a:pPr marL="203200" indent="-203200">
              <a:spcAft>
                <a:spcPts val="400"/>
              </a:spcAft>
              <a:buSzPct val="100000"/>
              <a:buChar char="•"/>
            </a:pPr>
            <a:r>
              <a:rPr lang="en-US" sz="1300" dirty="0">
                <a:solidFill>
                  <a:srgbClr val="CBD5E1"/>
                </a:solidFill>
                <a:latin typeface="Calibri" panose="020F0502020204030204" pitchFamily="34" charset="0"/>
                <a:ea typeface="Calibri" panose="020F0502020204030204" pitchFamily="34" charset="-122"/>
                <a:cs typeface="Calibri" panose="020F0502020204030204" pitchFamily="34" charset="-120"/>
              </a:rPr>
              <a:t>Memory inspection through /proc</a:t>
            </a:r>
            <a:endParaRPr lang="en-US" sz="1400" dirty="0"/>
          </a:p>
          <a:p>
            <a:pPr marL="203200" indent="-203200">
              <a:spcAft>
                <a:spcPts val="400"/>
              </a:spcAft>
              <a:buSzPct val="100000"/>
              <a:buChar char="•"/>
            </a:pPr>
            <a:r>
              <a:rPr lang="en-US" sz="1300" dirty="0">
                <a:solidFill>
                  <a:srgbClr val="CBD5E1"/>
                </a:solidFill>
                <a:latin typeface="Calibri" panose="020F0502020204030204" pitchFamily="34" charset="0"/>
                <a:ea typeface="Calibri" panose="020F0502020204030204" pitchFamily="34" charset="-122"/>
                <a:cs typeface="Calibri" panose="020F0502020204030204" pitchFamily="34" charset="-120"/>
              </a:rPr>
              <a:t>Mutex-synced counter = 200,000</a:t>
            </a:r>
            <a:endParaRPr lang="en-US" sz="1400" dirty="0"/>
          </a:p>
        </p:txBody>
      </p:sp>
      <p:sp>
        <p:nvSpPr>
          <p:cNvPr id="80" name="Closing Banner"/>
          <p:cNvSpPr/>
          <p:nvPr/>
        </p:nvSpPr>
        <p:spPr>
          <a:xfrm>
            <a:off x="457200" y="5532120"/>
            <a:ext cx="11274552" cy="731520"/>
          </a:xfrm>
          <a:prstGeom prst="roundRect">
            <a:avLst>
              <a:gd name="adj" fmla="val 15000"/>
            </a:avLst>
          </a:prstGeom>
          <a:solidFill>
            <a:srgbClr val="0F2A44"/>
          </a:solidFill>
          <a:ln w="12700">
            <a:solidFill>
              <a:srgbClr val="38BDF8"/>
            </a:solidFill>
            <a:prstDash val="solid"/>
          </a:ln>
        </p:spPr>
      </p:sp>
      <p:sp>
        <p:nvSpPr>
          <p:cNvPr id="81" name="Text 65"/>
          <p:cNvSpPr txBox="1"/>
          <p:nvPr/>
        </p:nvSpPr>
        <p:spPr>
          <a:xfrm>
            <a:off x="457200" y="5559552"/>
            <a:ext cx="11274552" cy="292608"/>
          </a:xfrm>
          <a:prstGeom prst="rect">
            <a:avLst/>
          </a:prstGeom>
          <a:noFill/>
        </p:spPr>
        <p:txBody>
          <a:bodyPr wrap="square" lIns="0" tIns="0" rIns="0" bIns="0" rtlCol="0" anchor="ctr"/>
          <a:lstStyle/>
          <a:p>
            <a:pPr marL="0" indent="0" algn="ctr">
              <a:buNone/>
            </a:pPr>
            <a:r>
              <a:rPr lang="en-US" sz="1400" dirty="0">
                <a:solidFill>
                  <a:srgbClr val="CBD5E1"/>
                </a:solidFill>
                <a:latin typeface="Calibri" panose="020F0502020204030204" pitchFamily="34" charset="0"/>
                <a:ea typeface="Calibri" panose="020F0502020204030204" pitchFamily="34" charset="-122"/>
                <a:cs typeface="Calibri" panose="020F0502020204030204" pitchFamily="34" charset="-120"/>
              </a:rPr>
              <a:t>Making Linux System Programming More Accessible Through One Unified Utility Suite.</a:t>
            </a:r>
            <a:endParaRPr lang="en-US" sz="1400" dirty="0"/>
          </a:p>
        </p:txBody>
      </p:sp>
      <p:sp>
        <p:nvSpPr>
          <p:cNvPr id="82" name="Text 66"/>
          <p:cNvSpPr txBox="1"/>
          <p:nvPr/>
        </p:nvSpPr>
        <p:spPr>
          <a:xfrm>
            <a:off x="457200" y="5852160"/>
            <a:ext cx="11274552" cy="384048"/>
          </a:xfrm>
          <a:prstGeom prst="rect">
            <a:avLst/>
          </a:prstGeom>
          <a:noFill/>
        </p:spPr>
        <p:txBody>
          <a:bodyPr wrap="square" lIns="0" tIns="0" rIns="0" bIns="0" rtlCol="0" anchor="ctr"/>
          <a:lstStyle/>
          <a:p>
            <a:pPr marL="0" indent="0" algn="ctr">
              <a:buNone/>
            </a:pPr>
            <a:r>
              <a:rPr lang="en-US" sz="2400" b="1" dirty="0">
                <a:solidFill>
                  <a:srgbClr val="00E5FF"/>
                </a:solidFill>
                <a:latin typeface="Calibri" panose="020F0502020204030204" pitchFamily="34" charset="0"/>
                <a:ea typeface="Calibri" panose="020F0502020204030204" pitchFamily="34" charset="-122"/>
                <a:cs typeface="Calibri" panose="020F0502020204030204" pitchFamily="34" charset="-120"/>
              </a:rPr>
              <a:t>Thank You</a:t>
            </a:r>
            <a:endParaRPr lang="en-US" sz="2400" dirty="0"/>
          </a:p>
        </p:txBody>
      </p:sp>
    </p:spTree>
  </p:cSld>
  <p:clrMapOvr>
    <a:masterClrMapping/>
  </p:clrMapOvr>
</p:sld>
</file>

<file path=ppt/theme/theme1.xml><?xml version="1.0" encoding="utf-8"?>
<a:theme xmlns:a="http://schemas.openxmlformats.org/drawingml/2006/main" name="AUUS Dark">
  <a:themeElements>
    <a:clrScheme name="AUUS Dark">
      <a:dk1>
        <a:srgbClr val="0B111D"/>
      </a:dk1>
      <a:lt1>
        <a:srgbClr val="FFFFFF"/>
      </a:lt1>
      <a:dk2>
        <a:srgbClr val="0D1B2E"/>
      </a:dk2>
      <a:lt2>
        <a:srgbClr val="F8FAFC"/>
      </a:lt2>
      <a:accent1>
        <a:srgbClr val="00E5FF"/>
      </a:accent1>
      <a:accent2>
        <a:srgbClr val="38BDF8"/>
      </a:accent2>
      <a:accent3>
        <a:srgbClr val="4ADE80"/>
      </a:accent3>
      <a:accent4>
        <a:srgbClr val="1E3A5F"/>
      </a:accent4>
      <a:accent5>
        <a:srgbClr val="94A3B8"/>
      </a:accent5>
      <a:accent6>
        <a:srgbClr val="FBBF24"/>
      </a:accent6>
      <a:hlink>
        <a:srgbClr val="38BDF8"/>
      </a:hlink>
      <a:folHlink>
        <a:srgbClr val="94A3B8"/>
      </a:folHlink>
    </a:clrScheme>
    <a:fontScheme name="AUUS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2590</Words>
  <Application>Microsoft Office PowerPoint</Application>
  <PresentationFormat>Widescreen</PresentationFormat>
  <Paragraphs>412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AUUS 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UNIX Utility Suite (UnixSuite)</dc:title>
  <dc:subject>PptxGenJS Presentation</dc:subject>
  <dc:creator>IDK Vamsie, K Sai Srinath, Keerthana V, Katkam Akhila</dc:creator>
  <cp:lastModifiedBy>Keerthana vittal</cp:lastModifiedBy>
  <cp:revision>4</cp:revision>
  <dcterms:created xsi:type="dcterms:W3CDTF">2026-10-09T04:11:41Z</dcterms:created>
  <dcterms:modified xsi:type="dcterms:W3CDTF">2026-10-09T04:46:30Z</dcterms:modified>
</cp:coreProperties>
</file>